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2" d="100"/>
          <a:sy n="82" d="100"/>
        </p:scale>
        <p:origin x="691"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4FBF4A-4811-435A-B83D-F02235744D08}" type="datetimeFigureOut">
              <a:rPr lang="en-US" smtClean="0"/>
              <a:t>7/25/2026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201AE8-AFAF-4DEA-815C-452335DA691F}" type="slidenum">
              <a:rPr lang="en-US" smtClean="0"/>
              <a:t>‹#›</a:t>
            </a:fld>
            <a:endParaRPr lang="en-US"/>
          </a:p>
        </p:txBody>
      </p:sp>
    </p:spTree>
    <p:extLst>
      <p:ext uri="{BB962C8B-B14F-4D97-AF65-F5344CB8AC3E}">
        <p14:creationId xmlns:p14="http://schemas.microsoft.com/office/powerpoint/2010/main" val="2169665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A201AE8-AFAF-4DEA-815C-452335DA691F}" type="slidenum">
              <a:rPr lang="en-US" smtClean="0"/>
              <a:t>1</a:t>
            </a:fld>
            <a:endParaRPr lang="en-US"/>
          </a:p>
        </p:txBody>
      </p:sp>
    </p:spTree>
    <p:extLst>
      <p:ext uri="{BB962C8B-B14F-4D97-AF65-F5344CB8AC3E}">
        <p14:creationId xmlns:p14="http://schemas.microsoft.com/office/powerpoint/2010/main" val="1924790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7/25/2026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7/25/2026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7/25/2026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0F14"/>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457200" y="457200"/>
            <a:ext cx="3200400" cy="3200400"/>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144000" y="4114800"/>
            <a:ext cx="3657600" cy="3657600"/>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14400" y="4572000"/>
            <a:ext cx="2286000" cy="2286000"/>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097280" y="1371600"/>
            <a:ext cx="2743200" cy="411480"/>
          </a:xfrm>
          <a:prstGeom prst="roundRect">
            <a:avLst>
              <a:gd name="adj" fmla="val 15000"/>
            </a:avLst>
          </a:prstGeom>
          <a:solidFill>
            <a:srgbClr val="222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80160" y="1399032"/>
            <a:ext cx="2560320" cy="365760"/>
          </a:xfrm>
          <a:prstGeom prst="rect">
            <a:avLst/>
          </a:prstGeom>
          <a:noFill/>
        </p:spPr>
        <p:txBody>
          <a:bodyPr wrap="square">
            <a:spAutoFit/>
          </a:bodyPr>
          <a:lstStyle/>
          <a:p>
            <a:pPr algn="l">
              <a:spcBef>
                <a:spcPts val="0"/>
              </a:spcBef>
              <a:spcAft>
                <a:spcPts val="0"/>
              </a:spcAft>
              <a:defRPr sz="1000" b="1">
                <a:solidFill>
                  <a:srgbClr val="FF6B00"/>
                </a:solidFill>
                <a:latin typeface="Segoe UI Semibold"/>
              </a:defRPr>
            </a:pPr>
            <a:r>
              <a:t>📋  BÁO CÁO ĐỒ ÁN TỐT NGHIỆP</a:t>
            </a:r>
          </a:p>
        </p:txBody>
      </p:sp>
      <p:sp>
        <p:nvSpPr>
          <p:cNvPr id="8" name="TextBox 7"/>
          <p:cNvSpPr txBox="1"/>
          <p:nvPr/>
        </p:nvSpPr>
        <p:spPr>
          <a:xfrm>
            <a:off x="1097280" y="2103120"/>
            <a:ext cx="6400800" cy="1097280"/>
          </a:xfrm>
          <a:prstGeom prst="rect">
            <a:avLst/>
          </a:prstGeom>
          <a:noFill/>
        </p:spPr>
        <p:txBody>
          <a:bodyPr wrap="square">
            <a:spAutoFit/>
          </a:bodyPr>
          <a:lstStyle/>
          <a:p>
            <a:pPr algn="l">
              <a:spcBef>
                <a:spcPts val="0"/>
              </a:spcBef>
              <a:spcAft>
                <a:spcPts val="0"/>
              </a:spcAft>
              <a:defRPr sz="6400" b="1">
                <a:solidFill>
                  <a:srgbClr val="FFFFFF"/>
                </a:solidFill>
                <a:latin typeface="Segoe UI Black"/>
              </a:defRPr>
            </a:pPr>
            <a:r>
              <a:t>FOODSERVE</a:t>
            </a:r>
          </a:p>
        </p:txBody>
      </p:sp>
      <p:sp>
        <p:nvSpPr>
          <p:cNvPr id="9" name="TextBox 8"/>
          <p:cNvSpPr txBox="1"/>
          <p:nvPr/>
        </p:nvSpPr>
        <p:spPr>
          <a:xfrm>
            <a:off x="1097280" y="3200400"/>
            <a:ext cx="7315200" cy="731520"/>
          </a:xfrm>
          <a:prstGeom prst="rect">
            <a:avLst/>
          </a:prstGeom>
          <a:noFill/>
        </p:spPr>
        <p:txBody>
          <a:bodyPr wrap="square">
            <a:spAutoFit/>
          </a:bodyPr>
          <a:lstStyle/>
          <a:p>
            <a:pPr algn="l">
              <a:spcBef>
                <a:spcPts val="0"/>
              </a:spcBef>
              <a:spcAft>
                <a:spcPts val="0"/>
              </a:spcAft>
              <a:defRPr sz="2200" b="0">
                <a:solidFill>
                  <a:srgbClr val="FF8A33"/>
                </a:solidFill>
                <a:latin typeface="Segoe UI"/>
              </a:defRPr>
            </a:pPr>
            <a:r>
              <a:t>Ứng dụng đặt &amp; giao đồ ăn trực tuyến</a:t>
            </a:r>
          </a:p>
        </p:txBody>
      </p:sp>
      <p:sp>
        <p:nvSpPr>
          <p:cNvPr id="10" name="TextBox 9"/>
          <p:cNvSpPr txBox="1"/>
          <p:nvPr/>
        </p:nvSpPr>
        <p:spPr>
          <a:xfrm>
            <a:off x="1097280" y="3931920"/>
            <a:ext cx="7315200" cy="640080"/>
          </a:xfrm>
          <a:prstGeom prst="rect">
            <a:avLst/>
          </a:prstGeom>
          <a:noFill/>
        </p:spPr>
        <p:txBody>
          <a:bodyPr wrap="square">
            <a:spAutoFit/>
          </a:bodyPr>
          <a:lstStyle/>
          <a:p>
            <a:pPr algn="l">
              <a:spcBef>
                <a:spcPts val="0"/>
              </a:spcBef>
              <a:spcAft>
                <a:spcPts val="0"/>
              </a:spcAft>
              <a:defRPr sz="1300" b="0">
                <a:solidFill>
                  <a:srgbClr val="9C9CA8"/>
                </a:solidFill>
                <a:latin typeface="Segoe UI"/>
              </a:defRPr>
            </a:pPr>
            <a:r>
              <a:t>Nền tảng web fullstack hiện đại với React.js, Node.js &amp; MongoDB</a:t>
            </a:r>
            <a:br/>
            <a:r>
              <a:t>Tích hợp thanh toán, realtime tracking, AI chatbot &amp; gamification</a:t>
            </a:r>
          </a:p>
        </p:txBody>
      </p:sp>
      <p:sp>
        <p:nvSpPr>
          <p:cNvPr id="11" name="Rectangle 10"/>
          <p:cNvSpPr/>
          <p:nvPr/>
        </p:nvSpPr>
        <p:spPr>
          <a:xfrm>
            <a:off x="1097280" y="4846320"/>
            <a:ext cx="1828800" cy="381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97280" y="5120640"/>
            <a:ext cx="3200400" cy="320040"/>
          </a:xfrm>
          <a:prstGeom prst="rect">
            <a:avLst/>
          </a:prstGeom>
          <a:noFill/>
        </p:spPr>
        <p:txBody>
          <a:bodyPr wrap="square">
            <a:spAutoFit/>
          </a:bodyPr>
          <a:lstStyle/>
          <a:p>
            <a:pPr algn="l">
              <a:spcBef>
                <a:spcPts val="0"/>
              </a:spcBef>
              <a:spcAft>
                <a:spcPts val="0"/>
              </a:spcAft>
              <a:defRPr sz="900" b="1">
                <a:solidFill>
                  <a:srgbClr val="9C9CA8"/>
                </a:solidFill>
                <a:latin typeface="Segoe UI"/>
              </a:defRPr>
            </a:pPr>
            <a:r>
              <a:t>GIẢNG VIÊN HƯỚNG DẪN</a:t>
            </a:r>
          </a:p>
        </p:txBody>
      </p:sp>
      <p:sp>
        <p:nvSpPr>
          <p:cNvPr id="13" name="TextBox 12"/>
          <p:cNvSpPr txBox="1"/>
          <p:nvPr/>
        </p:nvSpPr>
        <p:spPr>
          <a:xfrm>
            <a:off x="1097280" y="5394960"/>
            <a:ext cx="3200400" cy="320040"/>
          </a:xfrm>
          <a:prstGeom prst="rect">
            <a:avLst/>
          </a:prstGeom>
          <a:noFill/>
        </p:spPr>
        <p:txBody>
          <a:bodyPr wrap="square">
            <a:spAutoFit/>
          </a:bodyPr>
          <a:lstStyle/>
          <a:p>
            <a:pPr algn="l">
              <a:spcBef>
                <a:spcPts val="0"/>
              </a:spcBef>
              <a:spcAft>
                <a:spcPts val="0"/>
              </a:spcAft>
              <a:defRPr sz="1400" b="1">
                <a:solidFill>
                  <a:srgbClr val="FFFFFF"/>
                </a:solidFill>
                <a:latin typeface="Segoe UI"/>
              </a:defRPr>
            </a:pPr>
            <a:r>
              <a:t>ThS. [Tên Giảng Viên]</a:t>
            </a:r>
          </a:p>
        </p:txBody>
      </p:sp>
      <p:sp>
        <p:nvSpPr>
          <p:cNvPr id="14" name="TextBox 13"/>
          <p:cNvSpPr txBox="1"/>
          <p:nvPr/>
        </p:nvSpPr>
        <p:spPr>
          <a:xfrm>
            <a:off x="4572000" y="5120640"/>
            <a:ext cx="3200400" cy="320040"/>
          </a:xfrm>
          <a:prstGeom prst="rect">
            <a:avLst/>
          </a:prstGeom>
          <a:noFill/>
        </p:spPr>
        <p:txBody>
          <a:bodyPr wrap="square">
            <a:spAutoFit/>
          </a:bodyPr>
          <a:lstStyle/>
          <a:p>
            <a:pPr algn="l">
              <a:spcBef>
                <a:spcPts val="0"/>
              </a:spcBef>
              <a:spcAft>
                <a:spcPts val="0"/>
              </a:spcAft>
              <a:defRPr sz="900" b="1">
                <a:solidFill>
                  <a:srgbClr val="9C9CA8"/>
                </a:solidFill>
                <a:latin typeface="Segoe UI"/>
              </a:defRPr>
            </a:pPr>
            <a:r>
              <a:t>SINH VIÊN THỰC HIỆN</a:t>
            </a:r>
          </a:p>
        </p:txBody>
      </p:sp>
      <p:sp>
        <p:nvSpPr>
          <p:cNvPr id="15" name="TextBox 14"/>
          <p:cNvSpPr txBox="1"/>
          <p:nvPr/>
        </p:nvSpPr>
        <p:spPr>
          <a:xfrm>
            <a:off x="4572000" y="5394960"/>
            <a:ext cx="3200400" cy="320040"/>
          </a:xfrm>
          <a:prstGeom prst="rect">
            <a:avLst/>
          </a:prstGeom>
          <a:noFill/>
        </p:spPr>
        <p:txBody>
          <a:bodyPr wrap="square">
            <a:spAutoFit/>
          </a:bodyPr>
          <a:lstStyle/>
          <a:p>
            <a:pPr algn="l">
              <a:spcBef>
                <a:spcPts val="0"/>
              </a:spcBef>
              <a:spcAft>
                <a:spcPts val="0"/>
              </a:spcAft>
              <a:defRPr sz="1400" b="1">
                <a:solidFill>
                  <a:srgbClr val="FFFFFF"/>
                </a:solidFill>
                <a:latin typeface="Segoe UI"/>
              </a:defRPr>
            </a:pPr>
            <a:r>
              <a:t>Vũ Văn Quyền</a:t>
            </a:r>
          </a:p>
        </p:txBody>
      </p:sp>
      <p:sp>
        <p:nvSpPr>
          <p:cNvPr id="16" name="TextBox 15"/>
          <p:cNvSpPr txBox="1"/>
          <p:nvPr/>
        </p:nvSpPr>
        <p:spPr>
          <a:xfrm>
            <a:off x="7772400" y="5120640"/>
            <a:ext cx="3200400" cy="320040"/>
          </a:xfrm>
          <a:prstGeom prst="rect">
            <a:avLst/>
          </a:prstGeom>
          <a:noFill/>
        </p:spPr>
        <p:txBody>
          <a:bodyPr wrap="square">
            <a:spAutoFit/>
          </a:bodyPr>
          <a:lstStyle/>
          <a:p>
            <a:pPr algn="l">
              <a:spcBef>
                <a:spcPts val="0"/>
              </a:spcBef>
              <a:spcAft>
                <a:spcPts val="0"/>
              </a:spcAft>
              <a:defRPr sz="900" b="1">
                <a:solidFill>
                  <a:srgbClr val="9C9CA8"/>
                </a:solidFill>
                <a:latin typeface="Segoe UI"/>
              </a:defRPr>
            </a:pPr>
            <a:r>
              <a:t>NIÊN KHÓA</a:t>
            </a:r>
          </a:p>
        </p:txBody>
      </p:sp>
      <p:sp>
        <p:nvSpPr>
          <p:cNvPr id="17" name="TextBox 16"/>
          <p:cNvSpPr txBox="1"/>
          <p:nvPr/>
        </p:nvSpPr>
        <p:spPr>
          <a:xfrm>
            <a:off x="7772400" y="5394960"/>
            <a:ext cx="3200400" cy="320040"/>
          </a:xfrm>
          <a:prstGeom prst="rect">
            <a:avLst/>
          </a:prstGeom>
          <a:noFill/>
        </p:spPr>
        <p:txBody>
          <a:bodyPr wrap="square">
            <a:spAutoFit/>
          </a:bodyPr>
          <a:lstStyle/>
          <a:p>
            <a:pPr algn="l">
              <a:spcBef>
                <a:spcPts val="0"/>
              </a:spcBef>
              <a:spcAft>
                <a:spcPts val="0"/>
              </a:spcAft>
              <a:defRPr sz="1400" b="1">
                <a:solidFill>
                  <a:srgbClr val="FFFFFF"/>
                </a:solidFill>
                <a:latin typeface="Segoe UI"/>
              </a:defRPr>
            </a:pPr>
            <a:r>
              <a:t>2024 — 2026</a:t>
            </a:r>
          </a:p>
        </p:txBody>
      </p:sp>
      <p:sp>
        <p:nvSpPr>
          <p:cNvPr id="18" name="Rectangle 17"/>
          <p:cNvSpPr/>
          <p:nvPr/>
        </p:nvSpPr>
        <p:spPr>
          <a:xfrm>
            <a:off x="0" y="6784848"/>
            <a:ext cx="12191695" cy="7315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86800" y="1645920"/>
            <a:ext cx="2743200" cy="2743200"/>
          </a:xfrm>
          <a:prstGeom prst="rect">
            <a:avLst/>
          </a:prstGeom>
          <a:noFill/>
        </p:spPr>
        <p:txBody>
          <a:bodyPr wrap="square">
            <a:spAutoFit/>
          </a:bodyPr>
          <a:lstStyle/>
          <a:p>
            <a:pPr algn="ctr">
              <a:spcBef>
                <a:spcPts val="0"/>
              </a:spcBef>
              <a:spcAft>
                <a:spcPts val="0"/>
              </a:spcAft>
              <a:defRPr sz="14000" b="0">
                <a:solidFill>
                  <a:srgbClr val="E5E5EA"/>
                </a:solidFill>
                <a:latin typeface="Segoe UI"/>
              </a:defRPr>
            </a:pPr>
            <a:r>
              <a:t>🍔</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0F14"/>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731520" cy="457200"/>
          </a:xfrm>
          <a:prstGeom prst="rect">
            <a:avLst/>
          </a:prstGeom>
          <a:noFill/>
        </p:spPr>
        <p:txBody>
          <a:bodyPr wrap="square">
            <a:spAutoFit/>
          </a:bodyPr>
          <a:lstStyle/>
          <a:p>
            <a:pPr algn="l">
              <a:spcBef>
                <a:spcPts val="0"/>
              </a:spcBef>
              <a:spcAft>
                <a:spcPts val="0"/>
              </a:spcAft>
              <a:defRPr sz="1400" b="1">
                <a:solidFill>
                  <a:srgbClr val="FF6B00"/>
                </a:solidFill>
                <a:latin typeface="Segoe UI Black"/>
              </a:defRPr>
            </a:pPr>
            <a:r>
              <a:t>00</a:t>
            </a:r>
          </a:p>
        </p:txBody>
      </p:sp>
      <p:sp>
        <p:nvSpPr>
          <p:cNvPr id="4" name="TextBox 3"/>
          <p:cNvSpPr txBox="1"/>
          <p:nvPr/>
        </p:nvSpPr>
        <p:spPr>
          <a:xfrm>
            <a:off x="1234440" y="320040"/>
            <a:ext cx="274320" cy="457200"/>
          </a:xfrm>
          <a:prstGeom prst="rect">
            <a:avLst/>
          </a:prstGeom>
          <a:noFill/>
        </p:spPr>
        <p:txBody>
          <a:bodyPr wrap="square">
            <a:spAutoFit/>
          </a:bodyPr>
          <a:lstStyle/>
          <a:p>
            <a:pPr algn="l">
              <a:spcBef>
                <a:spcPts val="0"/>
              </a:spcBef>
              <a:spcAft>
                <a:spcPts val="0"/>
              </a:spcAft>
              <a:defRPr sz="1400" b="1">
                <a:solidFill>
                  <a:srgbClr val="9C9CA8"/>
                </a:solidFill>
                <a:latin typeface="Segoe UI"/>
              </a:defRPr>
            </a:pPr>
            <a:r>
              <a:t>—</a:t>
            </a:r>
          </a:p>
        </p:txBody>
      </p:sp>
      <p:sp>
        <p:nvSpPr>
          <p:cNvPr id="5" name="TextBox 4"/>
          <p:cNvSpPr txBox="1"/>
          <p:nvPr/>
        </p:nvSpPr>
        <p:spPr>
          <a:xfrm>
            <a:off x="1508760" y="274320"/>
            <a:ext cx="7315200" cy="502920"/>
          </a:xfrm>
          <a:prstGeom prst="rect">
            <a:avLst/>
          </a:prstGeom>
          <a:noFill/>
        </p:spPr>
        <p:txBody>
          <a:bodyPr wrap="square">
            <a:spAutoFit/>
          </a:bodyPr>
          <a:lstStyle/>
          <a:p>
            <a:pPr algn="l">
              <a:spcBef>
                <a:spcPts val="0"/>
              </a:spcBef>
              <a:spcAft>
                <a:spcPts val="0"/>
              </a:spcAft>
              <a:defRPr sz="1500" b="1">
                <a:solidFill>
                  <a:srgbClr val="FFFFFF"/>
                </a:solidFill>
                <a:latin typeface="Segoe UI Semibold"/>
              </a:defRPr>
            </a:pPr>
            <a:r>
              <a:t>NỘI DUNG TRÌNH BÀY</a:t>
            </a:r>
          </a:p>
        </p:txBody>
      </p:sp>
      <p:sp>
        <p:nvSpPr>
          <p:cNvPr id="6" name="TextBox 5"/>
          <p:cNvSpPr txBox="1"/>
          <p:nvPr/>
        </p:nvSpPr>
        <p:spPr>
          <a:xfrm>
            <a:off x="1508760" y="640080"/>
            <a:ext cx="7315200" cy="36576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Cấu trúc bài báo cáo đồ án</a:t>
            </a:r>
          </a:p>
        </p:txBody>
      </p:sp>
      <p:sp>
        <p:nvSpPr>
          <p:cNvPr id="7" name="TextBox 6"/>
          <p:cNvSpPr txBox="1"/>
          <p:nvPr/>
        </p:nvSpPr>
        <p:spPr>
          <a:xfrm>
            <a:off x="10058400" y="320040"/>
            <a:ext cx="1828800" cy="365760"/>
          </a:xfrm>
          <a:prstGeom prst="rect">
            <a:avLst/>
          </a:prstGeom>
          <a:noFill/>
        </p:spPr>
        <p:txBody>
          <a:bodyPr wrap="square">
            <a:spAutoFit/>
          </a:bodyPr>
          <a:lstStyle/>
          <a:p>
            <a:pPr algn="r">
              <a:spcBef>
                <a:spcPts val="0"/>
              </a:spcBef>
              <a:spcAft>
                <a:spcPts val="0"/>
              </a:spcAft>
              <a:defRPr sz="1100" b="1">
                <a:solidFill>
                  <a:srgbClr val="FF6B00"/>
                </a:solidFill>
                <a:latin typeface="Segoe UI"/>
              </a:defRPr>
            </a:pPr>
            <a:r>
              <a:t>🍽️ FoodServe</a:t>
            </a:r>
          </a:p>
        </p:txBody>
      </p:sp>
      <p:sp>
        <p:nvSpPr>
          <p:cNvPr id="8" name="Rectangle 7"/>
          <p:cNvSpPr/>
          <p:nvPr/>
        </p:nvSpPr>
        <p:spPr>
          <a:xfrm>
            <a:off x="731520" y="1005840"/>
            <a:ext cx="10698480" cy="12700"/>
          </a:xfrm>
          <a:prstGeom prst="rect">
            <a:avLst/>
          </a:prstGeom>
          <a:solidFill>
            <a:srgbClr val="2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14400" y="1463040"/>
            <a:ext cx="5029200" cy="128016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1143000" y="1737360"/>
            <a:ext cx="640080" cy="640080"/>
          </a:xfrm>
          <a:prstGeom prst="roundRect">
            <a:avLst>
              <a:gd name="adj" fmla="val 12000"/>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43000" y="1783080"/>
            <a:ext cx="640080" cy="640080"/>
          </a:xfrm>
          <a:prstGeom prst="rect">
            <a:avLst/>
          </a:prstGeom>
          <a:noFill/>
        </p:spPr>
        <p:txBody>
          <a:bodyPr wrap="square">
            <a:spAutoFit/>
          </a:bodyPr>
          <a:lstStyle/>
          <a:p>
            <a:pPr algn="ctr">
              <a:spcBef>
                <a:spcPts val="0"/>
              </a:spcBef>
              <a:spcAft>
                <a:spcPts val="0"/>
              </a:spcAft>
              <a:defRPr sz="2200" b="1">
                <a:solidFill>
                  <a:srgbClr val="FFFFFF"/>
                </a:solidFill>
                <a:latin typeface="Segoe UI Black"/>
              </a:defRPr>
            </a:pPr>
            <a:r>
              <a:t>01</a:t>
            </a:r>
          </a:p>
        </p:txBody>
      </p:sp>
      <p:sp>
        <p:nvSpPr>
          <p:cNvPr id="12" name="TextBox 11"/>
          <p:cNvSpPr txBox="1"/>
          <p:nvPr/>
        </p:nvSpPr>
        <p:spPr>
          <a:xfrm>
            <a:off x="2011680" y="1691640"/>
            <a:ext cx="3474720" cy="365760"/>
          </a:xfrm>
          <a:prstGeom prst="rect">
            <a:avLst/>
          </a:prstGeom>
          <a:noFill/>
        </p:spPr>
        <p:txBody>
          <a:bodyPr wrap="square">
            <a:spAutoFit/>
          </a:bodyPr>
          <a:lstStyle/>
          <a:p>
            <a:pPr algn="l">
              <a:spcBef>
                <a:spcPts val="0"/>
              </a:spcBef>
              <a:spcAft>
                <a:spcPts val="0"/>
              </a:spcAft>
              <a:defRPr sz="1500" b="1">
                <a:solidFill>
                  <a:srgbClr val="FFFFFF"/>
                </a:solidFill>
                <a:latin typeface="Segoe UI"/>
              </a:defRPr>
            </a:pPr>
            <a:r>
              <a:t>Tổng quan đề tài</a:t>
            </a:r>
          </a:p>
        </p:txBody>
      </p:sp>
      <p:sp>
        <p:nvSpPr>
          <p:cNvPr id="13" name="TextBox 12"/>
          <p:cNvSpPr txBox="1"/>
          <p:nvPr/>
        </p:nvSpPr>
        <p:spPr>
          <a:xfrm>
            <a:off x="2011680" y="2103120"/>
            <a:ext cx="3474720" cy="45720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Lý do, mục tiêu, phạm vi &amp; phương pháp nghiên cứu</a:t>
            </a:r>
          </a:p>
        </p:txBody>
      </p:sp>
      <p:sp>
        <p:nvSpPr>
          <p:cNvPr id="14" name="Rounded Rectangle 13"/>
          <p:cNvSpPr/>
          <p:nvPr/>
        </p:nvSpPr>
        <p:spPr>
          <a:xfrm>
            <a:off x="914400" y="3063240"/>
            <a:ext cx="5029200" cy="128016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1143000" y="3337560"/>
            <a:ext cx="640080" cy="640080"/>
          </a:xfrm>
          <a:prstGeom prst="roundRect">
            <a:avLst>
              <a:gd name="adj" fmla="val 12000"/>
            </a:avLst>
          </a:prstGeom>
          <a:solidFill>
            <a:srgbClr val="388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43000" y="3383280"/>
            <a:ext cx="640080" cy="640080"/>
          </a:xfrm>
          <a:prstGeom prst="rect">
            <a:avLst/>
          </a:prstGeom>
          <a:noFill/>
        </p:spPr>
        <p:txBody>
          <a:bodyPr wrap="square">
            <a:spAutoFit/>
          </a:bodyPr>
          <a:lstStyle/>
          <a:p>
            <a:pPr algn="ctr">
              <a:spcBef>
                <a:spcPts val="0"/>
              </a:spcBef>
              <a:spcAft>
                <a:spcPts val="0"/>
              </a:spcAft>
              <a:defRPr sz="2200" b="1">
                <a:solidFill>
                  <a:srgbClr val="FFFFFF"/>
                </a:solidFill>
                <a:latin typeface="Segoe UI Black"/>
              </a:defRPr>
            </a:pPr>
            <a:r>
              <a:t>02</a:t>
            </a:r>
          </a:p>
        </p:txBody>
      </p:sp>
      <p:sp>
        <p:nvSpPr>
          <p:cNvPr id="17" name="TextBox 16"/>
          <p:cNvSpPr txBox="1"/>
          <p:nvPr/>
        </p:nvSpPr>
        <p:spPr>
          <a:xfrm>
            <a:off x="2011680" y="3291840"/>
            <a:ext cx="3474720" cy="365760"/>
          </a:xfrm>
          <a:prstGeom prst="rect">
            <a:avLst/>
          </a:prstGeom>
          <a:noFill/>
        </p:spPr>
        <p:txBody>
          <a:bodyPr wrap="square">
            <a:spAutoFit/>
          </a:bodyPr>
          <a:lstStyle/>
          <a:p>
            <a:pPr algn="l">
              <a:spcBef>
                <a:spcPts val="0"/>
              </a:spcBef>
              <a:spcAft>
                <a:spcPts val="0"/>
              </a:spcAft>
              <a:defRPr sz="1500" b="1">
                <a:solidFill>
                  <a:srgbClr val="FFFFFF"/>
                </a:solidFill>
                <a:latin typeface="Segoe UI"/>
              </a:defRPr>
            </a:pPr>
            <a:r>
              <a:t>Cơ sở lý thuyết</a:t>
            </a:r>
          </a:p>
        </p:txBody>
      </p:sp>
      <p:sp>
        <p:nvSpPr>
          <p:cNvPr id="18" name="TextBox 17"/>
          <p:cNvSpPr txBox="1"/>
          <p:nvPr/>
        </p:nvSpPr>
        <p:spPr>
          <a:xfrm>
            <a:off x="2011680" y="3703320"/>
            <a:ext cx="3474720" cy="45720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Ngôn ngữ, công cụ &amp; môi trường phát triển</a:t>
            </a:r>
          </a:p>
        </p:txBody>
      </p:sp>
      <p:sp>
        <p:nvSpPr>
          <p:cNvPr id="19" name="Rounded Rectangle 18"/>
          <p:cNvSpPr/>
          <p:nvPr/>
        </p:nvSpPr>
        <p:spPr>
          <a:xfrm>
            <a:off x="914400" y="4663440"/>
            <a:ext cx="5029200" cy="128016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1143000" y="4937760"/>
            <a:ext cx="640080" cy="640080"/>
          </a:xfrm>
          <a:prstGeom prst="roundRect">
            <a:avLst>
              <a:gd name="adj" fmla="val 12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43000" y="4983480"/>
            <a:ext cx="640080" cy="640080"/>
          </a:xfrm>
          <a:prstGeom prst="rect">
            <a:avLst/>
          </a:prstGeom>
          <a:noFill/>
        </p:spPr>
        <p:txBody>
          <a:bodyPr wrap="square">
            <a:spAutoFit/>
          </a:bodyPr>
          <a:lstStyle/>
          <a:p>
            <a:pPr algn="ctr">
              <a:spcBef>
                <a:spcPts val="0"/>
              </a:spcBef>
              <a:spcAft>
                <a:spcPts val="0"/>
              </a:spcAft>
              <a:defRPr sz="2200" b="1">
                <a:solidFill>
                  <a:srgbClr val="FFFFFF"/>
                </a:solidFill>
                <a:latin typeface="Segoe UI Black"/>
              </a:defRPr>
            </a:pPr>
            <a:r>
              <a:t>03</a:t>
            </a:r>
          </a:p>
        </p:txBody>
      </p:sp>
      <p:sp>
        <p:nvSpPr>
          <p:cNvPr id="22" name="TextBox 21"/>
          <p:cNvSpPr txBox="1"/>
          <p:nvPr/>
        </p:nvSpPr>
        <p:spPr>
          <a:xfrm>
            <a:off x="2011680" y="4892040"/>
            <a:ext cx="3474720" cy="365760"/>
          </a:xfrm>
          <a:prstGeom prst="rect">
            <a:avLst/>
          </a:prstGeom>
          <a:noFill/>
        </p:spPr>
        <p:txBody>
          <a:bodyPr wrap="square">
            <a:spAutoFit/>
          </a:bodyPr>
          <a:lstStyle/>
          <a:p>
            <a:pPr algn="l">
              <a:spcBef>
                <a:spcPts val="0"/>
              </a:spcBef>
              <a:spcAft>
                <a:spcPts val="0"/>
              </a:spcAft>
              <a:defRPr sz="1500" b="1">
                <a:solidFill>
                  <a:srgbClr val="FFFFFF"/>
                </a:solidFill>
                <a:latin typeface="Segoe UI"/>
              </a:defRPr>
            </a:pPr>
            <a:r>
              <a:t>Phân tích hệ thống</a:t>
            </a:r>
          </a:p>
        </p:txBody>
      </p:sp>
      <p:sp>
        <p:nvSpPr>
          <p:cNvPr id="23" name="TextBox 22"/>
          <p:cNvSpPr txBox="1"/>
          <p:nvPr/>
        </p:nvSpPr>
        <p:spPr>
          <a:xfrm>
            <a:off x="2011680" y="5303520"/>
            <a:ext cx="3474720" cy="45720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Biểu đồ Usecase &amp; Lược đồ quan hệ ER</a:t>
            </a:r>
          </a:p>
        </p:txBody>
      </p:sp>
      <p:sp>
        <p:nvSpPr>
          <p:cNvPr id="24" name="Rounded Rectangle 23"/>
          <p:cNvSpPr/>
          <p:nvPr/>
        </p:nvSpPr>
        <p:spPr>
          <a:xfrm>
            <a:off x="6400800" y="1463040"/>
            <a:ext cx="5029200" cy="128016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6629400" y="1737360"/>
            <a:ext cx="640080" cy="640080"/>
          </a:xfrm>
          <a:prstGeom prst="roundRect">
            <a:avLst>
              <a:gd name="adj" fmla="val 12000"/>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629400" y="1783080"/>
            <a:ext cx="640080" cy="640080"/>
          </a:xfrm>
          <a:prstGeom prst="rect">
            <a:avLst/>
          </a:prstGeom>
          <a:noFill/>
        </p:spPr>
        <p:txBody>
          <a:bodyPr wrap="square">
            <a:spAutoFit/>
          </a:bodyPr>
          <a:lstStyle/>
          <a:p>
            <a:pPr algn="ctr">
              <a:spcBef>
                <a:spcPts val="0"/>
              </a:spcBef>
              <a:spcAft>
                <a:spcPts val="0"/>
              </a:spcAft>
              <a:defRPr sz="2200" b="1">
                <a:solidFill>
                  <a:srgbClr val="FFFFFF"/>
                </a:solidFill>
                <a:latin typeface="Segoe UI Black"/>
              </a:defRPr>
            </a:pPr>
            <a:r>
              <a:t>04</a:t>
            </a:r>
          </a:p>
        </p:txBody>
      </p:sp>
      <p:sp>
        <p:nvSpPr>
          <p:cNvPr id="27" name="TextBox 26"/>
          <p:cNvSpPr txBox="1"/>
          <p:nvPr/>
        </p:nvSpPr>
        <p:spPr>
          <a:xfrm>
            <a:off x="7498080" y="1691640"/>
            <a:ext cx="3474720" cy="365760"/>
          </a:xfrm>
          <a:prstGeom prst="rect">
            <a:avLst/>
          </a:prstGeom>
          <a:noFill/>
        </p:spPr>
        <p:txBody>
          <a:bodyPr wrap="square">
            <a:spAutoFit/>
          </a:bodyPr>
          <a:lstStyle/>
          <a:p>
            <a:pPr algn="l">
              <a:spcBef>
                <a:spcPts val="0"/>
              </a:spcBef>
              <a:spcAft>
                <a:spcPts val="0"/>
              </a:spcAft>
              <a:defRPr sz="1500" b="1">
                <a:solidFill>
                  <a:srgbClr val="FFFFFF"/>
                </a:solidFill>
                <a:latin typeface="Segoe UI"/>
              </a:defRPr>
            </a:pPr>
            <a:r>
              <a:t>Demo sản phẩm</a:t>
            </a:r>
          </a:p>
        </p:txBody>
      </p:sp>
      <p:sp>
        <p:nvSpPr>
          <p:cNvPr id="28" name="TextBox 27"/>
          <p:cNvSpPr txBox="1"/>
          <p:nvPr/>
        </p:nvSpPr>
        <p:spPr>
          <a:xfrm>
            <a:off x="7498080" y="2103120"/>
            <a:ext cx="3474720" cy="45720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Trình diễn các chức năng chính của FoodServe</a:t>
            </a:r>
          </a:p>
        </p:txBody>
      </p:sp>
      <p:sp>
        <p:nvSpPr>
          <p:cNvPr id="29" name="Rounded Rectangle 28"/>
          <p:cNvSpPr/>
          <p:nvPr/>
        </p:nvSpPr>
        <p:spPr>
          <a:xfrm>
            <a:off x="6400800" y="3063240"/>
            <a:ext cx="5029200" cy="128016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6629400" y="3337560"/>
            <a:ext cx="640080" cy="640080"/>
          </a:xfrm>
          <a:prstGeom prst="roundRect">
            <a:avLst>
              <a:gd name="adj" fmla="val 12000"/>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629400" y="3383280"/>
            <a:ext cx="640080" cy="640080"/>
          </a:xfrm>
          <a:prstGeom prst="rect">
            <a:avLst/>
          </a:prstGeom>
          <a:noFill/>
        </p:spPr>
        <p:txBody>
          <a:bodyPr wrap="square">
            <a:spAutoFit/>
          </a:bodyPr>
          <a:lstStyle/>
          <a:p>
            <a:pPr algn="ctr">
              <a:spcBef>
                <a:spcPts val="0"/>
              </a:spcBef>
              <a:spcAft>
                <a:spcPts val="0"/>
              </a:spcAft>
              <a:defRPr sz="2200" b="1">
                <a:solidFill>
                  <a:srgbClr val="FFFFFF"/>
                </a:solidFill>
                <a:latin typeface="Segoe UI Black"/>
              </a:defRPr>
            </a:pPr>
            <a:r>
              <a:t>05</a:t>
            </a:r>
          </a:p>
        </p:txBody>
      </p:sp>
      <p:sp>
        <p:nvSpPr>
          <p:cNvPr id="32" name="TextBox 31"/>
          <p:cNvSpPr txBox="1"/>
          <p:nvPr/>
        </p:nvSpPr>
        <p:spPr>
          <a:xfrm>
            <a:off x="7498080" y="3291840"/>
            <a:ext cx="3474720" cy="365760"/>
          </a:xfrm>
          <a:prstGeom prst="rect">
            <a:avLst/>
          </a:prstGeom>
          <a:noFill/>
        </p:spPr>
        <p:txBody>
          <a:bodyPr wrap="square">
            <a:spAutoFit/>
          </a:bodyPr>
          <a:lstStyle/>
          <a:p>
            <a:pPr algn="l">
              <a:spcBef>
                <a:spcPts val="0"/>
              </a:spcBef>
              <a:spcAft>
                <a:spcPts val="0"/>
              </a:spcAft>
              <a:defRPr sz="1500" b="1">
                <a:solidFill>
                  <a:srgbClr val="FFFFFF"/>
                </a:solidFill>
                <a:latin typeface="Segoe UI"/>
              </a:defRPr>
            </a:pPr>
            <a:r>
              <a:t>Hạn chế &amp; Định hướng</a:t>
            </a:r>
          </a:p>
        </p:txBody>
      </p:sp>
      <p:sp>
        <p:nvSpPr>
          <p:cNvPr id="33" name="TextBox 32"/>
          <p:cNvSpPr txBox="1"/>
          <p:nvPr/>
        </p:nvSpPr>
        <p:spPr>
          <a:xfrm>
            <a:off x="7498080" y="3703320"/>
            <a:ext cx="3474720" cy="45720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Đánh giá hạn chế và hướng phát triển tương lai</a:t>
            </a:r>
          </a:p>
        </p:txBody>
      </p:sp>
      <p:sp>
        <p:nvSpPr>
          <p:cNvPr id="34" name="Rounded Rectangle 33"/>
          <p:cNvSpPr/>
          <p:nvPr/>
        </p:nvSpPr>
        <p:spPr>
          <a:xfrm>
            <a:off x="6400800" y="4663440"/>
            <a:ext cx="5029200" cy="128016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6629400" y="4937760"/>
            <a:ext cx="640080" cy="640080"/>
          </a:xfrm>
          <a:prstGeom prst="roundRect">
            <a:avLst>
              <a:gd name="adj" fmla="val 12000"/>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629400" y="4983480"/>
            <a:ext cx="640080" cy="640080"/>
          </a:xfrm>
          <a:prstGeom prst="rect">
            <a:avLst/>
          </a:prstGeom>
          <a:noFill/>
        </p:spPr>
        <p:txBody>
          <a:bodyPr wrap="square">
            <a:spAutoFit/>
          </a:bodyPr>
          <a:lstStyle/>
          <a:p>
            <a:pPr algn="ctr">
              <a:spcBef>
                <a:spcPts val="0"/>
              </a:spcBef>
              <a:spcAft>
                <a:spcPts val="0"/>
              </a:spcAft>
              <a:defRPr sz="2200" b="1">
                <a:solidFill>
                  <a:srgbClr val="FFFFFF"/>
                </a:solidFill>
                <a:latin typeface="Segoe UI Black"/>
              </a:defRPr>
            </a:pPr>
            <a:r>
              <a:t>06</a:t>
            </a:r>
          </a:p>
        </p:txBody>
      </p:sp>
      <p:sp>
        <p:nvSpPr>
          <p:cNvPr id="37" name="TextBox 36"/>
          <p:cNvSpPr txBox="1"/>
          <p:nvPr/>
        </p:nvSpPr>
        <p:spPr>
          <a:xfrm>
            <a:off x="7498080" y="4892040"/>
            <a:ext cx="3474720" cy="365760"/>
          </a:xfrm>
          <a:prstGeom prst="rect">
            <a:avLst/>
          </a:prstGeom>
          <a:noFill/>
        </p:spPr>
        <p:txBody>
          <a:bodyPr wrap="square">
            <a:spAutoFit/>
          </a:bodyPr>
          <a:lstStyle/>
          <a:p>
            <a:pPr algn="l">
              <a:spcBef>
                <a:spcPts val="0"/>
              </a:spcBef>
              <a:spcAft>
                <a:spcPts val="0"/>
              </a:spcAft>
              <a:defRPr sz="1500" b="1">
                <a:solidFill>
                  <a:srgbClr val="FFFFFF"/>
                </a:solidFill>
                <a:latin typeface="Segoe UI"/>
              </a:defRPr>
            </a:pPr>
            <a:r>
              <a:t>Kết luận</a:t>
            </a:r>
          </a:p>
        </p:txBody>
      </p:sp>
      <p:sp>
        <p:nvSpPr>
          <p:cNvPr id="38" name="TextBox 37"/>
          <p:cNvSpPr txBox="1"/>
          <p:nvPr/>
        </p:nvSpPr>
        <p:spPr>
          <a:xfrm>
            <a:off x="7498080" y="5303520"/>
            <a:ext cx="3474720" cy="45720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Tổng kết &amp; lời cảm ơn</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0F14"/>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731520" cy="457200"/>
          </a:xfrm>
          <a:prstGeom prst="rect">
            <a:avLst/>
          </a:prstGeom>
          <a:noFill/>
        </p:spPr>
        <p:txBody>
          <a:bodyPr wrap="square">
            <a:spAutoFit/>
          </a:bodyPr>
          <a:lstStyle/>
          <a:p>
            <a:pPr algn="l">
              <a:spcBef>
                <a:spcPts val="0"/>
              </a:spcBef>
              <a:spcAft>
                <a:spcPts val="0"/>
              </a:spcAft>
              <a:defRPr sz="1400" b="1">
                <a:solidFill>
                  <a:srgbClr val="FF6B00"/>
                </a:solidFill>
                <a:latin typeface="Segoe UI Black"/>
              </a:defRPr>
            </a:pPr>
            <a:r>
              <a:t>01</a:t>
            </a:r>
          </a:p>
        </p:txBody>
      </p:sp>
      <p:sp>
        <p:nvSpPr>
          <p:cNvPr id="4" name="TextBox 3"/>
          <p:cNvSpPr txBox="1"/>
          <p:nvPr/>
        </p:nvSpPr>
        <p:spPr>
          <a:xfrm>
            <a:off x="1234440" y="320040"/>
            <a:ext cx="274320" cy="457200"/>
          </a:xfrm>
          <a:prstGeom prst="rect">
            <a:avLst/>
          </a:prstGeom>
          <a:noFill/>
        </p:spPr>
        <p:txBody>
          <a:bodyPr wrap="square">
            <a:spAutoFit/>
          </a:bodyPr>
          <a:lstStyle/>
          <a:p>
            <a:pPr algn="l">
              <a:spcBef>
                <a:spcPts val="0"/>
              </a:spcBef>
              <a:spcAft>
                <a:spcPts val="0"/>
              </a:spcAft>
              <a:defRPr sz="1400" b="1">
                <a:solidFill>
                  <a:srgbClr val="9C9CA8"/>
                </a:solidFill>
                <a:latin typeface="Segoe UI"/>
              </a:defRPr>
            </a:pPr>
            <a:r>
              <a:t>—</a:t>
            </a:r>
          </a:p>
        </p:txBody>
      </p:sp>
      <p:sp>
        <p:nvSpPr>
          <p:cNvPr id="5" name="TextBox 4"/>
          <p:cNvSpPr txBox="1"/>
          <p:nvPr/>
        </p:nvSpPr>
        <p:spPr>
          <a:xfrm>
            <a:off x="1508760" y="274320"/>
            <a:ext cx="7315200" cy="502920"/>
          </a:xfrm>
          <a:prstGeom prst="rect">
            <a:avLst/>
          </a:prstGeom>
          <a:noFill/>
        </p:spPr>
        <p:txBody>
          <a:bodyPr wrap="square">
            <a:spAutoFit/>
          </a:bodyPr>
          <a:lstStyle/>
          <a:p>
            <a:pPr algn="l">
              <a:spcBef>
                <a:spcPts val="0"/>
              </a:spcBef>
              <a:spcAft>
                <a:spcPts val="0"/>
              </a:spcAft>
              <a:defRPr sz="1500" b="1">
                <a:solidFill>
                  <a:srgbClr val="FFFFFF"/>
                </a:solidFill>
                <a:latin typeface="Segoe UI Semibold"/>
              </a:defRPr>
            </a:pPr>
            <a:r>
              <a:t>LÝ DO CHỌN ĐỀ TÀI</a:t>
            </a:r>
          </a:p>
        </p:txBody>
      </p:sp>
      <p:sp>
        <p:nvSpPr>
          <p:cNvPr id="6" name="TextBox 5"/>
          <p:cNvSpPr txBox="1"/>
          <p:nvPr/>
        </p:nvSpPr>
        <p:spPr>
          <a:xfrm>
            <a:off x="1508760" y="640080"/>
            <a:ext cx="7315200" cy="36576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Tổng quan về đề tài</a:t>
            </a:r>
          </a:p>
        </p:txBody>
      </p:sp>
      <p:sp>
        <p:nvSpPr>
          <p:cNvPr id="7" name="TextBox 6"/>
          <p:cNvSpPr txBox="1"/>
          <p:nvPr/>
        </p:nvSpPr>
        <p:spPr>
          <a:xfrm>
            <a:off x="10058400" y="320040"/>
            <a:ext cx="1828800" cy="365760"/>
          </a:xfrm>
          <a:prstGeom prst="rect">
            <a:avLst/>
          </a:prstGeom>
          <a:noFill/>
        </p:spPr>
        <p:txBody>
          <a:bodyPr wrap="square">
            <a:spAutoFit/>
          </a:bodyPr>
          <a:lstStyle/>
          <a:p>
            <a:pPr algn="r">
              <a:spcBef>
                <a:spcPts val="0"/>
              </a:spcBef>
              <a:spcAft>
                <a:spcPts val="0"/>
              </a:spcAft>
              <a:defRPr sz="1100" b="1">
                <a:solidFill>
                  <a:srgbClr val="FF6B00"/>
                </a:solidFill>
                <a:latin typeface="Segoe UI"/>
              </a:defRPr>
            </a:pPr>
            <a:r>
              <a:t>🍽️ FoodServe</a:t>
            </a:r>
          </a:p>
        </p:txBody>
      </p:sp>
      <p:sp>
        <p:nvSpPr>
          <p:cNvPr id="8" name="Rectangle 7"/>
          <p:cNvSpPr/>
          <p:nvPr/>
        </p:nvSpPr>
        <p:spPr>
          <a:xfrm>
            <a:off x="731520" y="1005840"/>
            <a:ext cx="10698480" cy="12700"/>
          </a:xfrm>
          <a:prstGeom prst="rect">
            <a:avLst/>
          </a:prstGeom>
          <a:solidFill>
            <a:srgbClr val="2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31520" y="1371600"/>
            <a:ext cx="5212080" cy="228600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005840" y="1645920"/>
            <a:ext cx="502920" cy="502920"/>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1627632"/>
            <a:ext cx="502920" cy="502920"/>
          </a:xfrm>
          <a:prstGeom prst="rect">
            <a:avLst/>
          </a:prstGeom>
          <a:noFill/>
        </p:spPr>
        <p:txBody>
          <a:bodyPr wrap="square">
            <a:spAutoFit/>
          </a:bodyPr>
          <a:lstStyle/>
          <a:p>
            <a:pPr algn="ctr">
              <a:spcBef>
                <a:spcPts val="0"/>
              </a:spcBef>
              <a:spcAft>
                <a:spcPts val="0"/>
              </a:spcAft>
              <a:defRPr sz="1800" b="1">
                <a:solidFill>
                  <a:srgbClr val="FFFFFF"/>
                </a:solidFill>
                <a:latin typeface="Segoe UI"/>
              </a:defRPr>
            </a:pPr>
            <a:r>
              <a:t>📈</a:t>
            </a:r>
          </a:p>
        </p:txBody>
      </p:sp>
      <p:sp>
        <p:nvSpPr>
          <p:cNvPr id="12" name="TextBox 11"/>
          <p:cNvSpPr txBox="1"/>
          <p:nvPr/>
        </p:nvSpPr>
        <p:spPr>
          <a:xfrm>
            <a:off x="1005840" y="2286000"/>
            <a:ext cx="4663440" cy="365760"/>
          </a:xfrm>
          <a:prstGeom prst="rect">
            <a:avLst/>
          </a:prstGeom>
          <a:noFill/>
        </p:spPr>
        <p:txBody>
          <a:bodyPr wrap="square">
            <a:spAutoFit/>
          </a:bodyPr>
          <a:lstStyle/>
          <a:p>
            <a:pPr algn="l">
              <a:spcBef>
                <a:spcPts val="0"/>
              </a:spcBef>
              <a:spcAft>
                <a:spcPts val="0"/>
              </a:spcAft>
              <a:defRPr sz="1300" b="1">
                <a:solidFill>
                  <a:srgbClr val="FFFFFF"/>
                </a:solidFill>
                <a:latin typeface="Segoe UI"/>
              </a:defRPr>
            </a:pPr>
            <a:r>
              <a:t>Nhu cầu thị trường</a:t>
            </a:r>
          </a:p>
        </p:txBody>
      </p:sp>
      <p:sp>
        <p:nvSpPr>
          <p:cNvPr id="13" name="TextBox 12"/>
          <p:cNvSpPr txBox="1"/>
          <p:nvPr/>
        </p:nvSpPr>
        <p:spPr>
          <a:xfrm>
            <a:off x="1005840" y="2606040"/>
            <a:ext cx="4663440" cy="91440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Thị trường giao đồ ăn trực tuyến tại Việt Nam</a:t>
            </a:r>
            <a:br/>
            <a:r>
              <a:t>tăng trưởng mạnh mẽ (GrabFood, ShopeeFood,</a:t>
            </a:r>
            <a:br/>
            <a:r>
              <a:t>Baemin). Năm 2025 đạt ~3 tỷ USD doanh thu.</a:t>
            </a:r>
          </a:p>
        </p:txBody>
      </p:sp>
      <p:sp>
        <p:nvSpPr>
          <p:cNvPr id="14" name="Rounded Rectangle 13"/>
          <p:cNvSpPr/>
          <p:nvPr/>
        </p:nvSpPr>
        <p:spPr>
          <a:xfrm>
            <a:off x="6309360" y="1371600"/>
            <a:ext cx="5212080" cy="228600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583680" y="1645920"/>
            <a:ext cx="502920" cy="502920"/>
          </a:xfrm>
          <a:prstGeom prst="ellipse">
            <a:avLst/>
          </a:prstGeom>
          <a:solidFill>
            <a:srgbClr val="388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0" y="1627632"/>
            <a:ext cx="502920" cy="502920"/>
          </a:xfrm>
          <a:prstGeom prst="rect">
            <a:avLst/>
          </a:prstGeom>
          <a:noFill/>
        </p:spPr>
        <p:txBody>
          <a:bodyPr wrap="square">
            <a:spAutoFit/>
          </a:bodyPr>
          <a:lstStyle/>
          <a:p>
            <a:pPr algn="ctr">
              <a:spcBef>
                <a:spcPts val="0"/>
              </a:spcBef>
              <a:spcAft>
                <a:spcPts val="0"/>
              </a:spcAft>
              <a:defRPr sz="1800" b="1">
                <a:solidFill>
                  <a:srgbClr val="FFFFFF"/>
                </a:solidFill>
                <a:latin typeface="Segoe UI"/>
              </a:defRPr>
            </a:pPr>
            <a:r>
              <a:t>⚡</a:t>
            </a:r>
          </a:p>
        </p:txBody>
      </p:sp>
      <p:sp>
        <p:nvSpPr>
          <p:cNvPr id="17" name="TextBox 16"/>
          <p:cNvSpPr txBox="1"/>
          <p:nvPr/>
        </p:nvSpPr>
        <p:spPr>
          <a:xfrm>
            <a:off x="6583680" y="2286000"/>
            <a:ext cx="4663440" cy="365760"/>
          </a:xfrm>
          <a:prstGeom prst="rect">
            <a:avLst/>
          </a:prstGeom>
          <a:noFill/>
        </p:spPr>
        <p:txBody>
          <a:bodyPr wrap="square">
            <a:spAutoFit/>
          </a:bodyPr>
          <a:lstStyle/>
          <a:p>
            <a:pPr algn="l">
              <a:spcBef>
                <a:spcPts val="0"/>
              </a:spcBef>
              <a:spcAft>
                <a:spcPts val="0"/>
              </a:spcAft>
              <a:defRPr sz="1300" b="1">
                <a:solidFill>
                  <a:srgbClr val="FFFFFF"/>
                </a:solidFill>
                <a:latin typeface="Segoe UI"/>
              </a:defRPr>
            </a:pPr>
            <a:r>
              <a:t>Chuyển đổi số F&amp;B</a:t>
            </a:r>
          </a:p>
        </p:txBody>
      </p:sp>
      <p:sp>
        <p:nvSpPr>
          <p:cNvPr id="18" name="TextBox 17"/>
          <p:cNvSpPr txBox="1"/>
          <p:nvPr/>
        </p:nvSpPr>
        <p:spPr>
          <a:xfrm>
            <a:off x="6583680" y="2606040"/>
            <a:ext cx="4663440" cy="91440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Ngành F&amp;B đang chuyển đổi số mạnh mẽ.</a:t>
            </a:r>
            <a:br/>
            <a:r>
              <a:t>Nhà hàng nhỏ cần nền tảng trực tuyến</a:t>
            </a:r>
            <a:br/>
            <a:r>
              <a:t>để cạnh tranh và tiếp cận khách hàng.</a:t>
            </a:r>
          </a:p>
        </p:txBody>
      </p:sp>
      <p:sp>
        <p:nvSpPr>
          <p:cNvPr id="19" name="Rounded Rectangle 18"/>
          <p:cNvSpPr/>
          <p:nvPr/>
        </p:nvSpPr>
        <p:spPr>
          <a:xfrm>
            <a:off x="731520" y="3977640"/>
            <a:ext cx="5212080" cy="228600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05840" y="4251960"/>
            <a:ext cx="502920" cy="50292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05840" y="4233672"/>
            <a:ext cx="502920" cy="502920"/>
          </a:xfrm>
          <a:prstGeom prst="rect">
            <a:avLst/>
          </a:prstGeom>
          <a:noFill/>
        </p:spPr>
        <p:txBody>
          <a:bodyPr wrap="square">
            <a:spAutoFit/>
          </a:bodyPr>
          <a:lstStyle/>
          <a:p>
            <a:pPr algn="ctr">
              <a:spcBef>
                <a:spcPts val="0"/>
              </a:spcBef>
              <a:spcAft>
                <a:spcPts val="0"/>
              </a:spcAft>
              <a:defRPr sz="1800" b="1">
                <a:solidFill>
                  <a:srgbClr val="FFFFFF"/>
                </a:solidFill>
                <a:latin typeface="Segoe UI"/>
              </a:defRPr>
            </a:pPr>
            <a:r>
              <a:t>🎓</a:t>
            </a:r>
          </a:p>
        </p:txBody>
      </p:sp>
      <p:sp>
        <p:nvSpPr>
          <p:cNvPr id="22" name="TextBox 21"/>
          <p:cNvSpPr txBox="1"/>
          <p:nvPr/>
        </p:nvSpPr>
        <p:spPr>
          <a:xfrm>
            <a:off x="1005840" y="4892040"/>
            <a:ext cx="4663440" cy="365760"/>
          </a:xfrm>
          <a:prstGeom prst="rect">
            <a:avLst/>
          </a:prstGeom>
          <a:noFill/>
        </p:spPr>
        <p:txBody>
          <a:bodyPr wrap="square">
            <a:spAutoFit/>
          </a:bodyPr>
          <a:lstStyle/>
          <a:p>
            <a:pPr algn="l">
              <a:spcBef>
                <a:spcPts val="0"/>
              </a:spcBef>
              <a:spcAft>
                <a:spcPts val="0"/>
              </a:spcAft>
              <a:defRPr sz="1300" b="1">
                <a:solidFill>
                  <a:srgbClr val="FFFFFF"/>
                </a:solidFill>
                <a:latin typeface="Segoe UI"/>
              </a:defRPr>
            </a:pPr>
            <a:r>
              <a:t>Ứng dụng kiến thức</a:t>
            </a:r>
          </a:p>
        </p:txBody>
      </p:sp>
      <p:sp>
        <p:nvSpPr>
          <p:cNvPr id="23" name="TextBox 22"/>
          <p:cNvSpPr txBox="1"/>
          <p:nvPr/>
        </p:nvSpPr>
        <p:spPr>
          <a:xfrm>
            <a:off x="1005840" y="5212080"/>
            <a:ext cx="4663440" cy="91440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Áp dụng toàn diện kiến thức Fullstack:</a:t>
            </a:r>
            <a:br/>
            <a:r>
              <a:t>React.js, Node.js, MongoDB, Socket.IO,</a:t>
            </a:r>
            <a:br/>
            <a:r>
              <a:t>RESTful API, Payment Gateway integration.</a:t>
            </a:r>
          </a:p>
        </p:txBody>
      </p:sp>
      <p:sp>
        <p:nvSpPr>
          <p:cNvPr id="24" name="Rounded Rectangle 23"/>
          <p:cNvSpPr/>
          <p:nvPr/>
        </p:nvSpPr>
        <p:spPr>
          <a:xfrm>
            <a:off x="6309360" y="3977640"/>
            <a:ext cx="5212080" cy="228600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6583680" y="4251960"/>
            <a:ext cx="502920" cy="502920"/>
          </a:xfrm>
          <a:prstGeom prst="ellipse">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83680" y="4233672"/>
            <a:ext cx="502920" cy="502920"/>
          </a:xfrm>
          <a:prstGeom prst="rect">
            <a:avLst/>
          </a:prstGeom>
          <a:noFill/>
        </p:spPr>
        <p:txBody>
          <a:bodyPr wrap="square">
            <a:spAutoFit/>
          </a:bodyPr>
          <a:lstStyle/>
          <a:p>
            <a:pPr algn="ctr">
              <a:spcBef>
                <a:spcPts val="0"/>
              </a:spcBef>
              <a:spcAft>
                <a:spcPts val="0"/>
              </a:spcAft>
              <a:defRPr sz="1800" b="1">
                <a:solidFill>
                  <a:srgbClr val="FFFFFF"/>
                </a:solidFill>
                <a:latin typeface="Segoe UI"/>
              </a:defRPr>
            </a:pPr>
            <a:r>
              <a:t>🚀</a:t>
            </a:r>
          </a:p>
        </p:txBody>
      </p:sp>
      <p:sp>
        <p:nvSpPr>
          <p:cNvPr id="27" name="TextBox 26"/>
          <p:cNvSpPr txBox="1"/>
          <p:nvPr/>
        </p:nvSpPr>
        <p:spPr>
          <a:xfrm>
            <a:off x="6583680" y="4892040"/>
            <a:ext cx="4663440" cy="365760"/>
          </a:xfrm>
          <a:prstGeom prst="rect">
            <a:avLst/>
          </a:prstGeom>
          <a:noFill/>
        </p:spPr>
        <p:txBody>
          <a:bodyPr wrap="square">
            <a:spAutoFit/>
          </a:bodyPr>
          <a:lstStyle/>
          <a:p>
            <a:pPr algn="l">
              <a:spcBef>
                <a:spcPts val="0"/>
              </a:spcBef>
              <a:spcAft>
                <a:spcPts val="0"/>
              </a:spcAft>
              <a:defRPr sz="1300" b="1">
                <a:solidFill>
                  <a:srgbClr val="FFFFFF"/>
                </a:solidFill>
                <a:latin typeface="Segoe UI"/>
              </a:defRPr>
            </a:pPr>
            <a:r>
              <a:t>Công nghệ hiện đại</a:t>
            </a:r>
          </a:p>
        </p:txBody>
      </p:sp>
      <p:sp>
        <p:nvSpPr>
          <p:cNvPr id="28" name="TextBox 27"/>
          <p:cNvSpPr txBox="1"/>
          <p:nvPr/>
        </p:nvSpPr>
        <p:spPr>
          <a:xfrm>
            <a:off x="6583680" y="5212080"/>
            <a:ext cx="4663440" cy="91440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Xây dựng ứng dụng web hoàn chỉnh với</a:t>
            </a:r>
            <a:br/>
            <a:r>
              <a:t>các công nghệ hot nhất: Realtime, AI Chatbot,</a:t>
            </a:r>
            <a:br/>
            <a:r>
              <a:t>Gamification, Responsive Design.</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0F14"/>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731520" cy="457200"/>
          </a:xfrm>
          <a:prstGeom prst="rect">
            <a:avLst/>
          </a:prstGeom>
          <a:noFill/>
        </p:spPr>
        <p:txBody>
          <a:bodyPr wrap="square">
            <a:spAutoFit/>
          </a:bodyPr>
          <a:lstStyle/>
          <a:p>
            <a:pPr algn="l">
              <a:spcBef>
                <a:spcPts val="0"/>
              </a:spcBef>
              <a:spcAft>
                <a:spcPts val="0"/>
              </a:spcAft>
              <a:defRPr sz="1400" b="1">
                <a:solidFill>
                  <a:srgbClr val="FF6B00"/>
                </a:solidFill>
                <a:latin typeface="Segoe UI Black"/>
              </a:defRPr>
            </a:pPr>
            <a:r>
              <a:t>01</a:t>
            </a:r>
          </a:p>
        </p:txBody>
      </p:sp>
      <p:sp>
        <p:nvSpPr>
          <p:cNvPr id="4" name="TextBox 3"/>
          <p:cNvSpPr txBox="1"/>
          <p:nvPr/>
        </p:nvSpPr>
        <p:spPr>
          <a:xfrm>
            <a:off x="1234440" y="320040"/>
            <a:ext cx="274320" cy="457200"/>
          </a:xfrm>
          <a:prstGeom prst="rect">
            <a:avLst/>
          </a:prstGeom>
          <a:noFill/>
        </p:spPr>
        <p:txBody>
          <a:bodyPr wrap="square">
            <a:spAutoFit/>
          </a:bodyPr>
          <a:lstStyle/>
          <a:p>
            <a:pPr algn="l">
              <a:spcBef>
                <a:spcPts val="0"/>
              </a:spcBef>
              <a:spcAft>
                <a:spcPts val="0"/>
              </a:spcAft>
              <a:defRPr sz="1400" b="1">
                <a:solidFill>
                  <a:srgbClr val="9C9CA8"/>
                </a:solidFill>
                <a:latin typeface="Segoe UI"/>
              </a:defRPr>
            </a:pPr>
            <a:r>
              <a:t>—</a:t>
            </a:r>
          </a:p>
        </p:txBody>
      </p:sp>
      <p:sp>
        <p:nvSpPr>
          <p:cNvPr id="5" name="TextBox 4"/>
          <p:cNvSpPr txBox="1"/>
          <p:nvPr/>
        </p:nvSpPr>
        <p:spPr>
          <a:xfrm>
            <a:off x="1508760" y="274320"/>
            <a:ext cx="7315200" cy="502920"/>
          </a:xfrm>
          <a:prstGeom prst="rect">
            <a:avLst/>
          </a:prstGeom>
          <a:noFill/>
        </p:spPr>
        <p:txBody>
          <a:bodyPr wrap="square">
            <a:spAutoFit/>
          </a:bodyPr>
          <a:lstStyle/>
          <a:p>
            <a:pPr algn="l">
              <a:spcBef>
                <a:spcPts val="0"/>
              </a:spcBef>
              <a:spcAft>
                <a:spcPts val="0"/>
              </a:spcAft>
              <a:defRPr sz="1500" b="1">
                <a:solidFill>
                  <a:srgbClr val="FFFFFF"/>
                </a:solidFill>
                <a:latin typeface="Segoe UI Semibold"/>
              </a:defRPr>
            </a:pPr>
            <a:r>
              <a:t>MỤC TIÊU ĐỀ TÀI</a:t>
            </a:r>
          </a:p>
        </p:txBody>
      </p:sp>
      <p:sp>
        <p:nvSpPr>
          <p:cNvPr id="6" name="TextBox 5"/>
          <p:cNvSpPr txBox="1"/>
          <p:nvPr/>
        </p:nvSpPr>
        <p:spPr>
          <a:xfrm>
            <a:off x="1508760" y="640080"/>
            <a:ext cx="7315200" cy="36576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Tổng quan về đề tài</a:t>
            </a:r>
          </a:p>
        </p:txBody>
      </p:sp>
      <p:sp>
        <p:nvSpPr>
          <p:cNvPr id="7" name="TextBox 6"/>
          <p:cNvSpPr txBox="1"/>
          <p:nvPr/>
        </p:nvSpPr>
        <p:spPr>
          <a:xfrm>
            <a:off x="10058400" y="320040"/>
            <a:ext cx="1828800" cy="365760"/>
          </a:xfrm>
          <a:prstGeom prst="rect">
            <a:avLst/>
          </a:prstGeom>
          <a:noFill/>
        </p:spPr>
        <p:txBody>
          <a:bodyPr wrap="square">
            <a:spAutoFit/>
          </a:bodyPr>
          <a:lstStyle/>
          <a:p>
            <a:pPr algn="r">
              <a:spcBef>
                <a:spcPts val="0"/>
              </a:spcBef>
              <a:spcAft>
                <a:spcPts val="0"/>
              </a:spcAft>
              <a:defRPr sz="1100" b="1">
                <a:solidFill>
                  <a:srgbClr val="FF6B00"/>
                </a:solidFill>
                <a:latin typeface="Segoe UI"/>
              </a:defRPr>
            </a:pPr>
            <a:r>
              <a:t>🍽️ FoodServe</a:t>
            </a:r>
          </a:p>
        </p:txBody>
      </p:sp>
      <p:sp>
        <p:nvSpPr>
          <p:cNvPr id="8" name="Rectangle 7"/>
          <p:cNvSpPr/>
          <p:nvPr/>
        </p:nvSpPr>
        <p:spPr>
          <a:xfrm>
            <a:off x="731520" y="1005840"/>
            <a:ext cx="10698480" cy="12700"/>
          </a:xfrm>
          <a:prstGeom prst="rect">
            <a:avLst/>
          </a:prstGeom>
          <a:solidFill>
            <a:srgbClr val="2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31520" y="1371600"/>
            <a:ext cx="10698480" cy="1097280"/>
          </a:xfrm>
          <a:prstGeom prst="roundRect">
            <a:avLst>
              <a:gd name="adj" fmla="val 4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1417320"/>
            <a:ext cx="457200" cy="457200"/>
          </a:xfrm>
          <a:prstGeom prst="rect">
            <a:avLst/>
          </a:prstGeom>
          <a:noFill/>
        </p:spPr>
        <p:txBody>
          <a:bodyPr wrap="square">
            <a:spAutoFit/>
          </a:bodyPr>
          <a:lstStyle/>
          <a:p>
            <a:pPr algn="l">
              <a:spcBef>
                <a:spcPts val="0"/>
              </a:spcBef>
              <a:spcAft>
                <a:spcPts val="0"/>
              </a:spcAft>
              <a:defRPr sz="2800" b="0">
                <a:solidFill>
                  <a:srgbClr val="E5E5EA"/>
                </a:solidFill>
                <a:latin typeface="Segoe UI"/>
              </a:defRPr>
            </a:pPr>
            <a:r>
              <a:t>🎯</a:t>
            </a:r>
          </a:p>
        </p:txBody>
      </p:sp>
      <p:sp>
        <p:nvSpPr>
          <p:cNvPr id="11" name="TextBox 10"/>
          <p:cNvSpPr txBox="1"/>
          <p:nvPr/>
        </p:nvSpPr>
        <p:spPr>
          <a:xfrm>
            <a:off x="1645920" y="1463040"/>
            <a:ext cx="9144000" cy="365760"/>
          </a:xfrm>
          <a:prstGeom prst="rect">
            <a:avLst/>
          </a:prstGeom>
          <a:noFill/>
        </p:spPr>
        <p:txBody>
          <a:bodyPr wrap="square">
            <a:spAutoFit/>
          </a:bodyPr>
          <a:lstStyle/>
          <a:p>
            <a:pPr algn="l">
              <a:spcBef>
                <a:spcPts val="0"/>
              </a:spcBef>
              <a:spcAft>
                <a:spcPts val="0"/>
              </a:spcAft>
              <a:defRPr sz="1600" b="1">
                <a:solidFill>
                  <a:srgbClr val="FF6B00"/>
                </a:solidFill>
                <a:latin typeface="Segoe UI"/>
              </a:defRPr>
            </a:pPr>
            <a:r>
              <a:t>Mục tiêu tổng quát</a:t>
            </a:r>
          </a:p>
        </p:txBody>
      </p:sp>
      <p:sp>
        <p:nvSpPr>
          <p:cNvPr id="12" name="TextBox 11"/>
          <p:cNvSpPr txBox="1"/>
          <p:nvPr/>
        </p:nvSpPr>
        <p:spPr>
          <a:xfrm>
            <a:off x="1645920" y="1828800"/>
            <a:ext cx="9144000" cy="457200"/>
          </a:xfrm>
          <a:prstGeom prst="rect">
            <a:avLst/>
          </a:prstGeom>
          <a:noFill/>
        </p:spPr>
        <p:txBody>
          <a:bodyPr wrap="square">
            <a:spAutoFit/>
          </a:bodyPr>
          <a:lstStyle/>
          <a:p>
            <a:pPr algn="l">
              <a:spcBef>
                <a:spcPts val="0"/>
              </a:spcBef>
              <a:spcAft>
                <a:spcPts val="0"/>
              </a:spcAft>
              <a:defRPr sz="1200" b="0">
                <a:solidFill>
                  <a:srgbClr val="E5E5EA"/>
                </a:solidFill>
                <a:latin typeface="Segoe UI"/>
              </a:defRPr>
            </a:pPr>
            <a:r>
              <a:t>Xây dựng nền tảng web đặt và giao đồ ăn trực tuyến FoodServe hoàn chỉnh, hiện đại, tích hợp đa tính năng phục vụ 4 nhóm người dùng: Khách hàng, Nhà hàng, Tài xế và Quản trị viên.</a:t>
            </a:r>
          </a:p>
        </p:txBody>
      </p:sp>
      <p:sp>
        <p:nvSpPr>
          <p:cNvPr id="13" name="Rounded Rectangle 12"/>
          <p:cNvSpPr/>
          <p:nvPr/>
        </p:nvSpPr>
        <p:spPr>
          <a:xfrm>
            <a:off x="731520" y="2834640"/>
            <a:ext cx="2560320" cy="256032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05840" y="3108960"/>
            <a:ext cx="502920" cy="502920"/>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05840" y="3090672"/>
            <a:ext cx="502920" cy="502920"/>
          </a:xfrm>
          <a:prstGeom prst="rect">
            <a:avLst/>
          </a:prstGeom>
          <a:noFill/>
        </p:spPr>
        <p:txBody>
          <a:bodyPr wrap="square">
            <a:spAutoFit/>
          </a:bodyPr>
          <a:lstStyle/>
          <a:p>
            <a:pPr algn="ctr">
              <a:spcBef>
                <a:spcPts val="0"/>
              </a:spcBef>
              <a:spcAft>
                <a:spcPts val="0"/>
              </a:spcAft>
              <a:defRPr sz="1800" b="1">
                <a:solidFill>
                  <a:srgbClr val="FFFFFF"/>
                </a:solidFill>
                <a:latin typeface="Segoe UI"/>
              </a:defRPr>
            </a:pPr>
            <a:r>
              <a:t>👤</a:t>
            </a:r>
          </a:p>
        </p:txBody>
      </p:sp>
      <p:sp>
        <p:nvSpPr>
          <p:cNvPr id="16" name="TextBox 15"/>
          <p:cNvSpPr txBox="1"/>
          <p:nvPr/>
        </p:nvSpPr>
        <p:spPr>
          <a:xfrm>
            <a:off x="1005840" y="3749040"/>
            <a:ext cx="2011680" cy="365760"/>
          </a:xfrm>
          <a:prstGeom prst="rect">
            <a:avLst/>
          </a:prstGeom>
          <a:noFill/>
        </p:spPr>
        <p:txBody>
          <a:bodyPr wrap="square">
            <a:spAutoFit/>
          </a:bodyPr>
          <a:lstStyle/>
          <a:p>
            <a:pPr algn="l">
              <a:spcBef>
                <a:spcPts val="0"/>
              </a:spcBef>
              <a:spcAft>
                <a:spcPts val="0"/>
              </a:spcAft>
              <a:defRPr sz="1300" b="1">
                <a:solidFill>
                  <a:srgbClr val="FFFFFF"/>
                </a:solidFill>
                <a:latin typeface="Segoe UI"/>
              </a:defRPr>
            </a:pPr>
            <a:r>
              <a:t>Khách hàng</a:t>
            </a:r>
          </a:p>
        </p:txBody>
      </p:sp>
      <p:sp>
        <p:nvSpPr>
          <p:cNvPr id="17" name="TextBox 16"/>
          <p:cNvSpPr txBox="1"/>
          <p:nvPr/>
        </p:nvSpPr>
        <p:spPr>
          <a:xfrm>
            <a:off x="1005840" y="4069080"/>
            <a:ext cx="2011680" cy="118872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Đặt món, thanh toán online,</a:t>
            </a:r>
            <a:br/>
            <a:r>
              <a:t>theo dõi realtime, đánh giá,</a:t>
            </a:r>
            <a:br/>
            <a:r>
              <a:t>voucher &amp; tích điểm</a:t>
            </a:r>
          </a:p>
        </p:txBody>
      </p:sp>
      <p:sp>
        <p:nvSpPr>
          <p:cNvPr id="18" name="Rounded Rectangle 17"/>
          <p:cNvSpPr/>
          <p:nvPr/>
        </p:nvSpPr>
        <p:spPr>
          <a:xfrm>
            <a:off x="3520440" y="2834640"/>
            <a:ext cx="2560320" cy="256032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3794760" y="3108960"/>
            <a:ext cx="502920" cy="50292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794760" y="3090672"/>
            <a:ext cx="502920" cy="502920"/>
          </a:xfrm>
          <a:prstGeom prst="rect">
            <a:avLst/>
          </a:prstGeom>
          <a:noFill/>
        </p:spPr>
        <p:txBody>
          <a:bodyPr wrap="square">
            <a:spAutoFit/>
          </a:bodyPr>
          <a:lstStyle/>
          <a:p>
            <a:pPr algn="ctr">
              <a:spcBef>
                <a:spcPts val="0"/>
              </a:spcBef>
              <a:spcAft>
                <a:spcPts val="0"/>
              </a:spcAft>
              <a:defRPr sz="1800" b="1">
                <a:solidFill>
                  <a:srgbClr val="FFFFFF"/>
                </a:solidFill>
                <a:latin typeface="Segoe UI"/>
              </a:defRPr>
            </a:pPr>
            <a:r>
              <a:t>🍳</a:t>
            </a:r>
          </a:p>
        </p:txBody>
      </p:sp>
      <p:sp>
        <p:nvSpPr>
          <p:cNvPr id="21" name="TextBox 20"/>
          <p:cNvSpPr txBox="1"/>
          <p:nvPr/>
        </p:nvSpPr>
        <p:spPr>
          <a:xfrm>
            <a:off x="3794760" y="3749040"/>
            <a:ext cx="2011680" cy="365760"/>
          </a:xfrm>
          <a:prstGeom prst="rect">
            <a:avLst/>
          </a:prstGeom>
          <a:noFill/>
        </p:spPr>
        <p:txBody>
          <a:bodyPr wrap="square">
            <a:spAutoFit/>
          </a:bodyPr>
          <a:lstStyle/>
          <a:p>
            <a:pPr algn="l">
              <a:spcBef>
                <a:spcPts val="0"/>
              </a:spcBef>
              <a:spcAft>
                <a:spcPts val="0"/>
              </a:spcAft>
              <a:defRPr sz="1300" b="1">
                <a:solidFill>
                  <a:srgbClr val="FFFFFF"/>
                </a:solidFill>
                <a:latin typeface="Segoe UI"/>
              </a:defRPr>
            </a:pPr>
            <a:r>
              <a:t>Nhà hàng</a:t>
            </a:r>
          </a:p>
        </p:txBody>
      </p:sp>
      <p:sp>
        <p:nvSpPr>
          <p:cNvPr id="22" name="TextBox 21"/>
          <p:cNvSpPr txBox="1"/>
          <p:nvPr/>
        </p:nvSpPr>
        <p:spPr>
          <a:xfrm>
            <a:off x="3794760" y="4069080"/>
            <a:ext cx="2011680" cy="118872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Quản lý menu, đơn hàng,</a:t>
            </a:r>
            <a:br/>
            <a:r>
              <a:t>doanh thu, phản hồi đánh giá,</a:t>
            </a:r>
            <a:br/>
            <a:r>
              <a:t>phí duy trì &amp; thống kê</a:t>
            </a:r>
          </a:p>
        </p:txBody>
      </p:sp>
      <p:sp>
        <p:nvSpPr>
          <p:cNvPr id="23" name="Rounded Rectangle 22"/>
          <p:cNvSpPr/>
          <p:nvPr/>
        </p:nvSpPr>
        <p:spPr>
          <a:xfrm>
            <a:off x="6309360" y="2834640"/>
            <a:ext cx="2560320" cy="256032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6583680" y="3108960"/>
            <a:ext cx="502920" cy="502920"/>
          </a:xfrm>
          <a:prstGeom prst="ellipse">
            <a:avLst/>
          </a:prstGeom>
          <a:solidFill>
            <a:srgbClr val="388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583680" y="3090672"/>
            <a:ext cx="502920" cy="502920"/>
          </a:xfrm>
          <a:prstGeom prst="rect">
            <a:avLst/>
          </a:prstGeom>
          <a:noFill/>
        </p:spPr>
        <p:txBody>
          <a:bodyPr wrap="square">
            <a:spAutoFit/>
          </a:bodyPr>
          <a:lstStyle/>
          <a:p>
            <a:pPr algn="ctr">
              <a:spcBef>
                <a:spcPts val="0"/>
              </a:spcBef>
              <a:spcAft>
                <a:spcPts val="0"/>
              </a:spcAft>
              <a:defRPr sz="1800" b="1">
                <a:solidFill>
                  <a:srgbClr val="FFFFFF"/>
                </a:solidFill>
                <a:latin typeface="Segoe UI"/>
              </a:defRPr>
            </a:pPr>
            <a:r>
              <a:t>🛵</a:t>
            </a:r>
          </a:p>
        </p:txBody>
      </p:sp>
      <p:sp>
        <p:nvSpPr>
          <p:cNvPr id="26" name="TextBox 25"/>
          <p:cNvSpPr txBox="1"/>
          <p:nvPr/>
        </p:nvSpPr>
        <p:spPr>
          <a:xfrm>
            <a:off x="6583680" y="3749040"/>
            <a:ext cx="2011680" cy="365760"/>
          </a:xfrm>
          <a:prstGeom prst="rect">
            <a:avLst/>
          </a:prstGeom>
          <a:noFill/>
        </p:spPr>
        <p:txBody>
          <a:bodyPr wrap="square">
            <a:spAutoFit/>
          </a:bodyPr>
          <a:lstStyle/>
          <a:p>
            <a:pPr algn="l">
              <a:spcBef>
                <a:spcPts val="0"/>
              </a:spcBef>
              <a:spcAft>
                <a:spcPts val="0"/>
              </a:spcAft>
              <a:defRPr sz="1300" b="1">
                <a:solidFill>
                  <a:srgbClr val="FFFFFF"/>
                </a:solidFill>
                <a:latin typeface="Segoe UI"/>
              </a:defRPr>
            </a:pPr>
            <a:r>
              <a:t>Tài xế</a:t>
            </a:r>
          </a:p>
        </p:txBody>
      </p:sp>
      <p:sp>
        <p:nvSpPr>
          <p:cNvPr id="27" name="TextBox 26"/>
          <p:cNvSpPr txBox="1"/>
          <p:nvPr/>
        </p:nvSpPr>
        <p:spPr>
          <a:xfrm>
            <a:off x="6583680" y="4069080"/>
            <a:ext cx="2011680" cy="118872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Nhận đơn, tracking GPS,</a:t>
            </a:r>
            <a:br/>
            <a:r>
              <a:t>điều hướng Leaflet Map,</a:t>
            </a:r>
            <a:br/>
            <a:r>
              <a:t>thống kê thu nhập</a:t>
            </a:r>
          </a:p>
        </p:txBody>
      </p:sp>
      <p:sp>
        <p:nvSpPr>
          <p:cNvPr id="28" name="Rounded Rectangle 27"/>
          <p:cNvSpPr/>
          <p:nvPr/>
        </p:nvSpPr>
        <p:spPr>
          <a:xfrm>
            <a:off x="9098280" y="2834640"/>
            <a:ext cx="2560320" cy="256032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9372600" y="3108960"/>
            <a:ext cx="502920" cy="502920"/>
          </a:xfrm>
          <a:prstGeom prst="ellipse">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372600" y="3090672"/>
            <a:ext cx="502920" cy="502920"/>
          </a:xfrm>
          <a:prstGeom prst="rect">
            <a:avLst/>
          </a:prstGeom>
          <a:noFill/>
        </p:spPr>
        <p:txBody>
          <a:bodyPr wrap="square">
            <a:spAutoFit/>
          </a:bodyPr>
          <a:lstStyle/>
          <a:p>
            <a:pPr algn="ctr">
              <a:spcBef>
                <a:spcPts val="0"/>
              </a:spcBef>
              <a:spcAft>
                <a:spcPts val="0"/>
              </a:spcAft>
              <a:defRPr sz="1800" b="1">
                <a:solidFill>
                  <a:srgbClr val="FFFFFF"/>
                </a:solidFill>
                <a:latin typeface="Segoe UI"/>
              </a:defRPr>
            </a:pPr>
            <a:r>
              <a:t>👑</a:t>
            </a:r>
          </a:p>
        </p:txBody>
      </p:sp>
      <p:sp>
        <p:nvSpPr>
          <p:cNvPr id="31" name="TextBox 30"/>
          <p:cNvSpPr txBox="1"/>
          <p:nvPr/>
        </p:nvSpPr>
        <p:spPr>
          <a:xfrm>
            <a:off x="9372600" y="3749040"/>
            <a:ext cx="2011680" cy="365760"/>
          </a:xfrm>
          <a:prstGeom prst="rect">
            <a:avLst/>
          </a:prstGeom>
          <a:noFill/>
        </p:spPr>
        <p:txBody>
          <a:bodyPr wrap="square">
            <a:spAutoFit/>
          </a:bodyPr>
          <a:lstStyle/>
          <a:p>
            <a:pPr algn="l">
              <a:spcBef>
                <a:spcPts val="0"/>
              </a:spcBef>
              <a:spcAft>
                <a:spcPts val="0"/>
              </a:spcAft>
              <a:defRPr sz="1300" b="1">
                <a:solidFill>
                  <a:srgbClr val="FFFFFF"/>
                </a:solidFill>
                <a:latin typeface="Segoe UI"/>
              </a:defRPr>
            </a:pPr>
            <a:r>
              <a:t>Quản trị</a:t>
            </a:r>
          </a:p>
        </p:txBody>
      </p:sp>
      <p:sp>
        <p:nvSpPr>
          <p:cNvPr id="32" name="TextBox 31"/>
          <p:cNvSpPr txBox="1"/>
          <p:nvPr/>
        </p:nvSpPr>
        <p:spPr>
          <a:xfrm>
            <a:off x="9372600" y="4069080"/>
            <a:ext cx="2011680" cy="118872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Dashboard tổng quan,</a:t>
            </a:r>
            <a:br/>
            <a:r>
              <a:t>quản lý user/đơn hàng,</a:t>
            </a:r>
            <a:br/>
            <a:r>
              <a:t>voucher, doanh thu, cài đặt</a:t>
            </a:r>
          </a:p>
        </p:txBody>
      </p:sp>
      <p:sp>
        <p:nvSpPr>
          <p:cNvPr id="33" name="Rounded Rectangle 32"/>
          <p:cNvSpPr/>
          <p:nvPr/>
        </p:nvSpPr>
        <p:spPr>
          <a:xfrm>
            <a:off x="731520" y="5623560"/>
            <a:ext cx="10698480" cy="868680"/>
          </a:xfrm>
          <a:prstGeom prst="roundRect">
            <a:avLst>
              <a:gd name="adj" fmla="val 4000"/>
            </a:avLst>
          </a:prstGeom>
          <a:solidFill>
            <a:srgbClr val="222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097280" y="5715000"/>
            <a:ext cx="10058400" cy="640080"/>
          </a:xfrm>
          <a:prstGeom prst="rect">
            <a:avLst/>
          </a:prstGeom>
          <a:noFill/>
        </p:spPr>
        <p:txBody>
          <a:bodyPr wrap="square">
            <a:spAutoFit/>
          </a:bodyPr>
          <a:lstStyle/>
          <a:p>
            <a:pPr algn="l">
              <a:spcBef>
                <a:spcPts val="0"/>
              </a:spcBef>
              <a:spcAft>
                <a:spcPts val="0"/>
              </a:spcAft>
              <a:defRPr sz="1100" b="0">
                <a:solidFill>
                  <a:srgbClr val="9C9CA8"/>
                </a:solidFill>
                <a:latin typeface="Segoe UI"/>
              </a:defRPr>
            </a:pPr>
            <a:r>
              <a:t>✨ Tính năng nổi bật: AI Chatbot hỗ trợ  •  Đặt nhóm Split Bill  •  Gamification (Vòng quay, Scratch Card)  •  Đăng ký gói ăn  •  Thanh toán VNPay/MoMo/ZaloPay  •  Chế độ ăn lành mạnh</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0F14"/>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731520" cy="457200"/>
          </a:xfrm>
          <a:prstGeom prst="rect">
            <a:avLst/>
          </a:prstGeom>
          <a:noFill/>
        </p:spPr>
        <p:txBody>
          <a:bodyPr wrap="square">
            <a:spAutoFit/>
          </a:bodyPr>
          <a:lstStyle/>
          <a:p>
            <a:pPr algn="l">
              <a:spcBef>
                <a:spcPts val="0"/>
              </a:spcBef>
              <a:spcAft>
                <a:spcPts val="0"/>
              </a:spcAft>
              <a:defRPr sz="1400" b="1">
                <a:solidFill>
                  <a:srgbClr val="FF6B00"/>
                </a:solidFill>
                <a:latin typeface="Segoe UI Black"/>
              </a:defRPr>
            </a:pPr>
            <a:r>
              <a:t>01</a:t>
            </a:r>
          </a:p>
        </p:txBody>
      </p:sp>
      <p:sp>
        <p:nvSpPr>
          <p:cNvPr id="4" name="TextBox 3"/>
          <p:cNvSpPr txBox="1"/>
          <p:nvPr/>
        </p:nvSpPr>
        <p:spPr>
          <a:xfrm>
            <a:off x="1234440" y="320040"/>
            <a:ext cx="274320" cy="457200"/>
          </a:xfrm>
          <a:prstGeom prst="rect">
            <a:avLst/>
          </a:prstGeom>
          <a:noFill/>
        </p:spPr>
        <p:txBody>
          <a:bodyPr wrap="square">
            <a:spAutoFit/>
          </a:bodyPr>
          <a:lstStyle/>
          <a:p>
            <a:pPr algn="l">
              <a:spcBef>
                <a:spcPts val="0"/>
              </a:spcBef>
              <a:spcAft>
                <a:spcPts val="0"/>
              </a:spcAft>
              <a:defRPr sz="1400" b="1">
                <a:solidFill>
                  <a:srgbClr val="9C9CA8"/>
                </a:solidFill>
                <a:latin typeface="Segoe UI"/>
              </a:defRPr>
            </a:pPr>
            <a:r>
              <a:t>—</a:t>
            </a:r>
          </a:p>
        </p:txBody>
      </p:sp>
      <p:sp>
        <p:nvSpPr>
          <p:cNvPr id="5" name="TextBox 4"/>
          <p:cNvSpPr txBox="1"/>
          <p:nvPr/>
        </p:nvSpPr>
        <p:spPr>
          <a:xfrm>
            <a:off x="1508760" y="274320"/>
            <a:ext cx="7315200" cy="502920"/>
          </a:xfrm>
          <a:prstGeom prst="rect">
            <a:avLst/>
          </a:prstGeom>
          <a:noFill/>
        </p:spPr>
        <p:txBody>
          <a:bodyPr wrap="square">
            <a:spAutoFit/>
          </a:bodyPr>
          <a:lstStyle/>
          <a:p>
            <a:pPr algn="l">
              <a:spcBef>
                <a:spcPts val="0"/>
              </a:spcBef>
              <a:spcAft>
                <a:spcPts val="0"/>
              </a:spcAft>
              <a:defRPr sz="1500" b="1">
                <a:solidFill>
                  <a:srgbClr val="FFFFFF"/>
                </a:solidFill>
                <a:latin typeface="Segoe UI Semibold"/>
              </a:defRPr>
            </a:pPr>
            <a:r>
              <a:t>ĐỐI TƯỢNG &amp; PHẠM VI NGHIÊN CỨU</a:t>
            </a:r>
          </a:p>
        </p:txBody>
      </p:sp>
      <p:sp>
        <p:nvSpPr>
          <p:cNvPr id="6" name="TextBox 5"/>
          <p:cNvSpPr txBox="1"/>
          <p:nvPr/>
        </p:nvSpPr>
        <p:spPr>
          <a:xfrm>
            <a:off x="1508760" y="640080"/>
            <a:ext cx="7315200" cy="36576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Tổng quan về đề tài</a:t>
            </a:r>
          </a:p>
        </p:txBody>
      </p:sp>
      <p:sp>
        <p:nvSpPr>
          <p:cNvPr id="7" name="TextBox 6"/>
          <p:cNvSpPr txBox="1"/>
          <p:nvPr/>
        </p:nvSpPr>
        <p:spPr>
          <a:xfrm>
            <a:off x="10058400" y="320040"/>
            <a:ext cx="1828800" cy="365760"/>
          </a:xfrm>
          <a:prstGeom prst="rect">
            <a:avLst/>
          </a:prstGeom>
          <a:noFill/>
        </p:spPr>
        <p:txBody>
          <a:bodyPr wrap="square">
            <a:spAutoFit/>
          </a:bodyPr>
          <a:lstStyle/>
          <a:p>
            <a:pPr algn="r">
              <a:spcBef>
                <a:spcPts val="0"/>
              </a:spcBef>
              <a:spcAft>
                <a:spcPts val="0"/>
              </a:spcAft>
              <a:defRPr sz="1100" b="1">
                <a:solidFill>
                  <a:srgbClr val="FF6B00"/>
                </a:solidFill>
                <a:latin typeface="Segoe UI"/>
              </a:defRPr>
            </a:pPr>
            <a:r>
              <a:t>🍽️ FoodServe</a:t>
            </a:r>
          </a:p>
        </p:txBody>
      </p:sp>
      <p:sp>
        <p:nvSpPr>
          <p:cNvPr id="8" name="Rectangle 7"/>
          <p:cNvSpPr/>
          <p:nvPr/>
        </p:nvSpPr>
        <p:spPr>
          <a:xfrm>
            <a:off x="731520" y="1005840"/>
            <a:ext cx="10698480" cy="12700"/>
          </a:xfrm>
          <a:prstGeom prst="rect">
            <a:avLst/>
          </a:prstGeom>
          <a:solidFill>
            <a:srgbClr val="2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31520" y="1371600"/>
            <a:ext cx="5029200" cy="4846320"/>
          </a:xfrm>
          <a:prstGeom prst="roundRect">
            <a:avLst>
              <a:gd name="adj" fmla="val 4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1508760"/>
            <a:ext cx="4114800" cy="365760"/>
          </a:xfrm>
          <a:prstGeom prst="rect">
            <a:avLst/>
          </a:prstGeom>
          <a:noFill/>
        </p:spPr>
        <p:txBody>
          <a:bodyPr wrap="square">
            <a:spAutoFit/>
          </a:bodyPr>
          <a:lstStyle/>
          <a:p>
            <a:pPr algn="l">
              <a:spcBef>
                <a:spcPts val="0"/>
              </a:spcBef>
              <a:spcAft>
                <a:spcPts val="0"/>
              </a:spcAft>
              <a:defRPr sz="1400" b="1">
                <a:solidFill>
                  <a:srgbClr val="FF6B00"/>
                </a:solidFill>
                <a:latin typeface="Segoe UI"/>
              </a:defRPr>
            </a:pPr>
            <a:r>
              <a:t>🔍  ĐỐI TƯỢNG NGHIÊN CỨU</a:t>
            </a:r>
          </a:p>
        </p:txBody>
      </p:sp>
      <p:sp>
        <p:nvSpPr>
          <p:cNvPr id="11" name="Rectangle 10"/>
          <p:cNvSpPr/>
          <p:nvPr/>
        </p:nvSpPr>
        <p:spPr>
          <a:xfrm>
            <a:off x="1097280" y="1965960"/>
            <a:ext cx="1371600" cy="381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97280" y="2194560"/>
            <a:ext cx="4389120" cy="3657600"/>
          </a:xfrm>
          <a:prstGeom prst="rect">
            <a:avLst/>
          </a:prstGeom>
          <a:noFill/>
        </p:spPr>
        <p:txBody>
          <a:bodyPr wrap="square">
            <a:spAutoFit/>
          </a:bodyPr>
          <a:lstStyle/>
          <a:p>
            <a:pPr algn="l">
              <a:spcAft>
                <a:spcPts val="400"/>
              </a:spcAft>
              <a:defRPr sz="1100" b="0">
                <a:solidFill>
                  <a:srgbClr val="E5E5EA"/>
                </a:solidFill>
                <a:latin typeface="Segoe UI"/>
              </a:defRPr>
            </a:pPr>
            <a:r>
              <a:t>•  Hệ thống đặt và giao đồ ăn trực tuyến</a:t>
            </a:r>
          </a:p>
          <a:p>
            <a:pPr algn="l">
              <a:spcAft>
                <a:spcPts val="400"/>
              </a:spcAft>
              <a:defRPr sz="1100" b="0">
                <a:solidFill>
                  <a:srgbClr val="E5E5EA"/>
                </a:solidFill>
                <a:latin typeface="Segoe UI"/>
              </a:defRPr>
            </a:pPr>
            <a:r>
              <a:t>•  Quy trình quản lý đơn hàng từ đặt đến giao</a:t>
            </a:r>
          </a:p>
          <a:p>
            <a:pPr algn="l">
              <a:spcAft>
                <a:spcPts val="400"/>
              </a:spcAft>
              <a:defRPr sz="1100" b="0">
                <a:solidFill>
                  <a:srgbClr val="E5E5EA"/>
                </a:solidFill>
                <a:latin typeface="Segoe UI"/>
              </a:defRPr>
            </a:pPr>
            <a:r>
              <a:t>•  Các mô hình thanh toán trực tuyến (VNPay, MoMo, ZaloPay, PayOS)</a:t>
            </a:r>
          </a:p>
          <a:p>
            <a:pPr algn="l">
              <a:spcAft>
                <a:spcPts val="400"/>
              </a:spcAft>
              <a:defRPr sz="1100" b="0">
                <a:solidFill>
                  <a:srgbClr val="E5E5EA"/>
                </a:solidFill>
                <a:latin typeface="Segoe UI"/>
              </a:defRPr>
            </a:pPr>
            <a:r>
              <a:t>•  Công nghệ web hiện đại: React.js, Node.js, MongoDB</a:t>
            </a:r>
          </a:p>
          <a:p>
            <a:pPr algn="l">
              <a:spcAft>
                <a:spcPts val="400"/>
              </a:spcAft>
              <a:defRPr sz="1100" b="0">
                <a:solidFill>
                  <a:srgbClr val="E5E5EA"/>
                </a:solidFill>
                <a:latin typeface="Segoe UI"/>
              </a:defRPr>
            </a:pPr>
            <a:r>
              <a:t>•  Giao tiếp thời gian thực với Socket.IO</a:t>
            </a:r>
          </a:p>
          <a:p>
            <a:pPr algn="l">
              <a:spcAft>
                <a:spcPts val="400"/>
              </a:spcAft>
              <a:defRPr sz="1100" b="0">
                <a:solidFill>
                  <a:srgbClr val="E5E5EA"/>
                </a:solidFill>
                <a:latin typeface="Segoe UI"/>
              </a:defRPr>
            </a:pPr>
            <a:r>
              <a:t>•  Trải nghiệm người dùng (UX/UI) trên ứng dụng web</a:t>
            </a:r>
          </a:p>
          <a:p>
            <a:pPr algn="l">
              <a:spcAft>
                <a:spcPts val="400"/>
              </a:spcAft>
              <a:defRPr sz="1100" b="0">
                <a:solidFill>
                  <a:srgbClr val="E5E5EA"/>
                </a:solidFill>
                <a:latin typeface="Segoe UI"/>
              </a:defRPr>
            </a:pPr>
            <a:r>
              <a:t>•  Tích hợp AI Chatbot hỗ trợ khách hàng (Gemini API)</a:t>
            </a:r>
          </a:p>
          <a:p>
            <a:pPr algn="l">
              <a:spcAft>
                <a:spcPts val="400"/>
              </a:spcAft>
              <a:defRPr sz="1100" b="0">
                <a:solidFill>
                  <a:srgbClr val="E5E5EA"/>
                </a:solidFill>
                <a:latin typeface="Segoe UI"/>
              </a:defRPr>
            </a:pPr>
            <a:r>
              <a:t>•  Gamification trong ứng dụng thương mại điện tử</a:t>
            </a:r>
          </a:p>
        </p:txBody>
      </p:sp>
      <p:sp>
        <p:nvSpPr>
          <p:cNvPr id="13" name="Rounded Rectangle 12"/>
          <p:cNvSpPr/>
          <p:nvPr/>
        </p:nvSpPr>
        <p:spPr>
          <a:xfrm>
            <a:off x="6217920" y="1371600"/>
            <a:ext cx="5212080" cy="4846320"/>
          </a:xfrm>
          <a:prstGeom prst="roundRect">
            <a:avLst>
              <a:gd name="adj" fmla="val 4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83680" y="1508760"/>
            <a:ext cx="4114800" cy="365760"/>
          </a:xfrm>
          <a:prstGeom prst="rect">
            <a:avLst/>
          </a:prstGeom>
          <a:noFill/>
        </p:spPr>
        <p:txBody>
          <a:bodyPr wrap="square">
            <a:spAutoFit/>
          </a:bodyPr>
          <a:lstStyle/>
          <a:p>
            <a:pPr algn="l">
              <a:spcBef>
                <a:spcPts val="0"/>
              </a:spcBef>
              <a:spcAft>
                <a:spcPts val="0"/>
              </a:spcAft>
              <a:defRPr sz="1400" b="1">
                <a:solidFill>
                  <a:srgbClr val="388BFC"/>
                </a:solidFill>
                <a:latin typeface="Segoe UI"/>
              </a:defRPr>
            </a:pPr>
            <a:r>
              <a:t>📐  PHẠM VI NGHIÊN CỨU</a:t>
            </a:r>
          </a:p>
        </p:txBody>
      </p:sp>
      <p:sp>
        <p:nvSpPr>
          <p:cNvPr id="15" name="Rectangle 14"/>
          <p:cNvSpPr/>
          <p:nvPr/>
        </p:nvSpPr>
        <p:spPr>
          <a:xfrm>
            <a:off x="6583680" y="1965960"/>
            <a:ext cx="1371600" cy="38100"/>
          </a:xfrm>
          <a:prstGeom prst="rect">
            <a:avLst/>
          </a:prstGeom>
          <a:solidFill>
            <a:srgbClr val="388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0" y="2194560"/>
            <a:ext cx="4389120" cy="3657600"/>
          </a:xfrm>
          <a:prstGeom prst="rect">
            <a:avLst/>
          </a:prstGeom>
          <a:noFill/>
        </p:spPr>
        <p:txBody>
          <a:bodyPr wrap="square">
            <a:spAutoFit/>
          </a:bodyPr>
          <a:lstStyle/>
          <a:p>
            <a:pPr algn="l">
              <a:spcAft>
                <a:spcPts val="400"/>
              </a:spcAft>
              <a:defRPr sz="1100" b="0">
                <a:solidFill>
                  <a:srgbClr val="E5E5EA"/>
                </a:solidFill>
                <a:latin typeface="Segoe UI"/>
              </a:defRPr>
            </a:pPr>
            <a:r>
              <a:t>•  Nền tảng: Ứng dụng web (Web Application)</a:t>
            </a:r>
          </a:p>
          <a:p>
            <a:pPr algn="l">
              <a:spcAft>
                <a:spcPts val="400"/>
              </a:spcAft>
              <a:defRPr sz="1100" b="0">
                <a:solidFill>
                  <a:srgbClr val="E5E5EA"/>
                </a:solidFill>
                <a:latin typeface="Segoe UI"/>
              </a:defRPr>
            </a:pPr>
            <a:r>
              <a:t>•  Kiến trúc: Client-Server (SPA + REST API)</a:t>
            </a:r>
          </a:p>
          <a:p>
            <a:pPr algn="l">
              <a:spcAft>
                <a:spcPts val="400"/>
              </a:spcAft>
              <a:defRPr sz="1100" b="0">
                <a:solidFill>
                  <a:srgbClr val="E5E5EA"/>
                </a:solidFill>
                <a:latin typeface="Segoe UI"/>
              </a:defRPr>
            </a:pPr>
            <a:r>
              <a:t>•  Frontend: React.js 18 + Redux Toolkit + Vite</a:t>
            </a:r>
          </a:p>
          <a:p>
            <a:pPr algn="l">
              <a:spcAft>
                <a:spcPts val="400"/>
              </a:spcAft>
              <a:defRPr sz="1100" b="0">
                <a:solidFill>
                  <a:srgbClr val="E5E5EA"/>
                </a:solidFill>
                <a:latin typeface="Segoe UI"/>
              </a:defRPr>
            </a:pPr>
            <a:r>
              <a:t>•  Backend: Node.js + Express.js</a:t>
            </a:r>
          </a:p>
          <a:p>
            <a:pPr algn="l">
              <a:spcAft>
                <a:spcPts val="400"/>
              </a:spcAft>
              <a:defRPr sz="1100" b="0">
                <a:solidFill>
                  <a:srgbClr val="E5E5EA"/>
                </a:solidFill>
                <a:latin typeface="Segoe UI"/>
              </a:defRPr>
            </a:pPr>
            <a:r>
              <a:t>•  Database: MongoDB Atlas (NoSQL)</a:t>
            </a:r>
          </a:p>
          <a:p>
            <a:pPr algn="l">
              <a:spcAft>
                <a:spcPts val="400"/>
              </a:spcAft>
              <a:defRPr sz="1100" b="0">
                <a:solidFill>
                  <a:srgbClr val="E5E5EA"/>
                </a:solidFill>
                <a:latin typeface="Segoe UI"/>
              </a:defRPr>
            </a:pPr>
            <a:r>
              <a:t>•  Realtime: Socket.IO (WebSocket)</a:t>
            </a:r>
          </a:p>
          <a:p>
            <a:pPr algn="l">
              <a:spcAft>
                <a:spcPts val="400"/>
              </a:spcAft>
              <a:defRPr sz="1100" b="0">
                <a:solidFill>
                  <a:srgbClr val="E5E5EA"/>
                </a:solidFill>
                <a:latin typeface="Segoe UI"/>
              </a:defRPr>
            </a:pPr>
            <a:r>
              <a:t>•  Thanh toán: VNPay, MoMo, ZaloPay, PayOS, Xu</a:t>
            </a:r>
          </a:p>
          <a:p>
            <a:pPr algn="l">
              <a:spcAft>
                <a:spcPts val="400"/>
              </a:spcAft>
              <a:defRPr sz="1100" b="0">
                <a:solidFill>
                  <a:srgbClr val="E5E5EA"/>
                </a:solidFill>
                <a:latin typeface="Segoe UI"/>
              </a:defRPr>
            </a:pPr>
            <a:r>
              <a:t>•  Bản đồ: Leaflet + OpenStreetMap</a:t>
            </a:r>
          </a:p>
          <a:p>
            <a:pPr algn="l">
              <a:spcAft>
                <a:spcPts val="400"/>
              </a:spcAft>
              <a:defRPr sz="1100" b="0">
                <a:solidFill>
                  <a:srgbClr val="E5E5EA"/>
                </a:solidFill>
                <a:latin typeface="Segoe UI"/>
              </a:defRPr>
            </a:pPr>
            <a:r>
              <a:t>•  Deploy: Vercel (FE) + Render (BE)</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0F14"/>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731520" cy="457200"/>
          </a:xfrm>
          <a:prstGeom prst="rect">
            <a:avLst/>
          </a:prstGeom>
          <a:noFill/>
        </p:spPr>
        <p:txBody>
          <a:bodyPr wrap="square">
            <a:spAutoFit/>
          </a:bodyPr>
          <a:lstStyle/>
          <a:p>
            <a:pPr algn="l">
              <a:spcBef>
                <a:spcPts val="0"/>
              </a:spcBef>
              <a:spcAft>
                <a:spcPts val="0"/>
              </a:spcAft>
              <a:defRPr sz="1400" b="1">
                <a:solidFill>
                  <a:srgbClr val="FF6B00"/>
                </a:solidFill>
                <a:latin typeface="Segoe UI Black"/>
              </a:defRPr>
            </a:pPr>
            <a:r>
              <a:t>01</a:t>
            </a:r>
          </a:p>
        </p:txBody>
      </p:sp>
      <p:sp>
        <p:nvSpPr>
          <p:cNvPr id="4" name="TextBox 3"/>
          <p:cNvSpPr txBox="1"/>
          <p:nvPr/>
        </p:nvSpPr>
        <p:spPr>
          <a:xfrm>
            <a:off x="1234440" y="320040"/>
            <a:ext cx="274320" cy="457200"/>
          </a:xfrm>
          <a:prstGeom prst="rect">
            <a:avLst/>
          </a:prstGeom>
          <a:noFill/>
        </p:spPr>
        <p:txBody>
          <a:bodyPr wrap="square">
            <a:spAutoFit/>
          </a:bodyPr>
          <a:lstStyle/>
          <a:p>
            <a:pPr algn="l">
              <a:spcBef>
                <a:spcPts val="0"/>
              </a:spcBef>
              <a:spcAft>
                <a:spcPts val="0"/>
              </a:spcAft>
              <a:defRPr sz="1400" b="1">
                <a:solidFill>
                  <a:srgbClr val="9C9CA8"/>
                </a:solidFill>
                <a:latin typeface="Segoe UI"/>
              </a:defRPr>
            </a:pPr>
            <a:r>
              <a:t>—</a:t>
            </a:r>
          </a:p>
        </p:txBody>
      </p:sp>
      <p:sp>
        <p:nvSpPr>
          <p:cNvPr id="5" name="TextBox 4"/>
          <p:cNvSpPr txBox="1"/>
          <p:nvPr/>
        </p:nvSpPr>
        <p:spPr>
          <a:xfrm>
            <a:off x="1508760" y="274320"/>
            <a:ext cx="7315200" cy="502920"/>
          </a:xfrm>
          <a:prstGeom prst="rect">
            <a:avLst/>
          </a:prstGeom>
          <a:noFill/>
        </p:spPr>
        <p:txBody>
          <a:bodyPr wrap="square">
            <a:spAutoFit/>
          </a:bodyPr>
          <a:lstStyle/>
          <a:p>
            <a:pPr algn="l">
              <a:spcBef>
                <a:spcPts val="0"/>
              </a:spcBef>
              <a:spcAft>
                <a:spcPts val="0"/>
              </a:spcAft>
              <a:defRPr sz="1500" b="1">
                <a:solidFill>
                  <a:srgbClr val="FFFFFF"/>
                </a:solidFill>
                <a:latin typeface="Segoe UI Semibold"/>
              </a:defRPr>
            </a:pPr>
            <a:r>
              <a:t>PHƯƠNG PHÁP NGHIÊN CỨU</a:t>
            </a:r>
          </a:p>
        </p:txBody>
      </p:sp>
      <p:sp>
        <p:nvSpPr>
          <p:cNvPr id="6" name="TextBox 5"/>
          <p:cNvSpPr txBox="1"/>
          <p:nvPr/>
        </p:nvSpPr>
        <p:spPr>
          <a:xfrm>
            <a:off x="1508760" y="640080"/>
            <a:ext cx="7315200" cy="36576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Tổng quan về đề tài</a:t>
            </a:r>
          </a:p>
        </p:txBody>
      </p:sp>
      <p:sp>
        <p:nvSpPr>
          <p:cNvPr id="7" name="TextBox 6"/>
          <p:cNvSpPr txBox="1"/>
          <p:nvPr/>
        </p:nvSpPr>
        <p:spPr>
          <a:xfrm>
            <a:off x="10058400" y="320040"/>
            <a:ext cx="1828800" cy="365760"/>
          </a:xfrm>
          <a:prstGeom prst="rect">
            <a:avLst/>
          </a:prstGeom>
          <a:noFill/>
        </p:spPr>
        <p:txBody>
          <a:bodyPr wrap="square">
            <a:spAutoFit/>
          </a:bodyPr>
          <a:lstStyle/>
          <a:p>
            <a:pPr algn="r">
              <a:spcBef>
                <a:spcPts val="0"/>
              </a:spcBef>
              <a:spcAft>
                <a:spcPts val="0"/>
              </a:spcAft>
              <a:defRPr sz="1100" b="1">
                <a:solidFill>
                  <a:srgbClr val="FF6B00"/>
                </a:solidFill>
                <a:latin typeface="Segoe UI"/>
              </a:defRPr>
            </a:pPr>
            <a:r>
              <a:t>🍽️ FoodServe</a:t>
            </a:r>
          </a:p>
        </p:txBody>
      </p:sp>
      <p:sp>
        <p:nvSpPr>
          <p:cNvPr id="8" name="Rectangle 7"/>
          <p:cNvSpPr/>
          <p:nvPr/>
        </p:nvSpPr>
        <p:spPr>
          <a:xfrm>
            <a:off x="731520" y="1005840"/>
            <a:ext cx="10698480" cy="12700"/>
          </a:xfrm>
          <a:prstGeom prst="rect">
            <a:avLst/>
          </a:prstGeom>
          <a:solidFill>
            <a:srgbClr val="2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31520" y="1371600"/>
            <a:ext cx="2560320" cy="320040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005840" y="1645920"/>
            <a:ext cx="502920" cy="502920"/>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1627632"/>
            <a:ext cx="502920" cy="502920"/>
          </a:xfrm>
          <a:prstGeom prst="rect">
            <a:avLst/>
          </a:prstGeom>
          <a:noFill/>
        </p:spPr>
        <p:txBody>
          <a:bodyPr wrap="square">
            <a:spAutoFit/>
          </a:bodyPr>
          <a:lstStyle/>
          <a:p>
            <a:pPr algn="ctr">
              <a:spcBef>
                <a:spcPts val="0"/>
              </a:spcBef>
              <a:spcAft>
                <a:spcPts val="0"/>
              </a:spcAft>
              <a:defRPr sz="1800" b="1">
                <a:solidFill>
                  <a:srgbClr val="FFFFFF"/>
                </a:solidFill>
                <a:latin typeface="Segoe UI"/>
              </a:defRPr>
            </a:pPr>
            <a:r>
              <a:t>📚</a:t>
            </a:r>
          </a:p>
        </p:txBody>
      </p:sp>
      <p:sp>
        <p:nvSpPr>
          <p:cNvPr id="12" name="TextBox 11"/>
          <p:cNvSpPr txBox="1"/>
          <p:nvPr/>
        </p:nvSpPr>
        <p:spPr>
          <a:xfrm>
            <a:off x="1005840" y="2286000"/>
            <a:ext cx="2011680" cy="365760"/>
          </a:xfrm>
          <a:prstGeom prst="rect">
            <a:avLst/>
          </a:prstGeom>
          <a:noFill/>
        </p:spPr>
        <p:txBody>
          <a:bodyPr wrap="square">
            <a:spAutoFit/>
          </a:bodyPr>
          <a:lstStyle/>
          <a:p>
            <a:pPr algn="l">
              <a:spcBef>
                <a:spcPts val="0"/>
              </a:spcBef>
              <a:spcAft>
                <a:spcPts val="0"/>
              </a:spcAft>
              <a:defRPr sz="1300" b="1">
                <a:solidFill>
                  <a:srgbClr val="FFFFFF"/>
                </a:solidFill>
                <a:latin typeface="Segoe UI"/>
              </a:defRPr>
            </a:pPr>
            <a:r>
              <a:t>Nghiên cứu tài liệu</a:t>
            </a:r>
          </a:p>
        </p:txBody>
      </p:sp>
      <p:sp>
        <p:nvSpPr>
          <p:cNvPr id="13" name="TextBox 12"/>
          <p:cNvSpPr txBox="1"/>
          <p:nvPr/>
        </p:nvSpPr>
        <p:spPr>
          <a:xfrm>
            <a:off x="1005840" y="2606040"/>
            <a:ext cx="2011680" cy="182880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Tham khảo tài liệu chuyên ngành,</a:t>
            </a:r>
            <a:br/>
            <a:r>
              <a:t>documentation chính thức của React.js,</a:t>
            </a:r>
            <a:br/>
            <a:r>
              <a:t>Node.js, MongoDB, Socket.IO. Nghiên cứu</a:t>
            </a:r>
            <a:br/>
            <a:r>
              <a:t>các hệ thống tương tự: GrabFood, ShopeeFood.</a:t>
            </a:r>
          </a:p>
        </p:txBody>
      </p:sp>
      <p:sp>
        <p:nvSpPr>
          <p:cNvPr id="14" name="Rounded Rectangle 13"/>
          <p:cNvSpPr/>
          <p:nvPr/>
        </p:nvSpPr>
        <p:spPr>
          <a:xfrm>
            <a:off x="3520440" y="1371600"/>
            <a:ext cx="2560320" cy="320040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3794760" y="1645920"/>
            <a:ext cx="502920" cy="502920"/>
          </a:xfrm>
          <a:prstGeom prst="ellipse">
            <a:avLst/>
          </a:prstGeom>
          <a:solidFill>
            <a:srgbClr val="388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794760" y="1627632"/>
            <a:ext cx="502920" cy="502920"/>
          </a:xfrm>
          <a:prstGeom prst="rect">
            <a:avLst/>
          </a:prstGeom>
          <a:noFill/>
        </p:spPr>
        <p:txBody>
          <a:bodyPr wrap="square">
            <a:spAutoFit/>
          </a:bodyPr>
          <a:lstStyle/>
          <a:p>
            <a:pPr algn="ctr">
              <a:spcBef>
                <a:spcPts val="0"/>
              </a:spcBef>
              <a:spcAft>
                <a:spcPts val="0"/>
              </a:spcAft>
              <a:defRPr sz="1800" b="1">
                <a:solidFill>
                  <a:srgbClr val="FFFFFF"/>
                </a:solidFill>
                <a:latin typeface="Segoe UI"/>
              </a:defRPr>
            </a:pPr>
            <a:r>
              <a:t>🔬</a:t>
            </a:r>
          </a:p>
        </p:txBody>
      </p:sp>
      <p:sp>
        <p:nvSpPr>
          <p:cNvPr id="17" name="TextBox 16"/>
          <p:cNvSpPr txBox="1"/>
          <p:nvPr/>
        </p:nvSpPr>
        <p:spPr>
          <a:xfrm>
            <a:off x="3794760" y="2286000"/>
            <a:ext cx="2011680" cy="365760"/>
          </a:xfrm>
          <a:prstGeom prst="rect">
            <a:avLst/>
          </a:prstGeom>
          <a:noFill/>
        </p:spPr>
        <p:txBody>
          <a:bodyPr wrap="square">
            <a:spAutoFit/>
          </a:bodyPr>
          <a:lstStyle/>
          <a:p>
            <a:pPr algn="l">
              <a:spcBef>
                <a:spcPts val="0"/>
              </a:spcBef>
              <a:spcAft>
                <a:spcPts val="0"/>
              </a:spcAft>
              <a:defRPr sz="1300" b="1">
                <a:solidFill>
                  <a:srgbClr val="FFFFFF"/>
                </a:solidFill>
                <a:latin typeface="Segoe UI"/>
              </a:defRPr>
            </a:pPr>
            <a:r>
              <a:t>Phân tích &amp; thiết kế</a:t>
            </a:r>
          </a:p>
        </p:txBody>
      </p:sp>
      <p:sp>
        <p:nvSpPr>
          <p:cNvPr id="18" name="TextBox 17"/>
          <p:cNvSpPr txBox="1"/>
          <p:nvPr/>
        </p:nvSpPr>
        <p:spPr>
          <a:xfrm>
            <a:off x="3794760" y="2606040"/>
            <a:ext cx="2011680" cy="182880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Phân tích yêu cầu hệ thống,</a:t>
            </a:r>
            <a:br/>
            <a:r>
              <a:t>thiết kế cơ sở dữ liệu NoSQL,</a:t>
            </a:r>
            <a:br/>
            <a:r>
              <a:t>vẽ biểu đồ Use Case, lược đồ ER.</a:t>
            </a:r>
            <a:br/>
            <a:r>
              <a:t>Thiết kế giao diện UI/UX hiện đại.</a:t>
            </a:r>
          </a:p>
        </p:txBody>
      </p:sp>
      <p:sp>
        <p:nvSpPr>
          <p:cNvPr id="19" name="Rounded Rectangle 18"/>
          <p:cNvSpPr/>
          <p:nvPr/>
        </p:nvSpPr>
        <p:spPr>
          <a:xfrm>
            <a:off x="6309360" y="1371600"/>
            <a:ext cx="2560320" cy="320040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583680" y="1645920"/>
            <a:ext cx="502920" cy="50292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83680" y="1627632"/>
            <a:ext cx="502920" cy="502920"/>
          </a:xfrm>
          <a:prstGeom prst="rect">
            <a:avLst/>
          </a:prstGeom>
          <a:noFill/>
        </p:spPr>
        <p:txBody>
          <a:bodyPr wrap="square">
            <a:spAutoFit/>
          </a:bodyPr>
          <a:lstStyle/>
          <a:p>
            <a:pPr algn="ctr">
              <a:spcBef>
                <a:spcPts val="0"/>
              </a:spcBef>
              <a:spcAft>
                <a:spcPts val="0"/>
              </a:spcAft>
              <a:defRPr sz="1800" b="1">
                <a:solidFill>
                  <a:srgbClr val="FFFFFF"/>
                </a:solidFill>
                <a:latin typeface="Segoe UI"/>
              </a:defRPr>
            </a:pPr>
            <a:r>
              <a:t>💻</a:t>
            </a:r>
          </a:p>
        </p:txBody>
      </p:sp>
      <p:sp>
        <p:nvSpPr>
          <p:cNvPr id="22" name="TextBox 21"/>
          <p:cNvSpPr txBox="1"/>
          <p:nvPr/>
        </p:nvSpPr>
        <p:spPr>
          <a:xfrm>
            <a:off x="6583680" y="2286000"/>
            <a:ext cx="2011680" cy="365760"/>
          </a:xfrm>
          <a:prstGeom prst="rect">
            <a:avLst/>
          </a:prstGeom>
          <a:noFill/>
        </p:spPr>
        <p:txBody>
          <a:bodyPr wrap="square">
            <a:spAutoFit/>
          </a:bodyPr>
          <a:lstStyle/>
          <a:p>
            <a:pPr algn="l">
              <a:spcBef>
                <a:spcPts val="0"/>
              </a:spcBef>
              <a:spcAft>
                <a:spcPts val="0"/>
              </a:spcAft>
              <a:defRPr sz="1300" b="1">
                <a:solidFill>
                  <a:srgbClr val="FFFFFF"/>
                </a:solidFill>
                <a:latin typeface="Segoe UI"/>
              </a:defRPr>
            </a:pPr>
            <a:r>
              <a:t>Thực nghiệm &amp; triển khai</a:t>
            </a:r>
          </a:p>
        </p:txBody>
      </p:sp>
      <p:sp>
        <p:nvSpPr>
          <p:cNvPr id="23" name="TextBox 22"/>
          <p:cNvSpPr txBox="1"/>
          <p:nvPr/>
        </p:nvSpPr>
        <p:spPr>
          <a:xfrm>
            <a:off x="6583680" y="2606040"/>
            <a:ext cx="2011680" cy="182880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Lập trình theo mô hình Agile,</a:t>
            </a:r>
            <a:br/>
            <a:r>
              <a:t>chia sprint phát triển từng module.</a:t>
            </a:r>
            <a:br/>
            <a:r>
              <a:t>Test trên nhiều thiết bị và trình duyệt.</a:t>
            </a:r>
            <a:br/>
            <a:r>
              <a:t>Deploy production trên Vercel &amp; Render.</a:t>
            </a:r>
          </a:p>
        </p:txBody>
      </p:sp>
      <p:sp>
        <p:nvSpPr>
          <p:cNvPr id="24" name="Rounded Rectangle 23"/>
          <p:cNvSpPr/>
          <p:nvPr/>
        </p:nvSpPr>
        <p:spPr>
          <a:xfrm>
            <a:off x="9098280" y="1371600"/>
            <a:ext cx="2560320" cy="320040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9372600" y="1645920"/>
            <a:ext cx="502920" cy="502920"/>
          </a:xfrm>
          <a:prstGeom prst="ellipse">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372600" y="1627632"/>
            <a:ext cx="502920" cy="502920"/>
          </a:xfrm>
          <a:prstGeom prst="rect">
            <a:avLst/>
          </a:prstGeom>
          <a:noFill/>
        </p:spPr>
        <p:txBody>
          <a:bodyPr wrap="square">
            <a:spAutoFit/>
          </a:bodyPr>
          <a:lstStyle/>
          <a:p>
            <a:pPr algn="ctr">
              <a:spcBef>
                <a:spcPts val="0"/>
              </a:spcBef>
              <a:spcAft>
                <a:spcPts val="0"/>
              </a:spcAft>
              <a:defRPr sz="1800" b="1">
                <a:solidFill>
                  <a:srgbClr val="FFFFFF"/>
                </a:solidFill>
                <a:latin typeface="Segoe UI"/>
              </a:defRPr>
            </a:pPr>
            <a:r>
              <a:t>✅</a:t>
            </a:r>
          </a:p>
        </p:txBody>
      </p:sp>
      <p:sp>
        <p:nvSpPr>
          <p:cNvPr id="27" name="TextBox 26"/>
          <p:cNvSpPr txBox="1"/>
          <p:nvPr/>
        </p:nvSpPr>
        <p:spPr>
          <a:xfrm>
            <a:off x="9372600" y="2286000"/>
            <a:ext cx="2011680" cy="365760"/>
          </a:xfrm>
          <a:prstGeom prst="rect">
            <a:avLst/>
          </a:prstGeom>
          <a:noFill/>
        </p:spPr>
        <p:txBody>
          <a:bodyPr wrap="square">
            <a:spAutoFit/>
          </a:bodyPr>
          <a:lstStyle/>
          <a:p>
            <a:pPr algn="l">
              <a:spcBef>
                <a:spcPts val="0"/>
              </a:spcBef>
              <a:spcAft>
                <a:spcPts val="0"/>
              </a:spcAft>
              <a:defRPr sz="1300" b="1">
                <a:solidFill>
                  <a:srgbClr val="FFFFFF"/>
                </a:solidFill>
                <a:latin typeface="Segoe UI"/>
              </a:defRPr>
            </a:pPr>
            <a:r>
              <a:t>Kiểm thử &amp; đánh giá</a:t>
            </a:r>
          </a:p>
        </p:txBody>
      </p:sp>
      <p:sp>
        <p:nvSpPr>
          <p:cNvPr id="28" name="TextBox 27"/>
          <p:cNvSpPr txBox="1"/>
          <p:nvPr/>
        </p:nvSpPr>
        <p:spPr>
          <a:xfrm>
            <a:off x="9372600" y="2606040"/>
            <a:ext cx="2011680" cy="182880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Kiểm thử chức năng end-to-end,</a:t>
            </a:r>
            <a:br/>
            <a:r>
              <a:t>kiểm thử giao diện responsive,</a:t>
            </a:r>
            <a:br/>
            <a:r>
              <a:t>kiểm thử hiệu suất API,</a:t>
            </a:r>
            <a:br/>
            <a:r>
              <a:t>đánh giá trải nghiệm người dùng thực.</a:t>
            </a:r>
          </a:p>
        </p:txBody>
      </p:sp>
      <p:sp>
        <p:nvSpPr>
          <p:cNvPr id="29" name="Rounded Rectangle 28"/>
          <p:cNvSpPr/>
          <p:nvPr/>
        </p:nvSpPr>
        <p:spPr>
          <a:xfrm>
            <a:off x="731520" y="4937760"/>
            <a:ext cx="10698480" cy="1188720"/>
          </a:xfrm>
          <a:prstGeom prst="roundRect">
            <a:avLst>
              <a:gd name="adj" fmla="val 4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1097280" y="5120640"/>
            <a:ext cx="411480" cy="411480"/>
          </a:xfrm>
          <a:prstGeom prst="roundRect">
            <a:avLst>
              <a:gd name="adj" fmla="val 50000"/>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97280" y="5138928"/>
            <a:ext cx="411480" cy="411480"/>
          </a:xfrm>
          <a:prstGeom prst="rect">
            <a:avLst/>
          </a:prstGeom>
          <a:noFill/>
        </p:spPr>
        <p:txBody>
          <a:bodyPr wrap="square">
            <a:spAutoFit/>
          </a:bodyPr>
          <a:lstStyle/>
          <a:p>
            <a:pPr algn="ctr">
              <a:spcBef>
                <a:spcPts val="0"/>
              </a:spcBef>
              <a:spcAft>
                <a:spcPts val="0"/>
              </a:spcAft>
              <a:defRPr sz="1400" b="1">
                <a:solidFill>
                  <a:srgbClr val="FFFFFF"/>
                </a:solidFill>
                <a:latin typeface="Segoe UI"/>
              </a:defRPr>
            </a:pPr>
            <a:r>
              <a:t>1</a:t>
            </a:r>
          </a:p>
        </p:txBody>
      </p:sp>
      <p:sp>
        <p:nvSpPr>
          <p:cNvPr id="32" name="TextBox 31"/>
          <p:cNvSpPr txBox="1"/>
          <p:nvPr/>
        </p:nvSpPr>
        <p:spPr>
          <a:xfrm>
            <a:off x="1600200" y="5074920"/>
            <a:ext cx="1371600" cy="822960"/>
          </a:xfrm>
          <a:prstGeom prst="rect">
            <a:avLst/>
          </a:prstGeom>
          <a:noFill/>
        </p:spPr>
        <p:txBody>
          <a:bodyPr wrap="square">
            <a:spAutoFit/>
          </a:bodyPr>
          <a:lstStyle/>
          <a:p>
            <a:pPr algn="l">
              <a:spcBef>
                <a:spcPts val="0"/>
              </a:spcBef>
              <a:spcAft>
                <a:spcPts val="0"/>
              </a:spcAft>
              <a:defRPr sz="1000" b="0">
                <a:solidFill>
                  <a:srgbClr val="E5E5EA"/>
                </a:solidFill>
                <a:latin typeface="Segoe UI"/>
              </a:defRPr>
            </a:pPr>
            <a:r>
              <a:t>Thu thập</a:t>
            </a:r>
            <a:br/>
            <a:r>
              <a:t>yêu cầu</a:t>
            </a:r>
          </a:p>
        </p:txBody>
      </p:sp>
      <p:sp>
        <p:nvSpPr>
          <p:cNvPr id="33" name="TextBox 32"/>
          <p:cNvSpPr txBox="1"/>
          <p:nvPr/>
        </p:nvSpPr>
        <p:spPr>
          <a:xfrm>
            <a:off x="2880360" y="5166360"/>
            <a:ext cx="274320" cy="274320"/>
          </a:xfrm>
          <a:prstGeom prst="rect">
            <a:avLst/>
          </a:prstGeom>
          <a:noFill/>
        </p:spPr>
        <p:txBody>
          <a:bodyPr wrap="square">
            <a:spAutoFit/>
          </a:bodyPr>
          <a:lstStyle/>
          <a:p>
            <a:pPr algn="l">
              <a:spcBef>
                <a:spcPts val="0"/>
              </a:spcBef>
              <a:spcAft>
                <a:spcPts val="0"/>
              </a:spcAft>
              <a:defRPr sz="1600" b="1">
                <a:solidFill>
                  <a:srgbClr val="FF6B00"/>
                </a:solidFill>
                <a:latin typeface="Segoe UI"/>
              </a:defRPr>
            </a:pPr>
            <a:r>
              <a:t>→</a:t>
            </a:r>
          </a:p>
        </p:txBody>
      </p:sp>
      <p:sp>
        <p:nvSpPr>
          <p:cNvPr id="34" name="Rounded Rectangle 33"/>
          <p:cNvSpPr/>
          <p:nvPr/>
        </p:nvSpPr>
        <p:spPr>
          <a:xfrm>
            <a:off x="3200400" y="5120640"/>
            <a:ext cx="411480" cy="411480"/>
          </a:xfrm>
          <a:prstGeom prst="roundRect">
            <a:avLst>
              <a:gd name="adj" fmla="val 50000"/>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200400" y="5138928"/>
            <a:ext cx="411480" cy="411480"/>
          </a:xfrm>
          <a:prstGeom prst="rect">
            <a:avLst/>
          </a:prstGeom>
          <a:noFill/>
        </p:spPr>
        <p:txBody>
          <a:bodyPr wrap="square">
            <a:spAutoFit/>
          </a:bodyPr>
          <a:lstStyle/>
          <a:p>
            <a:pPr algn="ctr">
              <a:spcBef>
                <a:spcPts val="0"/>
              </a:spcBef>
              <a:spcAft>
                <a:spcPts val="0"/>
              </a:spcAft>
              <a:defRPr sz="1400" b="1">
                <a:solidFill>
                  <a:srgbClr val="FFFFFF"/>
                </a:solidFill>
                <a:latin typeface="Segoe UI"/>
              </a:defRPr>
            </a:pPr>
            <a:r>
              <a:t>2</a:t>
            </a:r>
          </a:p>
        </p:txBody>
      </p:sp>
      <p:sp>
        <p:nvSpPr>
          <p:cNvPr id="36" name="TextBox 35"/>
          <p:cNvSpPr txBox="1"/>
          <p:nvPr/>
        </p:nvSpPr>
        <p:spPr>
          <a:xfrm>
            <a:off x="3703320" y="5074920"/>
            <a:ext cx="1371600" cy="822960"/>
          </a:xfrm>
          <a:prstGeom prst="rect">
            <a:avLst/>
          </a:prstGeom>
          <a:noFill/>
        </p:spPr>
        <p:txBody>
          <a:bodyPr wrap="square">
            <a:spAutoFit/>
          </a:bodyPr>
          <a:lstStyle/>
          <a:p>
            <a:pPr algn="l">
              <a:spcBef>
                <a:spcPts val="0"/>
              </a:spcBef>
              <a:spcAft>
                <a:spcPts val="0"/>
              </a:spcAft>
              <a:defRPr sz="1000" b="0">
                <a:solidFill>
                  <a:srgbClr val="E5E5EA"/>
                </a:solidFill>
                <a:latin typeface="Segoe UI"/>
              </a:defRPr>
            </a:pPr>
            <a:r>
              <a:t>Phân tích</a:t>
            </a:r>
            <a:br/>
            <a:r>
              <a:t>&amp; Thiết kế</a:t>
            </a:r>
          </a:p>
        </p:txBody>
      </p:sp>
      <p:sp>
        <p:nvSpPr>
          <p:cNvPr id="37" name="TextBox 36"/>
          <p:cNvSpPr txBox="1"/>
          <p:nvPr/>
        </p:nvSpPr>
        <p:spPr>
          <a:xfrm>
            <a:off x="4983480" y="5166360"/>
            <a:ext cx="274320" cy="274320"/>
          </a:xfrm>
          <a:prstGeom prst="rect">
            <a:avLst/>
          </a:prstGeom>
          <a:noFill/>
        </p:spPr>
        <p:txBody>
          <a:bodyPr wrap="square">
            <a:spAutoFit/>
          </a:bodyPr>
          <a:lstStyle/>
          <a:p>
            <a:pPr algn="l">
              <a:spcBef>
                <a:spcPts val="0"/>
              </a:spcBef>
              <a:spcAft>
                <a:spcPts val="0"/>
              </a:spcAft>
              <a:defRPr sz="1600" b="1">
                <a:solidFill>
                  <a:srgbClr val="FF6B00"/>
                </a:solidFill>
                <a:latin typeface="Segoe UI"/>
              </a:defRPr>
            </a:pPr>
            <a:r>
              <a:t>→</a:t>
            </a:r>
          </a:p>
        </p:txBody>
      </p:sp>
      <p:sp>
        <p:nvSpPr>
          <p:cNvPr id="38" name="Rounded Rectangle 37"/>
          <p:cNvSpPr/>
          <p:nvPr/>
        </p:nvSpPr>
        <p:spPr>
          <a:xfrm>
            <a:off x="5303520" y="5120640"/>
            <a:ext cx="411480" cy="411480"/>
          </a:xfrm>
          <a:prstGeom prst="roundRect">
            <a:avLst>
              <a:gd name="adj" fmla="val 50000"/>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303520" y="5138928"/>
            <a:ext cx="411480" cy="411480"/>
          </a:xfrm>
          <a:prstGeom prst="rect">
            <a:avLst/>
          </a:prstGeom>
          <a:noFill/>
        </p:spPr>
        <p:txBody>
          <a:bodyPr wrap="square">
            <a:spAutoFit/>
          </a:bodyPr>
          <a:lstStyle/>
          <a:p>
            <a:pPr algn="ctr">
              <a:spcBef>
                <a:spcPts val="0"/>
              </a:spcBef>
              <a:spcAft>
                <a:spcPts val="0"/>
              </a:spcAft>
              <a:defRPr sz="1400" b="1">
                <a:solidFill>
                  <a:srgbClr val="FFFFFF"/>
                </a:solidFill>
                <a:latin typeface="Segoe UI"/>
              </a:defRPr>
            </a:pPr>
            <a:r>
              <a:t>3</a:t>
            </a:r>
          </a:p>
        </p:txBody>
      </p:sp>
      <p:sp>
        <p:nvSpPr>
          <p:cNvPr id="40" name="TextBox 39"/>
          <p:cNvSpPr txBox="1"/>
          <p:nvPr/>
        </p:nvSpPr>
        <p:spPr>
          <a:xfrm>
            <a:off x="5806440" y="5074920"/>
            <a:ext cx="1371600" cy="822960"/>
          </a:xfrm>
          <a:prstGeom prst="rect">
            <a:avLst/>
          </a:prstGeom>
          <a:noFill/>
        </p:spPr>
        <p:txBody>
          <a:bodyPr wrap="square">
            <a:spAutoFit/>
          </a:bodyPr>
          <a:lstStyle/>
          <a:p>
            <a:pPr algn="l">
              <a:spcBef>
                <a:spcPts val="0"/>
              </a:spcBef>
              <a:spcAft>
                <a:spcPts val="0"/>
              </a:spcAft>
              <a:defRPr sz="1000" b="0">
                <a:solidFill>
                  <a:srgbClr val="E5E5EA"/>
                </a:solidFill>
                <a:latin typeface="Segoe UI"/>
              </a:defRPr>
            </a:pPr>
            <a:r>
              <a:t>Lập trình</a:t>
            </a:r>
            <a:br/>
            <a:r>
              <a:t>phát triển</a:t>
            </a:r>
          </a:p>
        </p:txBody>
      </p:sp>
      <p:sp>
        <p:nvSpPr>
          <p:cNvPr id="41" name="TextBox 40"/>
          <p:cNvSpPr txBox="1"/>
          <p:nvPr/>
        </p:nvSpPr>
        <p:spPr>
          <a:xfrm>
            <a:off x="7086600" y="5166360"/>
            <a:ext cx="274320" cy="274320"/>
          </a:xfrm>
          <a:prstGeom prst="rect">
            <a:avLst/>
          </a:prstGeom>
          <a:noFill/>
        </p:spPr>
        <p:txBody>
          <a:bodyPr wrap="square">
            <a:spAutoFit/>
          </a:bodyPr>
          <a:lstStyle/>
          <a:p>
            <a:pPr algn="l">
              <a:spcBef>
                <a:spcPts val="0"/>
              </a:spcBef>
              <a:spcAft>
                <a:spcPts val="0"/>
              </a:spcAft>
              <a:defRPr sz="1600" b="1">
                <a:solidFill>
                  <a:srgbClr val="FF6B00"/>
                </a:solidFill>
                <a:latin typeface="Segoe UI"/>
              </a:defRPr>
            </a:pPr>
            <a:r>
              <a:t>→</a:t>
            </a:r>
          </a:p>
        </p:txBody>
      </p:sp>
      <p:sp>
        <p:nvSpPr>
          <p:cNvPr id="42" name="Rounded Rectangle 41"/>
          <p:cNvSpPr/>
          <p:nvPr/>
        </p:nvSpPr>
        <p:spPr>
          <a:xfrm>
            <a:off x="7406640" y="5120640"/>
            <a:ext cx="411480" cy="411480"/>
          </a:xfrm>
          <a:prstGeom prst="roundRect">
            <a:avLst>
              <a:gd name="adj" fmla="val 50000"/>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406640" y="5138928"/>
            <a:ext cx="411480" cy="411480"/>
          </a:xfrm>
          <a:prstGeom prst="rect">
            <a:avLst/>
          </a:prstGeom>
          <a:noFill/>
        </p:spPr>
        <p:txBody>
          <a:bodyPr wrap="square">
            <a:spAutoFit/>
          </a:bodyPr>
          <a:lstStyle/>
          <a:p>
            <a:pPr algn="ctr">
              <a:spcBef>
                <a:spcPts val="0"/>
              </a:spcBef>
              <a:spcAft>
                <a:spcPts val="0"/>
              </a:spcAft>
              <a:defRPr sz="1400" b="1">
                <a:solidFill>
                  <a:srgbClr val="FFFFFF"/>
                </a:solidFill>
                <a:latin typeface="Segoe UI"/>
              </a:defRPr>
            </a:pPr>
            <a:r>
              <a:t>4</a:t>
            </a:r>
          </a:p>
        </p:txBody>
      </p:sp>
      <p:sp>
        <p:nvSpPr>
          <p:cNvPr id="44" name="TextBox 43"/>
          <p:cNvSpPr txBox="1"/>
          <p:nvPr/>
        </p:nvSpPr>
        <p:spPr>
          <a:xfrm>
            <a:off x="7909560" y="5074920"/>
            <a:ext cx="1371600" cy="822960"/>
          </a:xfrm>
          <a:prstGeom prst="rect">
            <a:avLst/>
          </a:prstGeom>
          <a:noFill/>
        </p:spPr>
        <p:txBody>
          <a:bodyPr wrap="square">
            <a:spAutoFit/>
          </a:bodyPr>
          <a:lstStyle/>
          <a:p>
            <a:pPr algn="l">
              <a:spcBef>
                <a:spcPts val="0"/>
              </a:spcBef>
              <a:spcAft>
                <a:spcPts val="0"/>
              </a:spcAft>
              <a:defRPr sz="1000" b="0">
                <a:solidFill>
                  <a:srgbClr val="E5E5EA"/>
                </a:solidFill>
                <a:latin typeface="Segoe UI"/>
              </a:defRPr>
            </a:pPr>
            <a:r>
              <a:t>Kiểm thử</a:t>
            </a:r>
            <a:br/>
            <a:r>
              <a:t>&amp; Debug</a:t>
            </a:r>
          </a:p>
        </p:txBody>
      </p:sp>
      <p:sp>
        <p:nvSpPr>
          <p:cNvPr id="45" name="TextBox 44"/>
          <p:cNvSpPr txBox="1"/>
          <p:nvPr/>
        </p:nvSpPr>
        <p:spPr>
          <a:xfrm>
            <a:off x="9189720" y="5166360"/>
            <a:ext cx="274320" cy="274320"/>
          </a:xfrm>
          <a:prstGeom prst="rect">
            <a:avLst/>
          </a:prstGeom>
          <a:noFill/>
        </p:spPr>
        <p:txBody>
          <a:bodyPr wrap="square">
            <a:spAutoFit/>
          </a:bodyPr>
          <a:lstStyle/>
          <a:p>
            <a:pPr algn="l">
              <a:spcBef>
                <a:spcPts val="0"/>
              </a:spcBef>
              <a:spcAft>
                <a:spcPts val="0"/>
              </a:spcAft>
              <a:defRPr sz="1600" b="1">
                <a:solidFill>
                  <a:srgbClr val="FF6B00"/>
                </a:solidFill>
                <a:latin typeface="Segoe UI"/>
              </a:defRPr>
            </a:pPr>
            <a:r>
              <a:t>→</a:t>
            </a:r>
          </a:p>
        </p:txBody>
      </p:sp>
      <p:sp>
        <p:nvSpPr>
          <p:cNvPr id="46" name="Rounded Rectangle 45"/>
          <p:cNvSpPr/>
          <p:nvPr/>
        </p:nvSpPr>
        <p:spPr>
          <a:xfrm>
            <a:off x="9509760" y="5120640"/>
            <a:ext cx="411480" cy="411480"/>
          </a:xfrm>
          <a:prstGeom prst="roundRect">
            <a:avLst>
              <a:gd name="adj" fmla="val 50000"/>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509760" y="5138928"/>
            <a:ext cx="411480" cy="411480"/>
          </a:xfrm>
          <a:prstGeom prst="rect">
            <a:avLst/>
          </a:prstGeom>
          <a:noFill/>
        </p:spPr>
        <p:txBody>
          <a:bodyPr wrap="square">
            <a:spAutoFit/>
          </a:bodyPr>
          <a:lstStyle/>
          <a:p>
            <a:pPr algn="ctr">
              <a:spcBef>
                <a:spcPts val="0"/>
              </a:spcBef>
              <a:spcAft>
                <a:spcPts val="0"/>
              </a:spcAft>
              <a:defRPr sz="1400" b="1">
                <a:solidFill>
                  <a:srgbClr val="FFFFFF"/>
                </a:solidFill>
                <a:latin typeface="Segoe UI"/>
              </a:defRPr>
            </a:pPr>
            <a:r>
              <a:t>5</a:t>
            </a:r>
          </a:p>
        </p:txBody>
      </p:sp>
      <p:sp>
        <p:nvSpPr>
          <p:cNvPr id="48" name="TextBox 47"/>
          <p:cNvSpPr txBox="1"/>
          <p:nvPr/>
        </p:nvSpPr>
        <p:spPr>
          <a:xfrm>
            <a:off x="10012680" y="5074920"/>
            <a:ext cx="1371600" cy="822960"/>
          </a:xfrm>
          <a:prstGeom prst="rect">
            <a:avLst/>
          </a:prstGeom>
          <a:noFill/>
        </p:spPr>
        <p:txBody>
          <a:bodyPr wrap="square">
            <a:spAutoFit/>
          </a:bodyPr>
          <a:lstStyle/>
          <a:p>
            <a:pPr algn="l">
              <a:spcBef>
                <a:spcPts val="0"/>
              </a:spcBef>
              <a:spcAft>
                <a:spcPts val="0"/>
              </a:spcAft>
              <a:defRPr sz="1000" b="0">
                <a:solidFill>
                  <a:srgbClr val="E5E5EA"/>
                </a:solidFill>
                <a:latin typeface="Segoe UI"/>
              </a:defRPr>
            </a:pPr>
            <a:r>
              <a:t>Triển khai</a:t>
            </a:r>
            <a:br/>
            <a:r>
              <a:t>Deploy</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0F14"/>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731520" cy="457200"/>
          </a:xfrm>
          <a:prstGeom prst="rect">
            <a:avLst/>
          </a:prstGeom>
          <a:noFill/>
        </p:spPr>
        <p:txBody>
          <a:bodyPr wrap="square">
            <a:spAutoFit/>
          </a:bodyPr>
          <a:lstStyle/>
          <a:p>
            <a:pPr algn="l">
              <a:spcBef>
                <a:spcPts val="0"/>
              </a:spcBef>
              <a:spcAft>
                <a:spcPts val="0"/>
              </a:spcAft>
              <a:defRPr sz="1400" b="1">
                <a:solidFill>
                  <a:srgbClr val="FF6B00"/>
                </a:solidFill>
                <a:latin typeface="Segoe UI Black"/>
              </a:defRPr>
            </a:pPr>
            <a:r>
              <a:t>02</a:t>
            </a:r>
          </a:p>
        </p:txBody>
      </p:sp>
      <p:sp>
        <p:nvSpPr>
          <p:cNvPr id="4" name="TextBox 3"/>
          <p:cNvSpPr txBox="1"/>
          <p:nvPr/>
        </p:nvSpPr>
        <p:spPr>
          <a:xfrm>
            <a:off x="1234440" y="320040"/>
            <a:ext cx="274320" cy="457200"/>
          </a:xfrm>
          <a:prstGeom prst="rect">
            <a:avLst/>
          </a:prstGeom>
          <a:noFill/>
        </p:spPr>
        <p:txBody>
          <a:bodyPr wrap="square">
            <a:spAutoFit/>
          </a:bodyPr>
          <a:lstStyle/>
          <a:p>
            <a:pPr algn="l">
              <a:spcBef>
                <a:spcPts val="0"/>
              </a:spcBef>
              <a:spcAft>
                <a:spcPts val="0"/>
              </a:spcAft>
              <a:defRPr sz="1400" b="1">
                <a:solidFill>
                  <a:srgbClr val="9C9CA8"/>
                </a:solidFill>
                <a:latin typeface="Segoe UI"/>
              </a:defRPr>
            </a:pPr>
            <a:r>
              <a:t>—</a:t>
            </a:r>
          </a:p>
        </p:txBody>
      </p:sp>
      <p:sp>
        <p:nvSpPr>
          <p:cNvPr id="5" name="TextBox 4"/>
          <p:cNvSpPr txBox="1"/>
          <p:nvPr/>
        </p:nvSpPr>
        <p:spPr>
          <a:xfrm>
            <a:off x="1508760" y="274320"/>
            <a:ext cx="7315200" cy="502920"/>
          </a:xfrm>
          <a:prstGeom prst="rect">
            <a:avLst/>
          </a:prstGeom>
          <a:noFill/>
        </p:spPr>
        <p:txBody>
          <a:bodyPr wrap="square">
            <a:spAutoFit/>
          </a:bodyPr>
          <a:lstStyle/>
          <a:p>
            <a:pPr algn="l">
              <a:spcBef>
                <a:spcPts val="0"/>
              </a:spcBef>
              <a:spcAft>
                <a:spcPts val="0"/>
              </a:spcAft>
              <a:defRPr sz="1500" b="1">
                <a:solidFill>
                  <a:srgbClr val="FFFFFF"/>
                </a:solidFill>
                <a:latin typeface="Segoe UI Semibold"/>
              </a:defRPr>
            </a:pPr>
            <a:r>
              <a:t>NGÔN NGỮ LẬP TRÌNH</a:t>
            </a:r>
          </a:p>
        </p:txBody>
      </p:sp>
      <p:sp>
        <p:nvSpPr>
          <p:cNvPr id="6" name="TextBox 5"/>
          <p:cNvSpPr txBox="1"/>
          <p:nvPr/>
        </p:nvSpPr>
        <p:spPr>
          <a:xfrm>
            <a:off x="1508760" y="640080"/>
            <a:ext cx="7315200" cy="36576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Cơ sở lý thuyết</a:t>
            </a:r>
          </a:p>
        </p:txBody>
      </p:sp>
      <p:sp>
        <p:nvSpPr>
          <p:cNvPr id="7" name="TextBox 6"/>
          <p:cNvSpPr txBox="1"/>
          <p:nvPr/>
        </p:nvSpPr>
        <p:spPr>
          <a:xfrm>
            <a:off x="10058400" y="320040"/>
            <a:ext cx="1828800" cy="365760"/>
          </a:xfrm>
          <a:prstGeom prst="rect">
            <a:avLst/>
          </a:prstGeom>
          <a:noFill/>
        </p:spPr>
        <p:txBody>
          <a:bodyPr wrap="square">
            <a:spAutoFit/>
          </a:bodyPr>
          <a:lstStyle/>
          <a:p>
            <a:pPr algn="r">
              <a:spcBef>
                <a:spcPts val="0"/>
              </a:spcBef>
              <a:spcAft>
                <a:spcPts val="0"/>
              </a:spcAft>
              <a:defRPr sz="1100" b="1">
                <a:solidFill>
                  <a:srgbClr val="FF6B00"/>
                </a:solidFill>
                <a:latin typeface="Segoe UI"/>
              </a:defRPr>
            </a:pPr>
            <a:r>
              <a:t>🍽️ FoodServe</a:t>
            </a:r>
          </a:p>
        </p:txBody>
      </p:sp>
      <p:sp>
        <p:nvSpPr>
          <p:cNvPr id="8" name="Rectangle 7"/>
          <p:cNvSpPr/>
          <p:nvPr/>
        </p:nvSpPr>
        <p:spPr>
          <a:xfrm>
            <a:off x="731520" y="1005840"/>
            <a:ext cx="10698480" cy="12700"/>
          </a:xfrm>
          <a:prstGeom prst="rect">
            <a:avLst/>
          </a:prstGeom>
          <a:solidFill>
            <a:srgbClr val="2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31520" y="1371600"/>
            <a:ext cx="2560320" cy="219456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1600200"/>
            <a:ext cx="457200" cy="457200"/>
          </a:xfrm>
          <a:prstGeom prst="rect">
            <a:avLst/>
          </a:prstGeom>
          <a:noFill/>
        </p:spPr>
        <p:txBody>
          <a:bodyPr wrap="square">
            <a:spAutoFit/>
          </a:bodyPr>
          <a:lstStyle/>
          <a:p>
            <a:pPr algn="l">
              <a:spcBef>
                <a:spcPts val="0"/>
              </a:spcBef>
              <a:spcAft>
                <a:spcPts val="0"/>
              </a:spcAft>
              <a:defRPr sz="2400" b="0">
                <a:solidFill>
                  <a:srgbClr val="E5E5EA"/>
                </a:solidFill>
                <a:latin typeface="Segoe UI"/>
              </a:defRPr>
            </a:pPr>
            <a:r>
              <a:t>⚙️</a:t>
            </a:r>
          </a:p>
        </p:txBody>
      </p:sp>
      <p:sp>
        <p:nvSpPr>
          <p:cNvPr id="11" name="TextBox 10"/>
          <p:cNvSpPr txBox="1"/>
          <p:nvPr/>
        </p:nvSpPr>
        <p:spPr>
          <a:xfrm>
            <a:off x="1005840" y="2148840"/>
            <a:ext cx="2011680" cy="365760"/>
          </a:xfrm>
          <a:prstGeom prst="rect">
            <a:avLst/>
          </a:prstGeom>
          <a:noFill/>
        </p:spPr>
        <p:txBody>
          <a:bodyPr wrap="square">
            <a:spAutoFit/>
          </a:bodyPr>
          <a:lstStyle/>
          <a:p>
            <a:pPr algn="l">
              <a:spcBef>
                <a:spcPts val="0"/>
              </a:spcBef>
              <a:spcAft>
                <a:spcPts val="0"/>
              </a:spcAft>
              <a:defRPr sz="1600" b="1">
                <a:solidFill>
                  <a:srgbClr val="FF6B00"/>
                </a:solidFill>
                <a:latin typeface="Segoe UI"/>
              </a:defRPr>
            </a:pPr>
            <a:r>
              <a:t>HTML5</a:t>
            </a:r>
          </a:p>
        </p:txBody>
      </p:sp>
      <p:sp>
        <p:nvSpPr>
          <p:cNvPr id="12" name="TextBox 11"/>
          <p:cNvSpPr txBox="1"/>
          <p:nvPr/>
        </p:nvSpPr>
        <p:spPr>
          <a:xfrm>
            <a:off x="1005840" y="2560320"/>
            <a:ext cx="2011680" cy="91440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Ngôn ngữ đánh dấu siêu</a:t>
            </a:r>
            <a:br/>
            <a:r>
              <a:t>văn bản, xây dựng cấu trúc</a:t>
            </a:r>
            <a:br/>
            <a:r>
              <a:t>nội dung trang web.</a:t>
            </a:r>
          </a:p>
        </p:txBody>
      </p:sp>
      <p:sp>
        <p:nvSpPr>
          <p:cNvPr id="13" name="Rounded Rectangle 12"/>
          <p:cNvSpPr/>
          <p:nvPr/>
        </p:nvSpPr>
        <p:spPr>
          <a:xfrm>
            <a:off x="3520440" y="1371600"/>
            <a:ext cx="2560320" cy="219456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94760" y="1600200"/>
            <a:ext cx="457200" cy="457200"/>
          </a:xfrm>
          <a:prstGeom prst="rect">
            <a:avLst/>
          </a:prstGeom>
          <a:noFill/>
        </p:spPr>
        <p:txBody>
          <a:bodyPr wrap="square">
            <a:spAutoFit/>
          </a:bodyPr>
          <a:lstStyle/>
          <a:p>
            <a:pPr algn="l">
              <a:spcBef>
                <a:spcPts val="0"/>
              </a:spcBef>
              <a:spcAft>
                <a:spcPts val="0"/>
              </a:spcAft>
              <a:defRPr sz="2400" b="0">
                <a:solidFill>
                  <a:srgbClr val="E5E5EA"/>
                </a:solidFill>
                <a:latin typeface="Segoe UI"/>
              </a:defRPr>
            </a:pPr>
            <a:r>
              <a:t>🎨</a:t>
            </a:r>
          </a:p>
        </p:txBody>
      </p:sp>
      <p:sp>
        <p:nvSpPr>
          <p:cNvPr id="15" name="TextBox 14"/>
          <p:cNvSpPr txBox="1"/>
          <p:nvPr/>
        </p:nvSpPr>
        <p:spPr>
          <a:xfrm>
            <a:off x="3794760" y="2148840"/>
            <a:ext cx="2011680" cy="365760"/>
          </a:xfrm>
          <a:prstGeom prst="rect">
            <a:avLst/>
          </a:prstGeom>
          <a:noFill/>
        </p:spPr>
        <p:txBody>
          <a:bodyPr wrap="square">
            <a:spAutoFit/>
          </a:bodyPr>
          <a:lstStyle/>
          <a:p>
            <a:pPr algn="l">
              <a:spcBef>
                <a:spcPts val="0"/>
              </a:spcBef>
              <a:spcAft>
                <a:spcPts val="0"/>
              </a:spcAft>
              <a:defRPr sz="1600" b="1">
                <a:solidFill>
                  <a:srgbClr val="388BFC"/>
                </a:solidFill>
                <a:latin typeface="Segoe UI"/>
              </a:defRPr>
            </a:pPr>
            <a:r>
              <a:t>CSS3</a:t>
            </a:r>
          </a:p>
        </p:txBody>
      </p:sp>
      <p:sp>
        <p:nvSpPr>
          <p:cNvPr id="16" name="TextBox 15"/>
          <p:cNvSpPr txBox="1"/>
          <p:nvPr/>
        </p:nvSpPr>
        <p:spPr>
          <a:xfrm>
            <a:off x="3794760" y="2560320"/>
            <a:ext cx="2011680" cy="91440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Ngôn ngữ tạo kiểu cho</a:t>
            </a:r>
            <a:br/>
            <a:r>
              <a:t>trang web, responsive design,</a:t>
            </a:r>
            <a:br/>
            <a:r>
              <a:t>animation &amp; flexbox/grid.</a:t>
            </a:r>
          </a:p>
        </p:txBody>
      </p:sp>
      <p:sp>
        <p:nvSpPr>
          <p:cNvPr id="17" name="Rounded Rectangle 16"/>
          <p:cNvSpPr/>
          <p:nvPr/>
        </p:nvSpPr>
        <p:spPr>
          <a:xfrm>
            <a:off x="6309360" y="1371600"/>
            <a:ext cx="2560320" cy="219456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83680" y="1600200"/>
            <a:ext cx="457200" cy="457200"/>
          </a:xfrm>
          <a:prstGeom prst="rect">
            <a:avLst/>
          </a:prstGeom>
          <a:noFill/>
        </p:spPr>
        <p:txBody>
          <a:bodyPr wrap="square">
            <a:spAutoFit/>
          </a:bodyPr>
          <a:lstStyle/>
          <a:p>
            <a:pPr algn="l">
              <a:spcBef>
                <a:spcPts val="0"/>
              </a:spcBef>
              <a:spcAft>
                <a:spcPts val="0"/>
              </a:spcAft>
              <a:defRPr sz="2400" b="0">
                <a:solidFill>
                  <a:srgbClr val="E5E5EA"/>
                </a:solidFill>
                <a:latin typeface="Segoe UI"/>
              </a:defRPr>
            </a:pPr>
            <a:r>
              <a:t>💛</a:t>
            </a:r>
          </a:p>
        </p:txBody>
      </p:sp>
      <p:sp>
        <p:nvSpPr>
          <p:cNvPr id="19" name="TextBox 18"/>
          <p:cNvSpPr txBox="1"/>
          <p:nvPr/>
        </p:nvSpPr>
        <p:spPr>
          <a:xfrm>
            <a:off x="6583680" y="2148840"/>
            <a:ext cx="2011680" cy="365760"/>
          </a:xfrm>
          <a:prstGeom prst="rect">
            <a:avLst/>
          </a:prstGeom>
          <a:noFill/>
        </p:spPr>
        <p:txBody>
          <a:bodyPr wrap="square">
            <a:spAutoFit/>
          </a:bodyPr>
          <a:lstStyle/>
          <a:p>
            <a:pPr algn="l">
              <a:spcBef>
                <a:spcPts val="0"/>
              </a:spcBef>
              <a:spcAft>
                <a:spcPts val="0"/>
              </a:spcAft>
              <a:defRPr sz="1600" b="1">
                <a:solidFill>
                  <a:srgbClr val="FFB800"/>
                </a:solidFill>
                <a:latin typeface="Segoe UI"/>
              </a:defRPr>
            </a:pPr>
            <a:r>
              <a:t>JavaScript</a:t>
            </a:r>
          </a:p>
        </p:txBody>
      </p:sp>
      <p:sp>
        <p:nvSpPr>
          <p:cNvPr id="20" name="TextBox 19"/>
          <p:cNvSpPr txBox="1"/>
          <p:nvPr/>
        </p:nvSpPr>
        <p:spPr>
          <a:xfrm>
            <a:off x="6583680" y="2560320"/>
            <a:ext cx="2011680" cy="91440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Ngôn ngữ lập trình chính</a:t>
            </a:r>
            <a:br/>
            <a:r>
              <a:t>cho cả Frontend (React.js)</a:t>
            </a:r>
            <a:br/>
            <a:r>
              <a:t>và Backend (Node.js).</a:t>
            </a:r>
          </a:p>
        </p:txBody>
      </p:sp>
      <p:sp>
        <p:nvSpPr>
          <p:cNvPr id="21" name="Rounded Rectangle 20"/>
          <p:cNvSpPr/>
          <p:nvPr/>
        </p:nvSpPr>
        <p:spPr>
          <a:xfrm>
            <a:off x="9098280" y="1371600"/>
            <a:ext cx="2560320" cy="219456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372600" y="1600200"/>
            <a:ext cx="457200" cy="457200"/>
          </a:xfrm>
          <a:prstGeom prst="rect">
            <a:avLst/>
          </a:prstGeom>
          <a:noFill/>
        </p:spPr>
        <p:txBody>
          <a:bodyPr wrap="square">
            <a:spAutoFit/>
          </a:bodyPr>
          <a:lstStyle/>
          <a:p>
            <a:pPr algn="l">
              <a:spcBef>
                <a:spcPts val="0"/>
              </a:spcBef>
              <a:spcAft>
                <a:spcPts val="0"/>
              </a:spcAft>
              <a:defRPr sz="2400" b="0">
                <a:solidFill>
                  <a:srgbClr val="E5E5EA"/>
                </a:solidFill>
                <a:latin typeface="Segoe UI"/>
              </a:defRPr>
            </a:pPr>
            <a:r>
              <a:t>⚛️</a:t>
            </a:r>
          </a:p>
        </p:txBody>
      </p:sp>
      <p:sp>
        <p:nvSpPr>
          <p:cNvPr id="23" name="TextBox 22"/>
          <p:cNvSpPr txBox="1"/>
          <p:nvPr/>
        </p:nvSpPr>
        <p:spPr>
          <a:xfrm>
            <a:off x="9372600" y="2148840"/>
            <a:ext cx="2011680" cy="365760"/>
          </a:xfrm>
          <a:prstGeom prst="rect">
            <a:avLst/>
          </a:prstGeom>
          <a:noFill/>
        </p:spPr>
        <p:txBody>
          <a:bodyPr wrap="square">
            <a:spAutoFit/>
          </a:bodyPr>
          <a:lstStyle/>
          <a:p>
            <a:pPr algn="l">
              <a:spcBef>
                <a:spcPts val="0"/>
              </a:spcBef>
              <a:spcAft>
                <a:spcPts val="0"/>
              </a:spcAft>
              <a:defRPr sz="1600" b="1">
                <a:solidFill>
                  <a:srgbClr val="06B6D4"/>
                </a:solidFill>
                <a:latin typeface="Segoe UI"/>
              </a:defRPr>
            </a:pPr>
            <a:r>
              <a:t>JSX</a:t>
            </a:r>
          </a:p>
        </p:txBody>
      </p:sp>
      <p:sp>
        <p:nvSpPr>
          <p:cNvPr id="24" name="TextBox 23"/>
          <p:cNvSpPr txBox="1"/>
          <p:nvPr/>
        </p:nvSpPr>
        <p:spPr>
          <a:xfrm>
            <a:off x="9372600" y="2560320"/>
            <a:ext cx="2011680" cy="91440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Cú pháp mở rộng của JS</a:t>
            </a:r>
            <a:br/>
            <a:r>
              <a:t>trong React.js, kết hợp</a:t>
            </a:r>
            <a:br/>
            <a:r>
              <a:t>HTML trong JavaScript.</a:t>
            </a:r>
          </a:p>
        </p:txBody>
      </p:sp>
      <p:sp>
        <p:nvSpPr>
          <p:cNvPr id="25" name="TextBox 24"/>
          <p:cNvSpPr txBox="1"/>
          <p:nvPr/>
        </p:nvSpPr>
        <p:spPr>
          <a:xfrm>
            <a:off x="731520" y="3840480"/>
            <a:ext cx="4572000" cy="365760"/>
          </a:xfrm>
          <a:prstGeom prst="rect">
            <a:avLst/>
          </a:prstGeom>
          <a:noFill/>
        </p:spPr>
        <p:txBody>
          <a:bodyPr wrap="square">
            <a:spAutoFit/>
          </a:bodyPr>
          <a:lstStyle/>
          <a:p>
            <a:pPr algn="l">
              <a:spcBef>
                <a:spcPts val="0"/>
              </a:spcBef>
              <a:spcAft>
                <a:spcPts val="0"/>
              </a:spcAft>
              <a:defRPr sz="1300" b="1">
                <a:solidFill>
                  <a:srgbClr val="FFFFFF"/>
                </a:solidFill>
                <a:latin typeface="Segoe UI"/>
              </a:defRPr>
            </a:pPr>
            <a:r>
              <a:t>📦  THƯ VIỆN &amp; FRAMEWORK CHÍNH</a:t>
            </a:r>
          </a:p>
        </p:txBody>
      </p:sp>
      <p:sp>
        <p:nvSpPr>
          <p:cNvPr id="26" name="Rectangle 25"/>
          <p:cNvSpPr/>
          <p:nvPr/>
        </p:nvSpPr>
        <p:spPr>
          <a:xfrm>
            <a:off x="731520" y="4206240"/>
            <a:ext cx="1828800" cy="381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731520" y="4434840"/>
            <a:ext cx="2011680" cy="777240"/>
          </a:xfrm>
          <a:prstGeom prst="roundRect">
            <a:avLst>
              <a:gd name="adj" fmla="val 8000"/>
            </a:avLst>
          </a:prstGeom>
          <a:solidFill>
            <a:srgbClr val="222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68680" y="4526280"/>
            <a:ext cx="1737360" cy="320040"/>
          </a:xfrm>
          <a:prstGeom prst="rect">
            <a:avLst/>
          </a:prstGeom>
          <a:noFill/>
        </p:spPr>
        <p:txBody>
          <a:bodyPr wrap="square">
            <a:spAutoFit/>
          </a:bodyPr>
          <a:lstStyle/>
          <a:p>
            <a:pPr algn="l">
              <a:spcBef>
                <a:spcPts val="0"/>
              </a:spcBef>
              <a:spcAft>
                <a:spcPts val="0"/>
              </a:spcAft>
              <a:defRPr sz="1100" b="1">
                <a:solidFill>
                  <a:srgbClr val="06B6D4"/>
                </a:solidFill>
                <a:latin typeface="Segoe UI"/>
              </a:defRPr>
            </a:pPr>
            <a:r>
              <a:t>React.js 18</a:t>
            </a:r>
          </a:p>
        </p:txBody>
      </p:sp>
      <p:sp>
        <p:nvSpPr>
          <p:cNvPr id="29" name="TextBox 28"/>
          <p:cNvSpPr txBox="1"/>
          <p:nvPr/>
        </p:nvSpPr>
        <p:spPr>
          <a:xfrm>
            <a:off x="868680" y="4846320"/>
            <a:ext cx="1737360" cy="320040"/>
          </a:xfrm>
          <a:prstGeom prst="rect">
            <a:avLst/>
          </a:prstGeom>
          <a:noFill/>
        </p:spPr>
        <p:txBody>
          <a:bodyPr wrap="square">
            <a:spAutoFit/>
          </a:bodyPr>
          <a:lstStyle/>
          <a:p>
            <a:pPr algn="l">
              <a:spcBef>
                <a:spcPts val="0"/>
              </a:spcBef>
              <a:spcAft>
                <a:spcPts val="0"/>
              </a:spcAft>
              <a:defRPr sz="800" b="0">
                <a:solidFill>
                  <a:srgbClr val="9C9CA8"/>
                </a:solidFill>
                <a:latin typeface="Segoe UI"/>
              </a:defRPr>
            </a:pPr>
            <a:r>
              <a:t>Frontend SPA Framework</a:t>
            </a:r>
          </a:p>
        </p:txBody>
      </p:sp>
      <p:sp>
        <p:nvSpPr>
          <p:cNvPr id="30" name="Rounded Rectangle 29"/>
          <p:cNvSpPr/>
          <p:nvPr/>
        </p:nvSpPr>
        <p:spPr>
          <a:xfrm>
            <a:off x="2944368" y="4434840"/>
            <a:ext cx="2011680" cy="777240"/>
          </a:xfrm>
          <a:prstGeom prst="roundRect">
            <a:avLst>
              <a:gd name="adj" fmla="val 8000"/>
            </a:avLst>
          </a:prstGeom>
          <a:solidFill>
            <a:srgbClr val="222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081528" y="4526280"/>
            <a:ext cx="1737360" cy="320040"/>
          </a:xfrm>
          <a:prstGeom prst="rect">
            <a:avLst/>
          </a:prstGeom>
          <a:noFill/>
        </p:spPr>
        <p:txBody>
          <a:bodyPr wrap="square">
            <a:spAutoFit/>
          </a:bodyPr>
          <a:lstStyle/>
          <a:p>
            <a:pPr algn="l">
              <a:spcBef>
                <a:spcPts val="0"/>
              </a:spcBef>
              <a:spcAft>
                <a:spcPts val="0"/>
              </a:spcAft>
              <a:defRPr sz="1100" b="1">
                <a:solidFill>
                  <a:srgbClr val="A78BFA"/>
                </a:solidFill>
                <a:latin typeface="Segoe UI"/>
              </a:defRPr>
            </a:pPr>
            <a:r>
              <a:t>Redux Toolkit</a:t>
            </a:r>
          </a:p>
        </p:txBody>
      </p:sp>
      <p:sp>
        <p:nvSpPr>
          <p:cNvPr id="32" name="TextBox 31"/>
          <p:cNvSpPr txBox="1"/>
          <p:nvPr/>
        </p:nvSpPr>
        <p:spPr>
          <a:xfrm>
            <a:off x="3081528" y="4846320"/>
            <a:ext cx="1737360" cy="320040"/>
          </a:xfrm>
          <a:prstGeom prst="rect">
            <a:avLst/>
          </a:prstGeom>
          <a:noFill/>
        </p:spPr>
        <p:txBody>
          <a:bodyPr wrap="square">
            <a:spAutoFit/>
          </a:bodyPr>
          <a:lstStyle/>
          <a:p>
            <a:pPr algn="l">
              <a:spcBef>
                <a:spcPts val="0"/>
              </a:spcBef>
              <a:spcAft>
                <a:spcPts val="0"/>
              </a:spcAft>
              <a:defRPr sz="800" b="0">
                <a:solidFill>
                  <a:srgbClr val="9C9CA8"/>
                </a:solidFill>
                <a:latin typeface="Segoe UI"/>
              </a:defRPr>
            </a:pPr>
            <a:r>
              <a:t>State Management</a:t>
            </a:r>
          </a:p>
        </p:txBody>
      </p:sp>
      <p:sp>
        <p:nvSpPr>
          <p:cNvPr id="33" name="Rounded Rectangle 32"/>
          <p:cNvSpPr/>
          <p:nvPr/>
        </p:nvSpPr>
        <p:spPr>
          <a:xfrm>
            <a:off x="5157216" y="4434840"/>
            <a:ext cx="2011680" cy="777240"/>
          </a:xfrm>
          <a:prstGeom prst="roundRect">
            <a:avLst>
              <a:gd name="adj" fmla="val 8000"/>
            </a:avLst>
          </a:prstGeom>
          <a:solidFill>
            <a:srgbClr val="222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294376" y="4526280"/>
            <a:ext cx="1737360" cy="320040"/>
          </a:xfrm>
          <a:prstGeom prst="rect">
            <a:avLst/>
          </a:prstGeom>
          <a:noFill/>
        </p:spPr>
        <p:txBody>
          <a:bodyPr wrap="square">
            <a:spAutoFit/>
          </a:bodyPr>
          <a:lstStyle/>
          <a:p>
            <a:pPr algn="l">
              <a:spcBef>
                <a:spcPts val="0"/>
              </a:spcBef>
              <a:spcAft>
                <a:spcPts val="0"/>
              </a:spcAft>
              <a:defRPr sz="1100" b="1">
                <a:solidFill>
                  <a:srgbClr val="FF6B00"/>
                </a:solidFill>
                <a:latin typeface="Segoe UI"/>
              </a:defRPr>
            </a:pPr>
            <a:r>
              <a:t>Framer Motion</a:t>
            </a:r>
          </a:p>
        </p:txBody>
      </p:sp>
      <p:sp>
        <p:nvSpPr>
          <p:cNvPr id="35" name="TextBox 34"/>
          <p:cNvSpPr txBox="1"/>
          <p:nvPr/>
        </p:nvSpPr>
        <p:spPr>
          <a:xfrm>
            <a:off x="5294376" y="4846320"/>
            <a:ext cx="1737360" cy="320040"/>
          </a:xfrm>
          <a:prstGeom prst="rect">
            <a:avLst/>
          </a:prstGeom>
          <a:noFill/>
        </p:spPr>
        <p:txBody>
          <a:bodyPr wrap="square">
            <a:spAutoFit/>
          </a:bodyPr>
          <a:lstStyle/>
          <a:p>
            <a:pPr algn="l">
              <a:spcBef>
                <a:spcPts val="0"/>
              </a:spcBef>
              <a:spcAft>
                <a:spcPts val="0"/>
              </a:spcAft>
              <a:defRPr sz="800" b="0">
                <a:solidFill>
                  <a:srgbClr val="9C9CA8"/>
                </a:solidFill>
                <a:latin typeface="Segoe UI"/>
              </a:defRPr>
            </a:pPr>
            <a:r>
              <a:t>Animation Library</a:t>
            </a:r>
          </a:p>
        </p:txBody>
      </p:sp>
      <p:sp>
        <p:nvSpPr>
          <p:cNvPr id="36" name="Rounded Rectangle 35"/>
          <p:cNvSpPr/>
          <p:nvPr/>
        </p:nvSpPr>
        <p:spPr>
          <a:xfrm>
            <a:off x="7370064" y="4434840"/>
            <a:ext cx="2011680" cy="777240"/>
          </a:xfrm>
          <a:prstGeom prst="roundRect">
            <a:avLst>
              <a:gd name="adj" fmla="val 8000"/>
            </a:avLst>
          </a:prstGeom>
          <a:solidFill>
            <a:srgbClr val="222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507224" y="4526280"/>
            <a:ext cx="1737360" cy="320040"/>
          </a:xfrm>
          <a:prstGeom prst="rect">
            <a:avLst/>
          </a:prstGeom>
          <a:noFill/>
        </p:spPr>
        <p:txBody>
          <a:bodyPr wrap="square">
            <a:spAutoFit/>
          </a:bodyPr>
          <a:lstStyle/>
          <a:p>
            <a:pPr algn="l">
              <a:spcBef>
                <a:spcPts val="0"/>
              </a:spcBef>
              <a:spcAft>
                <a:spcPts val="0"/>
              </a:spcAft>
              <a:defRPr sz="1100" b="1">
                <a:solidFill>
                  <a:srgbClr val="EF4444"/>
                </a:solidFill>
                <a:latin typeface="Segoe UI"/>
              </a:defRPr>
            </a:pPr>
            <a:r>
              <a:t>React Router v6</a:t>
            </a:r>
          </a:p>
        </p:txBody>
      </p:sp>
      <p:sp>
        <p:nvSpPr>
          <p:cNvPr id="38" name="TextBox 37"/>
          <p:cNvSpPr txBox="1"/>
          <p:nvPr/>
        </p:nvSpPr>
        <p:spPr>
          <a:xfrm>
            <a:off x="7507224" y="4846320"/>
            <a:ext cx="1737360" cy="320040"/>
          </a:xfrm>
          <a:prstGeom prst="rect">
            <a:avLst/>
          </a:prstGeom>
          <a:noFill/>
        </p:spPr>
        <p:txBody>
          <a:bodyPr wrap="square">
            <a:spAutoFit/>
          </a:bodyPr>
          <a:lstStyle/>
          <a:p>
            <a:pPr algn="l">
              <a:spcBef>
                <a:spcPts val="0"/>
              </a:spcBef>
              <a:spcAft>
                <a:spcPts val="0"/>
              </a:spcAft>
              <a:defRPr sz="800" b="0">
                <a:solidFill>
                  <a:srgbClr val="9C9CA8"/>
                </a:solidFill>
                <a:latin typeface="Segoe UI"/>
              </a:defRPr>
            </a:pPr>
            <a:r>
              <a:t>Client-side Routing</a:t>
            </a:r>
          </a:p>
        </p:txBody>
      </p:sp>
      <p:sp>
        <p:nvSpPr>
          <p:cNvPr id="39" name="Rounded Rectangle 38"/>
          <p:cNvSpPr/>
          <p:nvPr/>
        </p:nvSpPr>
        <p:spPr>
          <a:xfrm>
            <a:off x="9582912" y="4434840"/>
            <a:ext cx="2011680" cy="777240"/>
          </a:xfrm>
          <a:prstGeom prst="roundRect">
            <a:avLst>
              <a:gd name="adj" fmla="val 8000"/>
            </a:avLst>
          </a:prstGeom>
          <a:solidFill>
            <a:srgbClr val="222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720072" y="4526280"/>
            <a:ext cx="1737360" cy="320040"/>
          </a:xfrm>
          <a:prstGeom prst="rect">
            <a:avLst/>
          </a:prstGeom>
          <a:noFill/>
        </p:spPr>
        <p:txBody>
          <a:bodyPr wrap="square">
            <a:spAutoFit/>
          </a:bodyPr>
          <a:lstStyle/>
          <a:p>
            <a:pPr algn="l">
              <a:spcBef>
                <a:spcPts val="0"/>
              </a:spcBef>
              <a:spcAft>
                <a:spcPts val="0"/>
              </a:spcAft>
              <a:defRPr sz="1100" b="1">
                <a:solidFill>
                  <a:srgbClr val="10B981"/>
                </a:solidFill>
                <a:latin typeface="Segoe UI"/>
              </a:defRPr>
            </a:pPr>
            <a:r>
              <a:t>Node.js</a:t>
            </a:r>
          </a:p>
        </p:txBody>
      </p:sp>
      <p:sp>
        <p:nvSpPr>
          <p:cNvPr id="41" name="TextBox 40"/>
          <p:cNvSpPr txBox="1"/>
          <p:nvPr/>
        </p:nvSpPr>
        <p:spPr>
          <a:xfrm>
            <a:off x="9720072" y="4846320"/>
            <a:ext cx="1737360" cy="320040"/>
          </a:xfrm>
          <a:prstGeom prst="rect">
            <a:avLst/>
          </a:prstGeom>
          <a:noFill/>
        </p:spPr>
        <p:txBody>
          <a:bodyPr wrap="square">
            <a:spAutoFit/>
          </a:bodyPr>
          <a:lstStyle/>
          <a:p>
            <a:pPr algn="l">
              <a:spcBef>
                <a:spcPts val="0"/>
              </a:spcBef>
              <a:spcAft>
                <a:spcPts val="0"/>
              </a:spcAft>
              <a:defRPr sz="800" b="0">
                <a:solidFill>
                  <a:srgbClr val="9C9CA8"/>
                </a:solidFill>
                <a:latin typeface="Segoe UI"/>
              </a:defRPr>
            </a:pPr>
            <a:r>
              <a:t>Backend Runtime</a:t>
            </a:r>
          </a:p>
        </p:txBody>
      </p:sp>
      <p:sp>
        <p:nvSpPr>
          <p:cNvPr id="42" name="Rounded Rectangle 41"/>
          <p:cNvSpPr/>
          <p:nvPr/>
        </p:nvSpPr>
        <p:spPr>
          <a:xfrm>
            <a:off x="731520" y="5440680"/>
            <a:ext cx="2011680" cy="777240"/>
          </a:xfrm>
          <a:prstGeom prst="roundRect">
            <a:avLst>
              <a:gd name="adj" fmla="val 8000"/>
            </a:avLst>
          </a:prstGeom>
          <a:solidFill>
            <a:srgbClr val="222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68680" y="5532120"/>
            <a:ext cx="1737360" cy="320040"/>
          </a:xfrm>
          <a:prstGeom prst="rect">
            <a:avLst/>
          </a:prstGeom>
          <a:noFill/>
        </p:spPr>
        <p:txBody>
          <a:bodyPr wrap="square">
            <a:spAutoFit/>
          </a:bodyPr>
          <a:lstStyle/>
          <a:p>
            <a:pPr algn="l">
              <a:spcBef>
                <a:spcPts val="0"/>
              </a:spcBef>
              <a:spcAft>
                <a:spcPts val="0"/>
              </a:spcAft>
              <a:defRPr sz="1100" b="1">
                <a:solidFill>
                  <a:srgbClr val="9C9CA8"/>
                </a:solidFill>
                <a:latin typeface="Segoe UI"/>
              </a:defRPr>
            </a:pPr>
            <a:r>
              <a:t>Express.js</a:t>
            </a:r>
          </a:p>
        </p:txBody>
      </p:sp>
      <p:sp>
        <p:nvSpPr>
          <p:cNvPr id="44" name="TextBox 43"/>
          <p:cNvSpPr txBox="1"/>
          <p:nvPr/>
        </p:nvSpPr>
        <p:spPr>
          <a:xfrm>
            <a:off x="868680" y="5852160"/>
            <a:ext cx="1737360" cy="320040"/>
          </a:xfrm>
          <a:prstGeom prst="rect">
            <a:avLst/>
          </a:prstGeom>
          <a:noFill/>
        </p:spPr>
        <p:txBody>
          <a:bodyPr wrap="square">
            <a:spAutoFit/>
          </a:bodyPr>
          <a:lstStyle/>
          <a:p>
            <a:pPr algn="l">
              <a:spcBef>
                <a:spcPts val="0"/>
              </a:spcBef>
              <a:spcAft>
                <a:spcPts val="0"/>
              </a:spcAft>
              <a:defRPr sz="800" b="0">
                <a:solidFill>
                  <a:srgbClr val="9C9CA8"/>
                </a:solidFill>
                <a:latin typeface="Segoe UI"/>
              </a:defRPr>
            </a:pPr>
            <a:r>
              <a:t>REST API Framework</a:t>
            </a:r>
          </a:p>
        </p:txBody>
      </p:sp>
      <p:sp>
        <p:nvSpPr>
          <p:cNvPr id="45" name="Rounded Rectangle 44"/>
          <p:cNvSpPr/>
          <p:nvPr/>
        </p:nvSpPr>
        <p:spPr>
          <a:xfrm>
            <a:off x="2944368" y="5440680"/>
            <a:ext cx="2011680" cy="777240"/>
          </a:xfrm>
          <a:prstGeom prst="roundRect">
            <a:avLst>
              <a:gd name="adj" fmla="val 8000"/>
            </a:avLst>
          </a:prstGeom>
          <a:solidFill>
            <a:srgbClr val="222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081528" y="5532120"/>
            <a:ext cx="1737360" cy="320040"/>
          </a:xfrm>
          <a:prstGeom prst="rect">
            <a:avLst/>
          </a:prstGeom>
          <a:noFill/>
        </p:spPr>
        <p:txBody>
          <a:bodyPr wrap="square">
            <a:spAutoFit/>
          </a:bodyPr>
          <a:lstStyle/>
          <a:p>
            <a:pPr algn="l">
              <a:spcBef>
                <a:spcPts val="0"/>
              </a:spcBef>
              <a:spcAft>
                <a:spcPts val="0"/>
              </a:spcAft>
              <a:defRPr sz="1100" b="1">
                <a:solidFill>
                  <a:srgbClr val="10B981"/>
                </a:solidFill>
                <a:latin typeface="Segoe UI"/>
              </a:defRPr>
            </a:pPr>
            <a:r>
              <a:t>Mongoose</a:t>
            </a:r>
          </a:p>
        </p:txBody>
      </p:sp>
      <p:sp>
        <p:nvSpPr>
          <p:cNvPr id="47" name="TextBox 46"/>
          <p:cNvSpPr txBox="1"/>
          <p:nvPr/>
        </p:nvSpPr>
        <p:spPr>
          <a:xfrm>
            <a:off x="3081528" y="5852160"/>
            <a:ext cx="1737360" cy="320040"/>
          </a:xfrm>
          <a:prstGeom prst="rect">
            <a:avLst/>
          </a:prstGeom>
          <a:noFill/>
        </p:spPr>
        <p:txBody>
          <a:bodyPr wrap="square">
            <a:spAutoFit/>
          </a:bodyPr>
          <a:lstStyle/>
          <a:p>
            <a:pPr algn="l">
              <a:spcBef>
                <a:spcPts val="0"/>
              </a:spcBef>
              <a:spcAft>
                <a:spcPts val="0"/>
              </a:spcAft>
              <a:defRPr sz="800" b="0">
                <a:solidFill>
                  <a:srgbClr val="9C9CA8"/>
                </a:solidFill>
                <a:latin typeface="Segoe UI"/>
              </a:defRPr>
            </a:pPr>
            <a:r>
              <a:t>MongoDB ODM</a:t>
            </a:r>
          </a:p>
        </p:txBody>
      </p:sp>
      <p:sp>
        <p:nvSpPr>
          <p:cNvPr id="48" name="Rounded Rectangle 47"/>
          <p:cNvSpPr/>
          <p:nvPr/>
        </p:nvSpPr>
        <p:spPr>
          <a:xfrm>
            <a:off x="5157216" y="5440680"/>
            <a:ext cx="2011680" cy="777240"/>
          </a:xfrm>
          <a:prstGeom prst="roundRect">
            <a:avLst>
              <a:gd name="adj" fmla="val 8000"/>
            </a:avLst>
          </a:prstGeom>
          <a:solidFill>
            <a:srgbClr val="222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294376" y="5532120"/>
            <a:ext cx="1737360" cy="320040"/>
          </a:xfrm>
          <a:prstGeom prst="rect">
            <a:avLst/>
          </a:prstGeom>
          <a:noFill/>
        </p:spPr>
        <p:txBody>
          <a:bodyPr wrap="square">
            <a:spAutoFit/>
          </a:bodyPr>
          <a:lstStyle/>
          <a:p>
            <a:pPr algn="l">
              <a:spcBef>
                <a:spcPts val="0"/>
              </a:spcBef>
              <a:spcAft>
                <a:spcPts val="0"/>
              </a:spcAft>
              <a:defRPr sz="1100" b="1">
                <a:solidFill>
                  <a:srgbClr val="388BFC"/>
                </a:solidFill>
                <a:latin typeface="Segoe UI"/>
              </a:defRPr>
            </a:pPr>
            <a:r>
              <a:t>Socket.IO</a:t>
            </a:r>
          </a:p>
        </p:txBody>
      </p:sp>
      <p:sp>
        <p:nvSpPr>
          <p:cNvPr id="50" name="TextBox 49"/>
          <p:cNvSpPr txBox="1"/>
          <p:nvPr/>
        </p:nvSpPr>
        <p:spPr>
          <a:xfrm>
            <a:off x="5294376" y="5852160"/>
            <a:ext cx="1737360" cy="320040"/>
          </a:xfrm>
          <a:prstGeom prst="rect">
            <a:avLst/>
          </a:prstGeom>
          <a:noFill/>
        </p:spPr>
        <p:txBody>
          <a:bodyPr wrap="square">
            <a:spAutoFit/>
          </a:bodyPr>
          <a:lstStyle/>
          <a:p>
            <a:pPr algn="l">
              <a:spcBef>
                <a:spcPts val="0"/>
              </a:spcBef>
              <a:spcAft>
                <a:spcPts val="0"/>
              </a:spcAft>
              <a:defRPr sz="800" b="0">
                <a:solidFill>
                  <a:srgbClr val="9C9CA8"/>
                </a:solidFill>
                <a:latin typeface="Segoe UI"/>
              </a:defRPr>
            </a:pPr>
            <a:r>
              <a:t>WebSocket Realtime</a:t>
            </a:r>
          </a:p>
        </p:txBody>
      </p:sp>
      <p:sp>
        <p:nvSpPr>
          <p:cNvPr id="51" name="Rounded Rectangle 50"/>
          <p:cNvSpPr/>
          <p:nvPr/>
        </p:nvSpPr>
        <p:spPr>
          <a:xfrm>
            <a:off x="7370064" y="5440680"/>
            <a:ext cx="2011680" cy="777240"/>
          </a:xfrm>
          <a:prstGeom prst="roundRect">
            <a:avLst>
              <a:gd name="adj" fmla="val 8000"/>
            </a:avLst>
          </a:prstGeom>
          <a:solidFill>
            <a:srgbClr val="222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507224" y="5532120"/>
            <a:ext cx="1737360" cy="320040"/>
          </a:xfrm>
          <a:prstGeom prst="rect">
            <a:avLst/>
          </a:prstGeom>
          <a:noFill/>
        </p:spPr>
        <p:txBody>
          <a:bodyPr wrap="square">
            <a:spAutoFit/>
          </a:bodyPr>
          <a:lstStyle/>
          <a:p>
            <a:pPr algn="l">
              <a:spcBef>
                <a:spcPts val="0"/>
              </a:spcBef>
              <a:spcAft>
                <a:spcPts val="0"/>
              </a:spcAft>
              <a:defRPr sz="1100" b="1">
                <a:solidFill>
                  <a:srgbClr val="06B6D4"/>
                </a:solidFill>
                <a:latin typeface="Segoe UI"/>
              </a:defRPr>
            </a:pPr>
            <a:r>
              <a:t>TailwindCSS</a:t>
            </a:r>
          </a:p>
        </p:txBody>
      </p:sp>
      <p:sp>
        <p:nvSpPr>
          <p:cNvPr id="53" name="TextBox 52"/>
          <p:cNvSpPr txBox="1"/>
          <p:nvPr/>
        </p:nvSpPr>
        <p:spPr>
          <a:xfrm>
            <a:off x="7507224" y="5852160"/>
            <a:ext cx="1737360" cy="320040"/>
          </a:xfrm>
          <a:prstGeom prst="rect">
            <a:avLst/>
          </a:prstGeom>
          <a:noFill/>
        </p:spPr>
        <p:txBody>
          <a:bodyPr wrap="square">
            <a:spAutoFit/>
          </a:bodyPr>
          <a:lstStyle/>
          <a:p>
            <a:pPr algn="l">
              <a:spcBef>
                <a:spcPts val="0"/>
              </a:spcBef>
              <a:spcAft>
                <a:spcPts val="0"/>
              </a:spcAft>
              <a:defRPr sz="800" b="0">
                <a:solidFill>
                  <a:srgbClr val="9C9CA8"/>
                </a:solidFill>
                <a:latin typeface="Segoe UI"/>
              </a:defRPr>
            </a:pPr>
            <a:r>
              <a:t>Utility-first CSS</a:t>
            </a:r>
          </a:p>
        </p:txBody>
      </p:sp>
      <p:sp>
        <p:nvSpPr>
          <p:cNvPr id="54" name="Rounded Rectangle 53"/>
          <p:cNvSpPr/>
          <p:nvPr/>
        </p:nvSpPr>
        <p:spPr>
          <a:xfrm>
            <a:off x="9582912" y="5440680"/>
            <a:ext cx="2011680" cy="777240"/>
          </a:xfrm>
          <a:prstGeom prst="roundRect">
            <a:avLst>
              <a:gd name="adj" fmla="val 8000"/>
            </a:avLst>
          </a:prstGeom>
          <a:solidFill>
            <a:srgbClr val="222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9720072" y="5532120"/>
            <a:ext cx="1737360" cy="320040"/>
          </a:xfrm>
          <a:prstGeom prst="rect">
            <a:avLst/>
          </a:prstGeom>
          <a:noFill/>
        </p:spPr>
        <p:txBody>
          <a:bodyPr wrap="square">
            <a:spAutoFit/>
          </a:bodyPr>
          <a:lstStyle/>
          <a:p>
            <a:pPr algn="l">
              <a:spcBef>
                <a:spcPts val="0"/>
              </a:spcBef>
              <a:spcAft>
                <a:spcPts val="0"/>
              </a:spcAft>
              <a:defRPr sz="1100" b="1">
                <a:solidFill>
                  <a:srgbClr val="FFB800"/>
                </a:solidFill>
                <a:latin typeface="Segoe UI"/>
              </a:defRPr>
            </a:pPr>
            <a:r>
              <a:t>Recharts</a:t>
            </a:r>
          </a:p>
        </p:txBody>
      </p:sp>
      <p:sp>
        <p:nvSpPr>
          <p:cNvPr id="56" name="TextBox 55"/>
          <p:cNvSpPr txBox="1"/>
          <p:nvPr/>
        </p:nvSpPr>
        <p:spPr>
          <a:xfrm>
            <a:off x="9720072" y="5852160"/>
            <a:ext cx="1737360" cy="320040"/>
          </a:xfrm>
          <a:prstGeom prst="rect">
            <a:avLst/>
          </a:prstGeom>
          <a:noFill/>
        </p:spPr>
        <p:txBody>
          <a:bodyPr wrap="square">
            <a:spAutoFit/>
          </a:bodyPr>
          <a:lstStyle/>
          <a:p>
            <a:pPr algn="l">
              <a:spcBef>
                <a:spcPts val="0"/>
              </a:spcBef>
              <a:spcAft>
                <a:spcPts val="0"/>
              </a:spcAft>
              <a:defRPr sz="800" b="0">
                <a:solidFill>
                  <a:srgbClr val="9C9CA8"/>
                </a:solidFill>
                <a:latin typeface="Segoe UI"/>
              </a:defRPr>
            </a:pPr>
            <a:r>
              <a:t>Data Visualization</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0F14"/>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731520" cy="457200"/>
          </a:xfrm>
          <a:prstGeom prst="rect">
            <a:avLst/>
          </a:prstGeom>
          <a:noFill/>
        </p:spPr>
        <p:txBody>
          <a:bodyPr wrap="square">
            <a:spAutoFit/>
          </a:bodyPr>
          <a:lstStyle/>
          <a:p>
            <a:pPr algn="l">
              <a:spcBef>
                <a:spcPts val="0"/>
              </a:spcBef>
              <a:spcAft>
                <a:spcPts val="0"/>
              </a:spcAft>
              <a:defRPr sz="1400" b="1">
                <a:solidFill>
                  <a:srgbClr val="FF6B00"/>
                </a:solidFill>
                <a:latin typeface="Segoe UI Black"/>
              </a:defRPr>
            </a:pPr>
            <a:r>
              <a:t>02</a:t>
            </a:r>
          </a:p>
        </p:txBody>
      </p:sp>
      <p:sp>
        <p:nvSpPr>
          <p:cNvPr id="4" name="TextBox 3"/>
          <p:cNvSpPr txBox="1"/>
          <p:nvPr/>
        </p:nvSpPr>
        <p:spPr>
          <a:xfrm>
            <a:off x="1234440" y="320040"/>
            <a:ext cx="274320" cy="457200"/>
          </a:xfrm>
          <a:prstGeom prst="rect">
            <a:avLst/>
          </a:prstGeom>
          <a:noFill/>
        </p:spPr>
        <p:txBody>
          <a:bodyPr wrap="square">
            <a:spAutoFit/>
          </a:bodyPr>
          <a:lstStyle/>
          <a:p>
            <a:pPr algn="l">
              <a:spcBef>
                <a:spcPts val="0"/>
              </a:spcBef>
              <a:spcAft>
                <a:spcPts val="0"/>
              </a:spcAft>
              <a:defRPr sz="1400" b="1">
                <a:solidFill>
                  <a:srgbClr val="9C9CA8"/>
                </a:solidFill>
                <a:latin typeface="Segoe UI"/>
              </a:defRPr>
            </a:pPr>
            <a:r>
              <a:t>—</a:t>
            </a:r>
          </a:p>
        </p:txBody>
      </p:sp>
      <p:sp>
        <p:nvSpPr>
          <p:cNvPr id="5" name="TextBox 4"/>
          <p:cNvSpPr txBox="1"/>
          <p:nvPr/>
        </p:nvSpPr>
        <p:spPr>
          <a:xfrm>
            <a:off x="1508760" y="274320"/>
            <a:ext cx="7315200" cy="502920"/>
          </a:xfrm>
          <a:prstGeom prst="rect">
            <a:avLst/>
          </a:prstGeom>
          <a:noFill/>
        </p:spPr>
        <p:txBody>
          <a:bodyPr wrap="square">
            <a:spAutoFit/>
          </a:bodyPr>
          <a:lstStyle/>
          <a:p>
            <a:pPr algn="l">
              <a:spcBef>
                <a:spcPts val="0"/>
              </a:spcBef>
              <a:spcAft>
                <a:spcPts val="0"/>
              </a:spcAft>
              <a:defRPr sz="1500" b="1">
                <a:solidFill>
                  <a:srgbClr val="FFFFFF"/>
                </a:solidFill>
                <a:latin typeface="Segoe UI Semibold"/>
              </a:defRPr>
            </a:pPr>
            <a:r>
              <a:t>CÔNG CỤ HỖ TRỢ PHÁT TRIỂN</a:t>
            </a:r>
          </a:p>
        </p:txBody>
      </p:sp>
      <p:sp>
        <p:nvSpPr>
          <p:cNvPr id="6" name="TextBox 5"/>
          <p:cNvSpPr txBox="1"/>
          <p:nvPr/>
        </p:nvSpPr>
        <p:spPr>
          <a:xfrm>
            <a:off x="1508760" y="640080"/>
            <a:ext cx="7315200" cy="36576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Cơ sở lý thuyết</a:t>
            </a:r>
          </a:p>
        </p:txBody>
      </p:sp>
      <p:sp>
        <p:nvSpPr>
          <p:cNvPr id="7" name="TextBox 6"/>
          <p:cNvSpPr txBox="1"/>
          <p:nvPr/>
        </p:nvSpPr>
        <p:spPr>
          <a:xfrm>
            <a:off x="10058400" y="320040"/>
            <a:ext cx="1828800" cy="365760"/>
          </a:xfrm>
          <a:prstGeom prst="rect">
            <a:avLst/>
          </a:prstGeom>
          <a:noFill/>
        </p:spPr>
        <p:txBody>
          <a:bodyPr wrap="square">
            <a:spAutoFit/>
          </a:bodyPr>
          <a:lstStyle/>
          <a:p>
            <a:pPr algn="r">
              <a:spcBef>
                <a:spcPts val="0"/>
              </a:spcBef>
              <a:spcAft>
                <a:spcPts val="0"/>
              </a:spcAft>
              <a:defRPr sz="1100" b="1">
                <a:solidFill>
                  <a:srgbClr val="FF6B00"/>
                </a:solidFill>
                <a:latin typeface="Segoe UI"/>
              </a:defRPr>
            </a:pPr>
            <a:r>
              <a:t>🍽️ FoodServe</a:t>
            </a:r>
          </a:p>
        </p:txBody>
      </p:sp>
      <p:sp>
        <p:nvSpPr>
          <p:cNvPr id="8" name="Rectangle 7"/>
          <p:cNvSpPr/>
          <p:nvPr/>
        </p:nvSpPr>
        <p:spPr>
          <a:xfrm>
            <a:off x="731520" y="1005840"/>
            <a:ext cx="10698480" cy="12700"/>
          </a:xfrm>
          <a:prstGeom prst="rect">
            <a:avLst/>
          </a:prstGeom>
          <a:solidFill>
            <a:srgbClr val="2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31520" y="1371600"/>
            <a:ext cx="3429000" cy="233172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005840" y="1645920"/>
            <a:ext cx="502920" cy="502920"/>
          </a:xfrm>
          <a:prstGeom prst="ellipse">
            <a:avLst/>
          </a:prstGeom>
          <a:solidFill>
            <a:srgbClr val="388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1627632"/>
            <a:ext cx="502920" cy="502920"/>
          </a:xfrm>
          <a:prstGeom prst="rect">
            <a:avLst/>
          </a:prstGeom>
          <a:noFill/>
        </p:spPr>
        <p:txBody>
          <a:bodyPr wrap="square">
            <a:spAutoFit/>
          </a:bodyPr>
          <a:lstStyle/>
          <a:p>
            <a:pPr algn="ctr">
              <a:spcBef>
                <a:spcPts val="0"/>
              </a:spcBef>
              <a:spcAft>
                <a:spcPts val="0"/>
              </a:spcAft>
              <a:defRPr sz="1800" b="1">
                <a:solidFill>
                  <a:srgbClr val="FFFFFF"/>
                </a:solidFill>
                <a:latin typeface="Segoe UI"/>
              </a:defRPr>
            </a:pPr>
            <a:r>
              <a:t>💻</a:t>
            </a:r>
          </a:p>
        </p:txBody>
      </p:sp>
      <p:sp>
        <p:nvSpPr>
          <p:cNvPr id="12" name="TextBox 11"/>
          <p:cNvSpPr txBox="1"/>
          <p:nvPr/>
        </p:nvSpPr>
        <p:spPr>
          <a:xfrm>
            <a:off x="1005840" y="2286000"/>
            <a:ext cx="2880360" cy="365760"/>
          </a:xfrm>
          <a:prstGeom prst="rect">
            <a:avLst/>
          </a:prstGeom>
          <a:noFill/>
        </p:spPr>
        <p:txBody>
          <a:bodyPr wrap="square">
            <a:spAutoFit/>
          </a:bodyPr>
          <a:lstStyle/>
          <a:p>
            <a:pPr algn="l">
              <a:spcBef>
                <a:spcPts val="0"/>
              </a:spcBef>
              <a:spcAft>
                <a:spcPts val="0"/>
              </a:spcAft>
              <a:defRPr sz="1300" b="1">
                <a:solidFill>
                  <a:srgbClr val="FFFFFF"/>
                </a:solidFill>
                <a:latin typeface="Segoe UI"/>
              </a:defRPr>
            </a:pPr>
            <a:r>
              <a:t>Visual Studio Code</a:t>
            </a:r>
          </a:p>
        </p:txBody>
      </p:sp>
      <p:sp>
        <p:nvSpPr>
          <p:cNvPr id="13" name="TextBox 12"/>
          <p:cNvSpPr txBox="1"/>
          <p:nvPr/>
        </p:nvSpPr>
        <p:spPr>
          <a:xfrm>
            <a:off x="1005840" y="2606040"/>
            <a:ext cx="2880360" cy="96012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Code editor chính, hỗ trợ IntelliSense,</a:t>
            </a:r>
            <a:br/>
            <a:r>
              <a:t>Git integration, terminal tích hợp,</a:t>
            </a:r>
            <a:br/>
            <a:r>
              <a:t>hệ sinh thái extension phong phú.</a:t>
            </a:r>
          </a:p>
        </p:txBody>
      </p:sp>
      <p:sp>
        <p:nvSpPr>
          <p:cNvPr id="14" name="Rounded Rectangle 13"/>
          <p:cNvSpPr/>
          <p:nvPr/>
        </p:nvSpPr>
        <p:spPr>
          <a:xfrm>
            <a:off x="4434840" y="1371600"/>
            <a:ext cx="3429000" cy="233172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4709160" y="1645920"/>
            <a:ext cx="502920" cy="50292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709160" y="1627632"/>
            <a:ext cx="502920" cy="502920"/>
          </a:xfrm>
          <a:prstGeom prst="rect">
            <a:avLst/>
          </a:prstGeom>
          <a:noFill/>
        </p:spPr>
        <p:txBody>
          <a:bodyPr wrap="square">
            <a:spAutoFit/>
          </a:bodyPr>
          <a:lstStyle/>
          <a:p>
            <a:pPr algn="ctr">
              <a:spcBef>
                <a:spcPts val="0"/>
              </a:spcBef>
              <a:spcAft>
                <a:spcPts val="0"/>
              </a:spcAft>
              <a:defRPr sz="1800" b="1">
                <a:solidFill>
                  <a:srgbClr val="FFFFFF"/>
                </a:solidFill>
                <a:latin typeface="Segoe UI"/>
              </a:defRPr>
            </a:pPr>
            <a:r>
              <a:t>🌿</a:t>
            </a:r>
          </a:p>
        </p:txBody>
      </p:sp>
      <p:sp>
        <p:nvSpPr>
          <p:cNvPr id="17" name="TextBox 16"/>
          <p:cNvSpPr txBox="1"/>
          <p:nvPr/>
        </p:nvSpPr>
        <p:spPr>
          <a:xfrm>
            <a:off x="4709160" y="2286000"/>
            <a:ext cx="2880360" cy="365760"/>
          </a:xfrm>
          <a:prstGeom prst="rect">
            <a:avLst/>
          </a:prstGeom>
          <a:noFill/>
        </p:spPr>
        <p:txBody>
          <a:bodyPr wrap="square">
            <a:spAutoFit/>
          </a:bodyPr>
          <a:lstStyle/>
          <a:p>
            <a:pPr algn="l">
              <a:spcBef>
                <a:spcPts val="0"/>
              </a:spcBef>
              <a:spcAft>
                <a:spcPts val="0"/>
              </a:spcAft>
              <a:defRPr sz="1300" b="1">
                <a:solidFill>
                  <a:srgbClr val="FFFFFF"/>
                </a:solidFill>
                <a:latin typeface="Segoe UI"/>
              </a:defRPr>
            </a:pPr>
            <a:r>
              <a:t>Git &amp; GitHub</a:t>
            </a:r>
          </a:p>
        </p:txBody>
      </p:sp>
      <p:sp>
        <p:nvSpPr>
          <p:cNvPr id="18" name="TextBox 17"/>
          <p:cNvSpPr txBox="1"/>
          <p:nvPr/>
        </p:nvSpPr>
        <p:spPr>
          <a:xfrm>
            <a:off x="4709160" y="2606040"/>
            <a:ext cx="2880360" cy="96012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Hệ thống quản lý phiên bản (VCS),</a:t>
            </a:r>
            <a:br/>
            <a:r>
              <a:t>lưu trữ source code, collaboration,</a:t>
            </a:r>
            <a:br/>
            <a:r>
              <a:t>version tracking &amp; branching.</a:t>
            </a:r>
          </a:p>
        </p:txBody>
      </p:sp>
      <p:sp>
        <p:nvSpPr>
          <p:cNvPr id="19" name="Rounded Rectangle 18"/>
          <p:cNvSpPr/>
          <p:nvPr/>
        </p:nvSpPr>
        <p:spPr>
          <a:xfrm>
            <a:off x="8138160" y="1371600"/>
            <a:ext cx="3429000" cy="233172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412480" y="1645920"/>
            <a:ext cx="502920" cy="502920"/>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412480" y="1627632"/>
            <a:ext cx="502920" cy="502920"/>
          </a:xfrm>
          <a:prstGeom prst="rect">
            <a:avLst/>
          </a:prstGeom>
          <a:noFill/>
        </p:spPr>
        <p:txBody>
          <a:bodyPr wrap="square">
            <a:spAutoFit/>
          </a:bodyPr>
          <a:lstStyle/>
          <a:p>
            <a:pPr algn="ctr">
              <a:spcBef>
                <a:spcPts val="0"/>
              </a:spcBef>
              <a:spcAft>
                <a:spcPts val="0"/>
              </a:spcAft>
              <a:defRPr sz="1800" b="1">
                <a:solidFill>
                  <a:srgbClr val="FFFFFF"/>
                </a:solidFill>
                <a:latin typeface="Segoe UI"/>
              </a:defRPr>
            </a:pPr>
            <a:r>
              <a:t>📮</a:t>
            </a:r>
          </a:p>
        </p:txBody>
      </p:sp>
      <p:sp>
        <p:nvSpPr>
          <p:cNvPr id="22" name="TextBox 21"/>
          <p:cNvSpPr txBox="1"/>
          <p:nvPr/>
        </p:nvSpPr>
        <p:spPr>
          <a:xfrm>
            <a:off x="8412480" y="2286000"/>
            <a:ext cx="2880360" cy="365760"/>
          </a:xfrm>
          <a:prstGeom prst="rect">
            <a:avLst/>
          </a:prstGeom>
          <a:noFill/>
        </p:spPr>
        <p:txBody>
          <a:bodyPr wrap="square">
            <a:spAutoFit/>
          </a:bodyPr>
          <a:lstStyle/>
          <a:p>
            <a:pPr algn="l">
              <a:spcBef>
                <a:spcPts val="0"/>
              </a:spcBef>
              <a:spcAft>
                <a:spcPts val="0"/>
              </a:spcAft>
              <a:defRPr sz="1300" b="1">
                <a:solidFill>
                  <a:srgbClr val="FFFFFF"/>
                </a:solidFill>
                <a:latin typeface="Segoe UI"/>
              </a:defRPr>
            </a:pPr>
            <a:r>
              <a:t>Postman</a:t>
            </a:r>
          </a:p>
        </p:txBody>
      </p:sp>
      <p:sp>
        <p:nvSpPr>
          <p:cNvPr id="23" name="TextBox 22"/>
          <p:cNvSpPr txBox="1"/>
          <p:nvPr/>
        </p:nvSpPr>
        <p:spPr>
          <a:xfrm>
            <a:off x="8412480" y="2606040"/>
            <a:ext cx="2880360" cy="96012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Công cụ test &amp; debug REST API,</a:t>
            </a:r>
            <a:br/>
            <a:r>
              <a:t>tạo collection request, automated testing,</a:t>
            </a:r>
            <a:br/>
            <a:r>
              <a:t>documentation API endpoints.</a:t>
            </a:r>
          </a:p>
        </p:txBody>
      </p:sp>
      <p:sp>
        <p:nvSpPr>
          <p:cNvPr id="24" name="Rounded Rectangle 23"/>
          <p:cNvSpPr/>
          <p:nvPr/>
        </p:nvSpPr>
        <p:spPr>
          <a:xfrm>
            <a:off x="731520" y="4023360"/>
            <a:ext cx="3429000" cy="233172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005840" y="4297680"/>
            <a:ext cx="502920" cy="502920"/>
          </a:xfrm>
          <a:prstGeom prst="ellipse">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05840" y="4279392"/>
            <a:ext cx="502920" cy="502920"/>
          </a:xfrm>
          <a:prstGeom prst="rect">
            <a:avLst/>
          </a:prstGeom>
          <a:noFill/>
        </p:spPr>
        <p:txBody>
          <a:bodyPr wrap="square">
            <a:spAutoFit/>
          </a:bodyPr>
          <a:lstStyle/>
          <a:p>
            <a:pPr algn="ctr">
              <a:spcBef>
                <a:spcPts val="0"/>
              </a:spcBef>
              <a:spcAft>
                <a:spcPts val="0"/>
              </a:spcAft>
              <a:defRPr sz="1800" b="1">
                <a:solidFill>
                  <a:srgbClr val="FFFFFF"/>
                </a:solidFill>
                <a:latin typeface="Segoe UI"/>
              </a:defRPr>
            </a:pPr>
            <a:r>
              <a:t>🧭</a:t>
            </a:r>
          </a:p>
        </p:txBody>
      </p:sp>
      <p:sp>
        <p:nvSpPr>
          <p:cNvPr id="27" name="TextBox 26"/>
          <p:cNvSpPr txBox="1"/>
          <p:nvPr/>
        </p:nvSpPr>
        <p:spPr>
          <a:xfrm>
            <a:off x="1005840" y="4937760"/>
            <a:ext cx="2880360" cy="365760"/>
          </a:xfrm>
          <a:prstGeom prst="rect">
            <a:avLst/>
          </a:prstGeom>
          <a:noFill/>
        </p:spPr>
        <p:txBody>
          <a:bodyPr wrap="square">
            <a:spAutoFit/>
          </a:bodyPr>
          <a:lstStyle/>
          <a:p>
            <a:pPr algn="l">
              <a:spcBef>
                <a:spcPts val="0"/>
              </a:spcBef>
              <a:spcAft>
                <a:spcPts val="0"/>
              </a:spcAft>
              <a:defRPr sz="1300" b="1">
                <a:solidFill>
                  <a:srgbClr val="FFFFFF"/>
                </a:solidFill>
                <a:latin typeface="Segoe UI"/>
              </a:defRPr>
            </a:pPr>
            <a:r>
              <a:t>Chrome DevTools</a:t>
            </a:r>
          </a:p>
        </p:txBody>
      </p:sp>
      <p:sp>
        <p:nvSpPr>
          <p:cNvPr id="28" name="TextBox 27"/>
          <p:cNvSpPr txBox="1"/>
          <p:nvPr/>
        </p:nvSpPr>
        <p:spPr>
          <a:xfrm>
            <a:off x="1005840" y="5257800"/>
            <a:ext cx="2880360" cy="96012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Debug frontend, inspect elements,</a:t>
            </a:r>
            <a:br/>
            <a:r>
              <a:t>network monitoring, performance profiling,</a:t>
            </a:r>
            <a:br/>
            <a:r>
              <a:t>responsive design testing.</a:t>
            </a:r>
          </a:p>
        </p:txBody>
      </p:sp>
      <p:sp>
        <p:nvSpPr>
          <p:cNvPr id="29" name="Rounded Rectangle 28"/>
          <p:cNvSpPr/>
          <p:nvPr/>
        </p:nvSpPr>
        <p:spPr>
          <a:xfrm>
            <a:off x="4434840" y="4023360"/>
            <a:ext cx="3429000" cy="233172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4709160" y="4297680"/>
            <a:ext cx="502920" cy="50292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709160" y="4279392"/>
            <a:ext cx="502920" cy="502920"/>
          </a:xfrm>
          <a:prstGeom prst="rect">
            <a:avLst/>
          </a:prstGeom>
          <a:noFill/>
        </p:spPr>
        <p:txBody>
          <a:bodyPr wrap="square">
            <a:spAutoFit/>
          </a:bodyPr>
          <a:lstStyle/>
          <a:p>
            <a:pPr algn="ctr">
              <a:spcBef>
                <a:spcPts val="0"/>
              </a:spcBef>
              <a:spcAft>
                <a:spcPts val="0"/>
              </a:spcAft>
              <a:defRPr sz="1800" b="1">
                <a:solidFill>
                  <a:srgbClr val="FFFFFF"/>
                </a:solidFill>
                <a:latin typeface="Segoe UI"/>
              </a:defRPr>
            </a:pPr>
            <a:r>
              <a:t>🗄️</a:t>
            </a:r>
          </a:p>
        </p:txBody>
      </p:sp>
      <p:sp>
        <p:nvSpPr>
          <p:cNvPr id="32" name="TextBox 31"/>
          <p:cNvSpPr txBox="1"/>
          <p:nvPr/>
        </p:nvSpPr>
        <p:spPr>
          <a:xfrm>
            <a:off x="4709160" y="4937760"/>
            <a:ext cx="2880360" cy="365760"/>
          </a:xfrm>
          <a:prstGeom prst="rect">
            <a:avLst/>
          </a:prstGeom>
          <a:noFill/>
        </p:spPr>
        <p:txBody>
          <a:bodyPr wrap="square">
            <a:spAutoFit/>
          </a:bodyPr>
          <a:lstStyle/>
          <a:p>
            <a:pPr algn="l">
              <a:spcBef>
                <a:spcPts val="0"/>
              </a:spcBef>
              <a:spcAft>
                <a:spcPts val="0"/>
              </a:spcAft>
              <a:defRPr sz="1300" b="1">
                <a:solidFill>
                  <a:srgbClr val="FFFFFF"/>
                </a:solidFill>
                <a:latin typeface="Segoe UI"/>
              </a:defRPr>
            </a:pPr>
            <a:r>
              <a:t>MongoDB Compass</a:t>
            </a:r>
          </a:p>
        </p:txBody>
      </p:sp>
      <p:sp>
        <p:nvSpPr>
          <p:cNvPr id="33" name="TextBox 32"/>
          <p:cNvSpPr txBox="1"/>
          <p:nvPr/>
        </p:nvSpPr>
        <p:spPr>
          <a:xfrm>
            <a:off x="4709160" y="5257800"/>
            <a:ext cx="2880360" cy="96012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GUI quản lý MongoDB database,</a:t>
            </a:r>
            <a:br/>
            <a:r>
              <a:t>visual query builder, schema analysis,</a:t>
            </a:r>
            <a:br/>
            <a:r>
              <a:t>data import/export &amp; monitoring.</a:t>
            </a:r>
          </a:p>
        </p:txBody>
      </p:sp>
      <p:sp>
        <p:nvSpPr>
          <p:cNvPr id="34" name="Rounded Rectangle 33"/>
          <p:cNvSpPr/>
          <p:nvPr/>
        </p:nvSpPr>
        <p:spPr>
          <a:xfrm>
            <a:off x="8138160" y="4023360"/>
            <a:ext cx="3429000" cy="233172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8412480" y="4297680"/>
            <a:ext cx="502920" cy="502920"/>
          </a:xfrm>
          <a:prstGeom prst="ellipse">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412480" y="4279392"/>
            <a:ext cx="502920" cy="502920"/>
          </a:xfrm>
          <a:prstGeom prst="rect">
            <a:avLst/>
          </a:prstGeom>
          <a:noFill/>
        </p:spPr>
        <p:txBody>
          <a:bodyPr wrap="square">
            <a:spAutoFit/>
          </a:bodyPr>
          <a:lstStyle/>
          <a:p>
            <a:pPr algn="ctr">
              <a:spcBef>
                <a:spcPts val="0"/>
              </a:spcBef>
              <a:spcAft>
                <a:spcPts val="0"/>
              </a:spcAft>
              <a:defRPr sz="1800" b="1">
                <a:solidFill>
                  <a:srgbClr val="FFFFFF"/>
                </a:solidFill>
                <a:latin typeface="Segoe UI"/>
              </a:defRPr>
            </a:pPr>
            <a:r>
              <a:t>🎨</a:t>
            </a:r>
          </a:p>
        </p:txBody>
      </p:sp>
      <p:sp>
        <p:nvSpPr>
          <p:cNvPr id="37" name="TextBox 36"/>
          <p:cNvSpPr txBox="1"/>
          <p:nvPr/>
        </p:nvSpPr>
        <p:spPr>
          <a:xfrm>
            <a:off x="8412480" y="4937760"/>
            <a:ext cx="2880360" cy="365760"/>
          </a:xfrm>
          <a:prstGeom prst="rect">
            <a:avLst/>
          </a:prstGeom>
          <a:noFill/>
        </p:spPr>
        <p:txBody>
          <a:bodyPr wrap="square">
            <a:spAutoFit/>
          </a:bodyPr>
          <a:lstStyle/>
          <a:p>
            <a:pPr algn="l">
              <a:spcBef>
                <a:spcPts val="0"/>
              </a:spcBef>
              <a:spcAft>
                <a:spcPts val="0"/>
              </a:spcAft>
              <a:defRPr sz="1300" b="1">
                <a:solidFill>
                  <a:srgbClr val="FFFFFF"/>
                </a:solidFill>
                <a:latin typeface="Segoe UI"/>
              </a:defRPr>
            </a:pPr>
            <a:r>
              <a:t>Figma</a:t>
            </a:r>
          </a:p>
        </p:txBody>
      </p:sp>
      <p:sp>
        <p:nvSpPr>
          <p:cNvPr id="38" name="TextBox 37"/>
          <p:cNvSpPr txBox="1"/>
          <p:nvPr/>
        </p:nvSpPr>
        <p:spPr>
          <a:xfrm>
            <a:off x="8412480" y="5257800"/>
            <a:ext cx="2880360" cy="96012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Thiết kế giao diện UI/UX,</a:t>
            </a:r>
            <a:br/>
            <a:r>
              <a:t>prototyping, wireframing,</a:t>
            </a:r>
            <a:br/>
            <a:r>
              <a:t>design system &amp; components.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0F14"/>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731520" cy="457200"/>
          </a:xfrm>
          <a:prstGeom prst="rect">
            <a:avLst/>
          </a:prstGeom>
          <a:noFill/>
        </p:spPr>
        <p:txBody>
          <a:bodyPr wrap="square">
            <a:spAutoFit/>
          </a:bodyPr>
          <a:lstStyle/>
          <a:p>
            <a:pPr algn="l">
              <a:spcBef>
                <a:spcPts val="0"/>
              </a:spcBef>
              <a:spcAft>
                <a:spcPts val="0"/>
              </a:spcAft>
              <a:defRPr sz="1400" b="1">
                <a:solidFill>
                  <a:srgbClr val="FF6B00"/>
                </a:solidFill>
                <a:latin typeface="Segoe UI Black"/>
              </a:defRPr>
            </a:pPr>
            <a:r>
              <a:t>02</a:t>
            </a:r>
          </a:p>
        </p:txBody>
      </p:sp>
      <p:sp>
        <p:nvSpPr>
          <p:cNvPr id="4" name="TextBox 3"/>
          <p:cNvSpPr txBox="1"/>
          <p:nvPr/>
        </p:nvSpPr>
        <p:spPr>
          <a:xfrm>
            <a:off x="1234440" y="320040"/>
            <a:ext cx="274320" cy="457200"/>
          </a:xfrm>
          <a:prstGeom prst="rect">
            <a:avLst/>
          </a:prstGeom>
          <a:noFill/>
        </p:spPr>
        <p:txBody>
          <a:bodyPr wrap="square">
            <a:spAutoFit/>
          </a:bodyPr>
          <a:lstStyle/>
          <a:p>
            <a:pPr algn="l">
              <a:spcBef>
                <a:spcPts val="0"/>
              </a:spcBef>
              <a:spcAft>
                <a:spcPts val="0"/>
              </a:spcAft>
              <a:defRPr sz="1400" b="1">
                <a:solidFill>
                  <a:srgbClr val="9C9CA8"/>
                </a:solidFill>
                <a:latin typeface="Segoe UI"/>
              </a:defRPr>
            </a:pPr>
            <a:r>
              <a:t>—</a:t>
            </a:r>
          </a:p>
        </p:txBody>
      </p:sp>
      <p:sp>
        <p:nvSpPr>
          <p:cNvPr id="5" name="TextBox 4"/>
          <p:cNvSpPr txBox="1"/>
          <p:nvPr/>
        </p:nvSpPr>
        <p:spPr>
          <a:xfrm>
            <a:off x="1508760" y="274320"/>
            <a:ext cx="7315200" cy="502920"/>
          </a:xfrm>
          <a:prstGeom prst="rect">
            <a:avLst/>
          </a:prstGeom>
          <a:noFill/>
        </p:spPr>
        <p:txBody>
          <a:bodyPr wrap="square">
            <a:spAutoFit/>
          </a:bodyPr>
          <a:lstStyle/>
          <a:p>
            <a:pPr algn="l">
              <a:spcBef>
                <a:spcPts val="0"/>
              </a:spcBef>
              <a:spcAft>
                <a:spcPts val="0"/>
              </a:spcAft>
              <a:defRPr sz="1500" b="1">
                <a:solidFill>
                  <a:srgbClr val="FFFFFF"/>
                </a:solidFill>
                <a:latin typeface="Segoe UI Semibold"/>
              </a:defRPr>
            </a:pPr>
            <a:r>
              <a:t>MÔI TRƯỜNG PHÁT TRIỂN &amp; TRIỂN KHAI</a:t>
            </a:r>
          </a:p>
        </p:txBody>
      </p:sp>
      <p:sp>
        <p:nvSpPr>
          <p:cNvPr id="6" name="TextBox 5"/>
          <p:cNvSpPr txBox="1"/>
          <p:nvPr/>
        </p:nvSpPr>
        <p:spPr>
          <a:xfrm>
            <a:off x="1508760" y="640080"/>
            <a:ext cx="7315200" cy="36576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Cơ sở lý thuyết</a:t>
            </a:r>
          </a:p>
        </p:txBody>
      </p:sp>
      <p:sp>
        <p:nvSpPr>
          <p:cNvPr id="7" name="TextBox 6"/>
          <p:cNvSpPr txBox="1"/>
          <p:nvPr/>
        </p:nvSpPr>
        <p:spPr>
          <a:xfrm>
            <a:off x="10058400" y="320040"/>
            <a:ext cx="1828800" cy="365760"/>
          </a:xfrm>
          <a:prstGeom prst="rect">
            <a:avLst/>
          </a:prstGeom>
          <a:noFill/>
        </p:spPr>
        <p:txBody>
          <a:bodyPr wrap="square">
            <a:spAutoFit/>
          </a:bodyPr>
          <a:lstStyle/>
          <a:p>
            <a:pPr algn="r">
              <a:spcBef>
                <a:spcPts val="0"/>
              </a:spcBef>
              <a:spcAft>
                <a:spcPts val="0"/>
              </a:spcAft>
              <a:defRPr sz="1100" b="1">
                <a:solidFill>
                  <a:srgbClr val="FF6B00"/>
                </a:solidFill>
                <a:latin typeface="Segoe UI"/>
              </a:defRPr>
            </a:pPr>
            <a:r>
              <a:t>🍽️ FoodServe</a:t>
            </a:r>
          </a:p>
        </p:txBody>
      </p:sp>
      <p:sp>
        <p:nvSpPr>
          <p:cNvPr id="8" name="Rectangle 7"/>
          <p:cNvSpPr/>
          <p:nvPr/>
        </p:nvSpPr>
        <p:spPr>
          <a:xfrm>
            <a:off x="731520" y="1005840"/>
            <a:ext cx="10698480" cy="12700"/>
          </a:xfrm>
          <a:prstGeom prst="rect">
            <a:avLst/>
          </a:prstGeom>
          <a:solidFill>
            <a:srgbClr val="2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31520" y="1280160"/>
            <a:ext cx="10698480" cy="2286000"/>
          </a:xfrm>
          <a:prstGeom prst="roundRect">
            <a:avLst>
              <a:gd name="adj" fmla="val 4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1371600"/>
            <a:ext cx="4572000" cy="365760"/>
          </a:xfrm>
          <a:prstGeom prst="rect">
            <a:avLst/>
          </a:prstGeom>
          <a:noFill/>
        </p:spPr>
        <p:txBody>
          <a:bodyPr wrap="square">
            <a:spAutoFit/>
          </a:bodyPr>
          <a:lstStyle/>
          <a:p>
            <a:pPr algn="l">
              <a:spcBef>
                <a:spcPts val="0"/>
              </a:spcBef>
              <a:spcAft>
                <a:spcPts val="0"/>
              </a:spcAft>
              <a:defRPr sz="1300" b="1">
                <a:solidFill>
                  <a:srgbClr val="FF6B00"/>
                </a:solidFill>
                <a:latin typeface="Segoe UI"/>
              </a:defRPr>
            </a:pPr>
            <a:r>
              <a:t>🏗️  KIẾN TRÚC HỆ THỐNG</a:t>
            </a:r>
          </a:p>
        </p:txBody>
      </p:sp>
      <p:sp>
        <p:nvSpPr>
          <p:cNvPr id="11" name="Rounded Rectangle 10"/>
          <p:cNvSpPr/>
          <p:nvPr/>
        </p:nvSpPr>
        <p:spPr>
          <a:xfrm>
            <a:off x="914400" y="1828800"/>
            <a:ext cx="2194560" cy="1554480"/>
          </a:xfrm>
          <a:prstGeom prst="roundRect">
            <a:avLst>
              <a:gd name="adj" fmla="val 6000"/>
            </a:avLst>
          </a:prstGeom>
          <a:solidFill>
            <a:srgbClr val="388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51560" y="1874519"/>
            <a:ext cx="1920240" cy="274320"/>
          </a:xfrm>
          <a:prstGeom prst="rect">
            <a:avLst/>
          </a:prstGeom>
          <a:noFill/>
        </p:spPr>
        <p:txBody>
          <a:bodyPr wrap="square">
            <a:spAutoFit/>
          </a:bodyPr>
          <a:lstStyle/>
          <a:p>
            <a:pPr algn="ctr">
              <a:spcBef>
                <a:spcPts val="0"/>
              </a:spcBef>
              <a:spcAft>
                <a:spcPts val="0"/>
              </a:spcAft>
              <a:defRPr sz="900" b="1">
                <a:solidFill>
                  <a:srgbClr val="FFFFFF"/>
                </a:solidFill>
                <a:latin typeface="Segoe UI"/>
              </a:defRPr>
            </a:pPr>
            <a:r>
              <a:t>CLIENT</a:t>
            </a:r>
          </a:p>
        </p:txBody>
      </p:sp>
      <p:sp>
        <p:nvSpPr>
          <p:cNvPr id="13" name="TextBox 12"/>
          <p:cNvSpPr txBox="1"/>
          <p:nvPr/>
        </p:nvSpPr>
        <p:spPr>
          <a:xfrm>
            <a:off x="1051560" y="2148840"/>
            <a:ext cx="1920240" cy="1097280"/>
          </a:xfrm>
          <a:prstGeom prst="rect">
            <a:avLst/>
          </a:prstGeom>
          <a:noFill/>
        </p:spPr>
        <p:txBody>
          <a:bodyPr wrap="square">
            <a:spAutoFit/>
          </a:bodyPr>
          <a:lstStyle/>
          <a:p>
            <a:pPr algn="ctr">
              <a:spcBef>
                <a:spcPts val="0"/>
              </a:spcBef>
              <a:spcAft>
                <a:spcPts val="0"/>
              </a:spcAft>
              <a:defRPr sz="900" b="0">
                <a:solidFill>
                  <a:srgbClr val="FFFFFF"/>
                </a:solidFill>
                <a:latin typeface="Segoe UI"/>
              </a:defRPr>
            </a:pPr>
            <a:r>
              <a:t>React.js 18</a:t>
            </a:r>
            <a:br/>
            <a:r>
              <a:t>Vite (Dev Server)</a:t>
            </a:r>
            <a:br/>
            <a:r>
              <a:t>TailwindCSS</a:t>
            </a:r>
            <a:br/>
            <a:r>
              <a:t>Redux Toolkit</a:t>
            </a:r>
          </a:p>
        </p:txBody>
      </p:sp>
      <p:sp>
        <p:nvSpPr>
          <p:cNvPr id="14" name="TextBox 13"/>
          <p:cNvSpPr txBox="1"/>
          <p:nvPr/>
        </p:nvSpPr>
        <p:spPr>
          <a:xfrm>
            <a:off x="3063240" y="2331720"/>
            <a:ext cx="457200" cy="274320"/>
          </a:xfrm>
          <a:prstGeom prst="rect">
            <a:avLst/>
          </a:prstGeom>
          <a:noFill/>
        </p:spPr>
        <p:txBody>
          <a:bodyPr wrap="square">
            <a:spAutoFit/>
          </a:bodyPr>
          <a:lstStyle/>
          <a:p>
            <a:pPr algn="ctr">
              <a:spcBef>
                <a:spcPts val="0"/>
              </a:spcBef>
              <a:spcAft>
                <a:spcPts val="0"/>
              </a:spcAft>
              <a:defRPr sz="1800" b="1">
                <a:solidFill>
                  <a:srgbClr val="9C9CA8"/>
                </a:solidFill>
                <a:latin typeface="Segoe UI"/>
              </a:defRPr>
            </a:pPr>
            <a:r>
              <a:t>→</a:t>
            </a:r>
          </a:p>
        </p:txBody>
      </p:sp>
      <p:sp>
        <p:nvSpPr>
          <p:cNvPr id="15" name="Rounded Rectangle 14"/>
          <p:cNvSpPr/>
          <p:nvPr/>
        </p:nvSpPr>
        <p:spPr>
          <a:xfrm>
            <a:off x="3474720" y="1828800"/>
            <a:ext cx="2194560" cy="1554480"/>
          </a:xfrm>
          <a:prstGeom prst="roundRect">
            <a:avLst>
              <a:gd name="adj" fmla="val 6000"/>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11880" y="1874519"/>
            <a:ext cx="1920240" cy="274320"/>
          </a:xfrm>
          <a:prstGeom prst="rect">
            <a:avLst/>
          </a:prstGeom>
          <a:noFill/>
        </p:spPr>
        <p:txBody>
          <a:bodyPr wrap="square">
            <a:spAutoFit/>
          </a:bodyPr>
          <a:lstStyle/>
          <a:p>
            <a:pPr algn="ctr">
              <a:spcBef>
                <a:spcPts val="0"/>
              </a:spcBef>
              <a:spcAft>
                <a:spcPts val="0"/>
              </a:spcAft>
              <a:defRPr sz="900" b="1">
                <a:solidFill>
                  <a:srgbClr val="FFFFFF"/>
                </a:solidFill>
                <a:latin typeface="Segoe UI"/>
              </a:defRPr>
            </a:pPr>
            <a:r>
              <a:t>API GATEWAY</a:t>
            </a:r>
          </a:p>
        </p:txBody>
      </p:sp>
      <p:sp>
        <p:nvSpPr>
          <p:cNvPr id="17" name="TextBox 16"/>
          <p:cNvSpPr txBox="1"/>
          <p:nvPr/>
        </p:nvSpPr>
        <p:spPr>
          <a:xfrm>
            <a:off x="3611880" y="2148840"/>
            <a:ext cx="1920240" cy="1097280"/>
          </a:xfrm>
          <a:prstGeom prst="rect">
            <a:avLst/>
          </a:prstGeom>
          <a:noFill/>
        </p:spPr>
        <p:txBody>
          <a:bodyPr wrap="square">
            <a:spAutoFit/>
          </a:bodyPr>
          <a:lstStyle/>
          <a:p>
            <a:pPr algn="ctr">
              <a:spcBef>
                <a:spcPts val="0"/>
              </a:spcBef>
              <a:spcAft>
                <a:spcPts val="0"/>
              </a:spcAft>
              <a:defRPr sz="900" b="0">
                <a:solidFill>
                  <a:srgbClr val="FFFFFF"/>
                </a:solidFill>
                <a:latin typeface="Segoe UI"/>
              </a:defRPr>
            </a:pPr>
            <a:r>
              <a:t>Express.js</a:t>
            </a:r>
            <a:br/>
            <a:r>
              <a:t>REST API</a:t>
            </a:r>
            <a:br/>
            <a:r>
              <a:t>Socket.IO</a:t>
            </a:r>
            <a:br/>
            <a:r>
              <a:t>CORS / Auth</a:t>
            </a:r>
          </a:p>
        </p:txBody>
      </p:sp>
      <p:sp>
        <p:nvSpPr>
          <p:cNvPr id="18" name="TextBox 17"/>
          <p:cNvSpPr txBox="1"/>
          <p:nvPr/>
        </p:nvSpPr>
        <p:spPr>
          <a:xfrm>
            <a:off x="5623560" y="2331720"/>
            <a:ext cx="457200" cy="274320"/>
          </a:xfrm>
          <a:prstGeom prst="rect">
            <a:avLst/>
          </a:prstGeom>
          <a:noFill/>
        </p:spPr>
        <p:txBody>
          <a:bodyPr wrap="square">
            <a:spAutoFit/>
          </a:bodyPr>
          <a:lstStyle/>
          <a:p>
            <a:pPr algn="ctr">
              <a:spcBef>
                <a:spcPts val="0"/>
              </a:spcBef>
              <a:spcAft>
                <a:spcPts val="0"/>
              </a:spcAft>
              <a:defRPr sz="1800" b="1">
                <a:solidFill>
                  <a:srgbClr val="9C9CA8"/>
                </a:solidFill>
                <a:latin typeface="Segoe UI"/>
              </a:defRPr>
            </a:pPr>
            <a:r>
              <a:t>→</a:t>
            </a:r>
          </a:p>
        </p:txBody>
      </p:sp>
      <p:sp>
        <p:nvSpPr>
          <p:cNvPr id="19" name="Rounded Rectangle 18"/>
          <p:cNvSpPr/>
          <p:nvPr/>
        </p:nvSpPr>
        <p:spPr>
          <a:xfrm>
            <a:off x="6035040" y="1828800"/>
            <a:ext cx="2194560" cy="1554480"/>
          </a:xfrm>
          <a:prstGeom prst="roundRect">
            <a:avLst>
              <a:gd name="adj" fmla="val 6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72200" y="1874519"/>
            <a:ext cx="1920240" cy="274320"/>
          </a:xfrm>
          <a:prstGeom prst="rect">
            <a:avLst/>
          </a:prstGeom>
          <a:noFill/>
        </p:spPr>
        <p:txBody>
          <a:bodyPr wrap="square">
            <a:spAutoFit/>
          </a:bodyPr>
          <a:lstStyle/>
          <a:p>
            <a:pPr algn="ctr">
              <a:spcBef>
                <a:spcPts val="0"/>
              </a:spcBef>
              <a:spcAft>
                <a:spcPts val="0"/>
              </a:spcAft>
              <a:defRPr sz="900" b="1">
                <a:solidFill>
                  <a:srgbClr val="FFFFFF"/>
                </a:solidFill>
                <a:latin typeface="Segoe UI"/>
              </a:defRPr>
            </a:pPr>
            <a:r>
              <a:t>SERVICES</a:t>
            </a:r>
          </a:p>
        </p:txBody>
      </p:sp>
      <p:sp>
        <p:nvSpPr>
          <p:cNvPr id="21" name="TextBox 20"/>
          <p:cNvSpPr txBox="1"/>
          <p:nvPr/>
        </p:nvSpPr>
        <p:spPr>
          <a:xfrm>
            <a:off x="6172200" y="2148840"/>
            <a:ext cx="1920240" cy="1097280"/>
          </a:xfrm>
          <a:prstGeom prst="rect">
            <a:avLst/>
          </a:prstGeom>
          <a:noFill/>
        </p:spPr>
        <p:txBody>
          <a:bodyPr wrap="square">
            <a:spAutoFit/>
          </a:bodyPr>
          <a:lstStyle/>
          <a:p>
            <a:pPr algn="ctr">
              <a:spcBef>
                <a:spcPts val="0"/>
              </a:spcBef>
              <a:spcAft>
                <a:spcPts val="0"/>
              </a:spcAft>
              <a:defRPr sz="900" b="0">
                <a:solidFill>
                  <a:srgbClr val="FFFFFF"/>
                </a:solidFill>
                <a:latin typeface="Segoe UI"/>
              </a:defRPr>
            </a:pPr>
            <a:r>
              <a:t>Node.js Runtime</a:t>
            </a:r>
            <a:br/>
            <a:r>
              <a:t>Gemini AI API</a:t>
            </a:r>
            <a:br/>
            <a:r>
              <a:t>PayOS / VNPay</a:t>
            </a:r>
            <a:br/>
            <a:r>
              <a:t>Nodemailer</a:t>
            </a:r>
          </a:p>
        </p:txBody>
      </p:sp>
      <p:sp>
        <p:nvSpPr>
          <p:cNvPr id="22" name="TextBox 21"/>
          <p:cNvSpPr txBox="1"/>
          <p:nvPr/>
        </p:nvSpPr>
        <p:spPr>
          <a:xfrm>
            <a:off x="8183880" y="2331720"/>
            <a:ext cx="457200" cy="274320"/>
          </a:xfrm>
          <a:prstGeom prst="rect">
            <a:avLst/>
          </a:prstGeom>
          <a:noFill/>
        </p:spPr>
        <p:txBody>
          <a:bodyPr wrap="square">
            <a:spAutoFit/>
          </a:bodyPr>
          <a:lstStyle/>
          <a:p>
            <a:pPr algn="ctr">
              <a:spcBef>
                <a:spcPts val="0"/>
              </a:spcBef>
              <a:spcAft>
                <a:spcPts val="0"/>
              </a:spcAft>
              <a:defRPr sz="1800" b="1">
                <a:solidFill>
                  <a:srgbClr val="9C9CA8"/>
                </a:solidFill>
                <a:latin typeface="Segoe UI"/>
              </a:defRPr>
            </a:pPr>
            <a:r>
              <a:t>→</a:t>
            </a:r>
          </a:p>
        </p:txBody>
      </p:sp>
      <p:sp>
        <p:nvSpPr>
          <p:cNvPr id="23" name="Rounded Rectangle 22"/>
          <p:cNvSpPr/>
          <p:nvPr/>
        </p:nvSpPr>
        <p:spPr>
          <a:xfrm>
            <a:off x="8595360" y="1828800"/>
            <a:ext cx="2194560" cy="1554480"/>
          </a:xfrm>
          <a:prstGeom prst="roundRect">
            <a:avLst>
              <a:gd name="adj" fmla="val 6000"/>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732520" y="1874519"/>
            <a:ext cx="1920240" cy="274320"/>
          </a:xfrm>
          <a:prstGeom prst="rect">
            <a:avLst/>
          </a:prstGeom>
          <a:noFill/>
        </p:spPr>
        <p:txBody>
          <a:bodyPr wrap="square">
            <a:spAutoFit/>
          </a:bodyPr>
          <a:lstStyle/>
          <a:p>
            <a:pPr algn="ctr">
              <a:spcBef>
                <a:spcPts val="0"/>
              </a:spcBef>
              <a:spcAft>
                <a:spcPts val="0"/>
              </a:spcAft>
              <a:defRPr sz="900" b="1">
                <a:solidFill>
                  <a:srgbClr val="FFFFFF"/>
                </a:solidFill>
                <a:latin typeface="Segoe UI"/>
              </a:defRPr>
            </a:pPr>
            <a:r>
              <a:t>DATABASE</a:t>
            </a:r>
          </a:p>
        </p:txBody>
      </p:sp>
      <p:sp>
        <p:nvSpPr>
          <p:cNvPr id="25" name="TextBox 24"/>
          <p:cNvSpPr txBox="1"/>
          <p:nvPr/>
        </p:nvSpPr>
        <p:spPr>
          <a:xfrm>
            <a:off x="8732520" y="2148840"/>
            <a:ext cx="1920240" cy="1097280"/>
          </a:xfrm>
          <a:prstGeom prst="rect">
            <a:avLst/>
          </a:prstGeom>
          <a:noFill/>
        </p:spPr>
        <p:txBody>
          <a:bodyPr wrap="square">
            <a:spAutoFit/>
          </a:bodyPr>
          <a:lstStyle/>
          <a:p>
            <a:pPr algn="ctr">
              <a:spcBef>
                <a:spcPts val="0"/>
              </a:spcBef>
              <a:spcAft>
                <a:spcPts val="0"/>
              </a:spcAft>
              <a:defRPr sz="900" b="0">
                <a:solidFill>
                  <a:srgbClr val="FFFFFF"/>
                </a:solidFill>
                <a:latin typeface="Segoe UI"/>
              </a:defRPr>
            </a:pPr>
            <a:r>
              <a:t>MongoDB Atlas</a:t>
            </a:r>
            <a:br/>
            <a:r>
              <a:t>Mongoose ODM</a:t>
            </a:r>
            <a:br/>
            <a:r>
              <a:t>16 Collections</a:t>
            </a:r>
            <a:br/>
            <a:r>
              <a:t>Indexing</a:t>
            </a:r>
          </a:p>
        </p:txBody>
      </p:sp>
      <p:sp>
        <p:nvSpPr>
          <p:cNvPr id="26" name="Rounded Rectangle 25"/>
          <p:cNvSpPr/>
          <p:nvPr/>
        </p:nvSpPr>
        <p:spPr>
          <a:xfrm>
            <a:off x="731520" y="3840480"/>
            <a:ext cx="3429000" cy="246888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005840" y="4114800"/>
            <a:ext cx="502920" cy="502920"/>
          </a:xfrm>
          <a:prstGeom prst="ellipse">
            <a:avLst/>
          </a:prstGeom>
          <a:solidFill>
            <a:srgbClr val="388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05840" y="4096512"/>
            <a:ext cx="502920" cy="502920"/>
          </a:xfrm>
          <a:prstGeom prst="rect">
            <a:avLst/>
          </a:prstGeom>
          <a:noFill/>
        </p:spPr>
        <p:txBody>
          <a:bodyPr wrap="square">
            <a:spAutoFit/>
          </a:bodyPr>
          <a:lstStyle/>
          <a:p>
            <a:pPr algn="ctr">
              <a:spcBef>
                <a:spcPts val="0"/>
              </a:spcBef>
              <a:spcAft>
                <a:spcPts val="0"/>
              </a:spcAft>
              <a:defRPr sz="1800" b="1">
                <a:solidFill>
                  <a:srgbClr val="FFFFFF"/>
                </a:solidFill>
                <a:latin typeface="Segoe UI"/>
              </a:defRPr>
            </a:pPr>
            <a:r>
              <a:t>🖥️</a:t>
            </a:r>
          </a:p>
        </p:txBody>
      </p:sp>
      <p:sp>
        <p:nvSpPr>
          <p:cNvPr id="29" name="TextBox 28"/>
          <p:cNvSpPr txBox="1"/>
          <p:nvPr/>
        </p:nvSpPr>
        <p:spPr>
          <a:xfrm>
            <a:off x="1005840" y="4754880"/>
            <a:ext cx="2880360" cy="365760"/>
          </a:xfrm>
          <a:prstGeom prst="rect">
            <a:avLst/>
          </a:prstGeom>
          <a:noFill/>
        </p:spPr>
        <p:txBody>
          <a:bodyPr wrap="square">
            <a:spAutoFit/>
          </a:bodyPr>
          <a:lstStyle/>
          <a:p>
            <a:pPr algn="l">
              <a:spcBef>
                <a:spcPts val="0"/>
              </a:spcBef>
              <a:spcAft>
                <a:spcPts val="0"/>
              </a:spcAft>
              <a:defRPr sz="1300" b="1">
                <a:solidFill>
                  <a:srgbClr val="FFFFFF"/>
                </a:solidFill>
                <a:latin typeface="Segoe UI"/>
              </a:defRPr>
            </a:pPr>
            <a:r>
              <a:t>Phát triển (Development)</a:t>
            </a:r>
          </a:p>
        </p:txBody>
      </p:sp>
      <p:sp>
        <p:nvSpPr>
          <p:cNvPr id="30" name="TextBox 29"/>
          <p:cNvSpPr txBox="1"/>
          <p:nvPr/>
        </p:nvSpPr>
        <p:spPr>
          <a:xfrm>
            <a:off x="1005840" y="5074920"/>
            <a:ext cx="2880360" cy="109728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Node.js v20+, npm, Vite Dev Server</a:t>
            </a:r>
            <a:br/>
            <a:r>
              <a:t>(HMR - Hot Module Replacement)</a:t>
            </a:r>
            <a:br/>
            <a:r>
              <a:t>Port 5173 (FE) + Port 5000 (BE)</a:t>
            </a:r>
          </a:p>
        </p:txBody>
      </p:sp>
      <p:sp>
        <p:nvSpPr>
          <p:cNvPr id="31" name="Rounded Rectangle 30"/>
          <p:cNvSpPr/>
          <p:nvPr/>
        </p:nvSpPr>
        <p:spPr>
          <a:xfrm>
            <a:off x="4434840" y="3840480"/>
            <a:ext cx="3429000" cy="246888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4709160" y="4114800"/>
            <a:ext cx="502920" cy="50292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709160" y="4096512"/>
            <a:ext cx="502920" cy="502920"/>
          </a:xfrm>
          <a:prstGeom prst="rect">
            <a:avLst/>
          </a:prstGeom>
          <a:noFill/>
        </p:spPr>
        <p:txBody>
          <a:bodyPr wrap="square">
            <a:spAutoFit/>
          </a:bodyPr>
          <a:lstStyle/>
          <a:p>
            <a:pPr algn="ctr">
              <a:spcBef>
                <a:spcPts val="0"/>
              </a:spcBef>
              <a:spcAft>
                <a:spcPts val="0"/>
              </a:spcAft>
              <a:defRPr sz="1800" b="1">
                <a:solidFill>
                  <a:srgbClr val="FFFFFF"/>
                </a:solidFill>
                <a:latin typeface="Segoe UI"/>
              </a:defRPr>
            </a:pPr>
            <a:r>
              <a:t>☁️</a:t>
            </a:r>
          </a:p>
        </p:txBody>
      </p:sp>
      <p:sp>
        <p:nvSpPr>
          <p:cNvPr id="34" name="TextBox 33"/>
          <p:cNvSpPr txBox="1"/>
          <p:nvPr/>
        </p:nvSpPr>
        <p:spPr>
          <a:xfrm>
            <a:off x="4709160" y="4754880"/>
            <a:ext cx="2880360" cy="365760"/>
          </a:xfrm>
          <a:prstGeom prst="rect">
            <a:avLst/>
          </a:prstGeom>
          <a:noFill/>
        </p:spPr>
        <p:txBody>
          <a:bodyPr wrap="square">
            <a:spAutoFit/>
          </a:bodyPr>
          <a:lstStyle/>
          <a:p>
            <a:pPr algn="l">
              <a:spcBef>
                <a:spcPts val="0"/>
              </a:spcBef>
              <a:spcAft>
                <a:spcPts val="0"/>
              </a:spcAft>
              <a:defRPr sz="1300" b="1">
                <a:solidFill>
                  <a:srgbClr val="FFFFFF"/>
                </a:solidFill>
                <a:latin typeface="Segoe UI"/>
              </a:defRPr>
            </a:pPr>
            <a:r>
              <a:t>Triển khai (Production)</a:t>
            </a:r>
          </a:p>
        </p:txBody>
      </p:sp>
      <p:sp>
        <p:nvSpPr>
          <p:cNvPr id="35" name="TextBox 34"/>
          <p:cNvSpPr txBox="1"/>
          <p:nvPr/>
        </p:nvSpPr>
        <p:spPr>
          <a:xfrm>
            <a:off x="4709160" y="5074920"/>
            <a:ext cx="2880360" cy="109728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Frontend: Vercel (Static Hosting + CDN)</a:t>
            </a:r>
            <a:br/>
            <a:r>
              <a:t>Backend: Render (Node.js Cloud)</a:t>
            </a:r>
            <a:br/>
            <a:r>
              <a:t>Database: MongoDB Atlas (Cloud)</a:t>
            </a:r>
          </a:p>
        </p:txBody>
      </p:sp>
      <p:sp>
        <p:nvSpPr>
          <p:cNvPr id="36" name="Rounded Rectangle 35"/>
          <p:cNvSpPr/>
          <p:nvPr/>
        </p:nvSpPr>
        <p:spPr>
          <a:xfrm>
            <a:off x="8138160" y="3840480"/>
            <a:ext cx="3429000" cy="246888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8412480" y="4114800"/>
            <a:ext cx="502920" cy="502920"/>
          </a:xfrm>
          <a:prstGeom prst="ellipse">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412480" y="4096512"/>
            <a:ext cx="502920" cy="502920"/>
          </a:xfrm>
          <a:prstGeom prst="rect">
            <a:avLst/>
          </a:prstGeom>
          <a:noFill/>
        </p:spPr>
        <p:txBody>
          <a:bodyPr wrap="square">
            <a:spAutoFit/>
          </a:bodyPr>
          <a:lstStyle/>
          <a:p>
            <a:pPr algn="ctr">
              <a:spcBef>
                <a:spcPts val="0"/>
              </a:spcBef>
              <a:spcAft>
                <a:spcPts val="0"/>
              </a:spcAft>
              <a:defRPr sz="1800" b="1">
                <a:solidFill>
                  <a:srgbClr val="FFFFFF"/>
                </a:solidFill>
                <a:latin typeface="Segoe UI"/>
              </a:defRPr>
            </a:pPr>
            <a:r>
              <a:t>🔧</a:t>
            </a:r>
          </a:p>
        </p:txBody>
      </p:sp>
      <p:sp>
        <p:nvSpPr>
          <p:cNvPr id="39" name="TextBox 38"/>
          <p:cNvSpPr txBox="1"/>
          <p:nvPr/>
        </p:nvSpPr>
        <p:spPr>
          <a:xfrm>
            <a:off x="8412480" y="4754880"/>
            <a:ext cx="2880360" cy="365760"/>
          </a:xfrm>
          <a:prstGeom prst="rect">
            <a:avLst/>
          </a:prstGeom>
          <a:noFill/>
        </p:spPr>
        <p:txBody>
          <a:bodyPr wrap="square">
            <a:spAutoFit/>
          </a:bodyPr>
          <a:lstStyle/>
          <a:p>
            <a:pPr algn="l">
              <a:spcBef>
                <a:spcPts val="0"/>
              </a:spcBef>
              <a:spcAft>
                <a:spcPts val="0"/>
              </a:spcAft>
              <a:defRPr sz="1300" b="1">
                <a:solidFill>
                  <a:srgbClr val="FFFFFF"/>
                </a:solidFill>
                <a:latin typeface="Segoe UI"/>
              </a:defRPr>
            </a:pPr>
            <a:r>
              <a:t>Môi trường khác</a:t>
            </a:r>
          </a:p>
        </p:txBody>
      </p:sp>
      <p:sp>
        <p:nvSpPr>
          <p:cNvPr id="40" name="TextBox 39"/>
          <p:cNvSpPr txBox="1"/>
          <p:nvPr/>
        </p:nvSpPr>
        <p:spPr>
          <a:xfrm>
            <a:off x="8412480" y="5074920"/>
            <a:ext cx="2880360" cy="109728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OS: Windows 10/11</a:t>
            </a:r>
            <a:br/>
            <a:r>
              <a:t>Browser: Chrome, Firefox, Edge</a:t>
            </a:r>
            <a:br/>
            <a:r>
              <a:t>Mobile: Responsive Web (PWA-ready)</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0F14"/>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731520" cy="457200"/>
          </a:xfrm>
          <a:prstGeom prst="rect">
            <a:avLst/>
          </a:prstGeom>
          <a:noFill/>
        </p:spPr>
        <p:txBody>
          <a:bodyPr wrap="square">
            <a:spAutoFit/>
          </a:bodyPr>
          <a:lstStyle/>
          <a:p>
            <a:pPr algn="l">
              <a:spcBef>
                <a:spcPts val="0"/>
              </a:spcBef>
              <a:spcAft>
                <a:spcPts val="0"/>
              </a:spcAft>
              <a:defRPr sz="1400" b="1">
                <a:solidFill>
                  <a:srgbClr val="FF6B00"/>
                </a:solidFill>
                <a:latin typeface="Segoe UI Black"/>
              </a:defRPr>
            </a:pPr>
            <a:r>
              <a:t>03</a:t>
            </a:r>
          </a:p>
        </p:txBody>
      </p:sp>
      <p:sp>
        <p:nvSpPr>
          <p:cNvPr id="4" name="TextBox 3"/>
          <p:cNvSpPr txBox="1"/>
          <p:nvPr/>
        </p:nvSpPr>
        <p:spPr>
          <a:xfrm>
            <a:off x="1234440" y="320040"/>
            <a:ext cx="274320" cy="457200"/>
          </a:xfrm>
          <a:prstGeom prst="rect">
            <a:avLst/>
          </a:prstGeom>
          <a:noFill/>
        </p:spPr>
        <p:txBody>
          <a:bodyPr wrap="square">
            <a:spAutoFit/>
          </a:bodyPr>
          <a:lstStyle/>
          <a:p>
            <a:pPr algn="l">
              <a:spcBef>
                <a:spcPts val="0"/>
              </a:spcBef>
              <a:spcAft>
                <a:spcPts val="0"/>
              </a:spcAft>
              <a:defRPr sz="1400" b="1">
                <a:solidFill>
                  <a:srgbClr val="9C9CA8"/>
                </a:solidFill>
                <a:latin typeface="Segoe UI"/>
              </a:defRPr>
            </a:pPr>
            <a:r>
              <a:t>—</a:t>
            </a:r>
          </a:p>
        </p:txBody>
      </p:sp>
      <p:sp>
        <p:nvSpPr>
          <p:cNvPr id="5" name="TextBox 4"/>
          <p:cNvSpPr txBox="1"/>
          <p:nvPr/>
        </p:nvSpPr>
        <p:spPr>
          <a:xfrm>
            <a:off x="1508760" y="274320"/>
            <a:ext cx="7315200" cy="502920"/>
          </a:xfrm>
          <a:prstGeom prst="rect">
            <a:avLst/>
          </a:prstGeom>
          <a:noFill/>
        </p:spPr>
        <p:txBody>
          <a:bodyPr wrap="square">
            <a:spAutoFit/>
          </a:bodyPr>
          <a:lstStyle/>
          <a:p>
            <a:pPr algn="l">
              <a:spcBef>
                <a:spcPts val="0"/>
              </a:spcBef>
              <a:spcAft>
                <a:spcPts val="0"/>
              </a:spcAft>
              <a:defRPr sz="1500" b="1">
                <a:solidFill>
                  <a:srgbClr val="FFFFFF"/>
                </a:solidFill>
                <a:latin typeface="Segoe UI Semibold"/>
              </a:defRPr>
            </a:pPr>
            <a:r>
              <a:t>BIỂU ĐỒ USE CASE</a:t>
            </a:r>
          </a:p>
        </p:txBody>
      </p:sp>
      <p:sp>
        <p:nvSpPr>
          <p:cNvPr id="6" name="TextBox 5"/>
          <p:cNvSpPr txBox="1"/>
          <p:nvPr/>
        </p:nvSpPr>
        <p:spPr>
          <a:xfrm>
            <a:off x="1508760" y="640080"/>
            <a:ext cx="7315200" cy="36576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Phân tích hệ thống</a:t>
            </a:r>
          </a:p>
        </p:txBody>
      </p:sp>
      <p:sp>
        <p:nvSpPr>
          <p:cNvPr id="7" name="TextBox 6"/>
          <p:cNvSpPr txBox="1"/>
          <p:nvPr/>
        </p:nvSpPr>
        <p:spPr>
          <a:xfrm>
            <a:off x="10058400" y="320040"/>
            <a:ext cx="1828800" cy="365760"/>
          </a:xfrm>
          <a:prstGeom prst="rect">
            <a:avLst/>
          </a:prstGeom>
          <a:noFill/>
        </p:spPr>
        <p:txBody>
          <a:bodyPr wrap="square">
            <a:spAutoFit/>
          </a:bodyPr>
          <a:lstStyle/>
          <a:p>
            <a:pPr algn="r">
              <a:spcBef>
                <a:spcPts val="0"/>
              </a:spcBef>
              <a:spcAft>
                <a:spcPts val="0"/>
              </a:spcAft>
              <a:defRPr sz="1100" b="1">
                <a:solidFill>
                  <a:srgbClr val="FF6B00"/>
                </a:solidFill>
                <a:latin typeface="Segoe UI"/>
              </a:defRPr>
            </a:pPr>
            <a:r>
              <a:t>🍽️ FoodServe</a:t>
            </a:r>
          </a:p>
        </p:txBody>
      </p:sp>
      <p:sp>
        <p:nvSpPr>
          <p:cNvPr id="8" name="Rectangle 7"/>
          <p:cNvSpPr/>
          <p:nvPr/>
        </p:nvSpPr>
        <p:spPr>
          <a:xfrm>
            <a:off x="731520" y="1005840"/>
            <a:ext cx="10698480" cy="12700"/>
          </a:xfrm>
          <a:prstGeom prst="rect">
            <a:avLst/>
          </a:prstGeom>
          <a:solidFill>
            <a:srgbClr val="2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48640" y="1280160"/>
            <a:ext cx="2651760" cy="5029200"/>
          </a:xfrm>
          <a:prstGeom prst="roundRect">
            <a:avLst>
              <a:gd name="adj" fmla="val 4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85800" y="1417320"/>
            <a:ext cx="2377440" cy="594360"/>
          </a:xfrm>
          <a:prstGeom prst="roundRect">
            <a:avLst>
              <a:gd name="adj" fmla="val 8000"/>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1463040"/>
            <a:ext cx="2377440" cy="502920"/>
          </a:xfrm>
          <a:prstGeom prst="rect">
            <a:avLst/>
          </a:prstGeom>
          <a:noFill/>
        </p:spPr>
        <p:txBody>
          <a:bodyPr wrap="square">
            <a:spAutoFit/>
          </a:bodyPr>
          <a:lstStyle/>
          <a:p>
            <a:pPr algn="ctr">
              <a:spcBef>
                <a:spcPts val="0"/>
              </a:spcBef>
              <a:spcAft>
                <a:spcPts val="0"/>
              </a:spcAft>
              <a:defRPr sz="1200" b="1">
                <a:solidFill>
                  <a:srgbClr val="FFFFFF"/>
                </a:solidFill>
                <a:latin typeface="Segoe UI"/>
              </a:defRPr>
            </a:pPr>
            <a:r>
              <a:t>👤  KHÁCH HÀNG</a:t>
            </a:r>
          </a:p>
        </p:txBody>
      </p:sp>
      <p:sp>
        <p:nvSpPr>
          <p:cNvPr id="12" name="TextBox 11"/>
          <p:cNvSpPr txBox="1"/>
          <p:nvPr/>
        </p:nvSpPr>
        <p:spPr>
          <a:xfrm>
            <a:off x="731520" y="2240280"/>
            <a:ext cx="2286000" cy="274320"/>
          </a:xfrm>
          <a:prstGeom prst="rect">
            <a:avLst/>
          </a:prstGeom>
          <a:noFill/>
        </p:spPr>
        <p:txBody>
          <a:bodyPr wrap="square">
            <a:spAutoFit/>
          </a:bodyPr>
          <a:lstStyle/>
          <a:p>
            <a:pPr algn="l">
              <a:spcBef>
                <a:spcPts val="0"/>
              </a:spcBef>
              <a:spcAft>
                <a:spcPts val="0"/>
              </a:spcAft>
              <a:defRPr sz="900" b="0">
                <a:solidFill>
                  <a:srgbClr val="E5E5EA"/>
                </a:solidFill>
                <a:latin typeface="Segoe UI"/>
              </a:defRPr>
            </a:pPr>
            <a:r>
              <a:t>▸ Đăng ký / Đăng nhập</a:t>
            </a:r>
          </a:p>
        </p:txBody>
      </p:sp>
      <p:sp>
        <p:nvSpPr>
          <p:cNvPr id="13" name="TextBox 12"/>
          <p:cNvSpPr txBox="1"/>
          <p:nvPr/>
        </p:nvSpPr>
        <p:spPr>
          <a:xfrm>
            <a:off x="731520" y="2560320"/>
            <a:ext cx="2286000" cy="274320"/>
          </a:xfrm>
          <a:prstGeom prst="rect">
            <a:avLst/>
          </a:prstGeom>
          <a:noFill/>
        </p:spPr>
        <p:txBody>
          <a:bodyPr wrap="square">
            <a:spAutoFit/>
          </a:bodyPr>
          <a:lstStyle/>
          <a:p>
            <a:pPr algn="l">
              <a:spcBef>
                <a:spcPts val="0"/>
              </a:spcBef>
              <a:spcAft>
                <a:spcPts val="0"/>
              </a:spcAft>
              <a:defRPr sz="900" b="0">
                <a:solidFill>
                  <a:srgbClr val="E5E5EA"/>
                </a:solidFill>
                <a:latin typeface="Segoe UI"/>
              </a:defRPr>
            </a:pPr>
            <a:r>
              <a:t>▸ Tìm kiếm nhà hàng &amp; món ăn</a:t>
            </a:r>
          </a:p>
        </p:txBody>
      </p:sp>
      <p:sp>
        <p:nvSpPr>
          <p:cNvPr id="14" name="TextBox 13"/>
          <p:cNvSpPr txBox="1"/>
          <p:nvPr/>
        </p:nvSpPr>
        <p:spPr>
          <a:xfrm>
            <a:off x="731520" y="2880360"/>
            <a:ext cx="2286000" cy="274320"/>
          </a:xfrm>
          <a:prstGeom prst="rect">
            <a:avLst/>
          </a:prstGeom>
          <a:noFill/>
        </p:spPr>
        <p:txBody>
          <a:bodyPr wrap="square">
            <a:spAutoFit/>
          </a:bodyPr>
          <a:lstStyle/>
          <a:p>
            <a:pPr algn="l">
              <a:spcBef>
                <a:spcPts val="0"/>
              </a:spcBef>
              <a:spcAft>
                <a:spcPts val="0"/>
              </a:spcAft>
              <a:defRPr sz="900" b="0">
                <a:solidFill>
                  <a:srgbClr val="E5E5EA"/>
                </a:solidFill>
                <a:latin typeface="Segoe UI"/>
              </a:defRPr>
            </a:pPr>
            <a:r>
              <a:t>▸ Xem thực đơn &amp; dinh dưỡng</a:t>
            </a:r>
          </a:p>
        </p:txBody>
      </p:sp>
      <p:sp>
        <p:nvSpPr>
          <p:cNvPr id="15" name="TextBox 14"/>
          <p:cNvSpPr txBox="1"/>
          <p:nvPr/>
        </p:nvSpPr>
        <p:spPr>
          <a:xfrm>
            <a:off x="731520" y="3200400"/>
            <a:ext cx="2286000" cy="274320"/>
          </a:xfrm>
          <a:prstGeom prst="rect">
            <a:avLst/>
          </a:prstGeom>
          <a:noFill/>
        </p:spPr>
        <p:txBody>
          <a:bodyPr wrap="square">
            <a:spAutoFit/>
          </a:bodyPr>
          <a:lstStyle/>
          <a:p>
            <a:pPr algn="l">
              <a:spcBef>
                <a:spcPts val="0"/>
              </a:spcBef>
              <a:spcAft>
                <a:spcPts val="0"/>
              </a:spcAft>
              <a:defRPr sz="900" b="0">
                <a:solidFill>
                  <a:srgbClr val="E5E5EA"/>
                </a:solidFill>
                <a:latin typeface="Segoe UI"/>
              </a:defRPr>
            </a:pPr>
            <a:r>
              <a:t>▸ Đặt món &amp; thanh toán</a:t>
            </a:r>
          </a:p>
        </p:txBody>
      </p:sp>
      <p:sp>
        <p:nvSpPr>
          <p:cNvPr id="16" name="TextBox 15"/>
          <p:cNvSpPr txBox="1"/>
          <p:nvPr/>
        </p:nvSpPr>
        <p:spPr>
          <a:xfrm>
            <a:off x="731520" y="3520440"/>
            <a:ext cx="2286000" cy="274320"/>
          </a:xfrm>
          <a:prstGeom prst="rect">
            <a:avLst/>
          </a:prstGeom>
          <a:noFill/>
        </p:spPr>
        <p:txBody>
          <a:bodyPr wrap="square">
            <a:spAutoFit/>
          </a:bodyPr>
          <a:lstStyle/>
          <a:p>
            <a:pPr algn="l">
              <a:spcBef>
                <a:spcPts val="0"/>
              </a:spcBef>
              <a:spcAft>
                <a:spcPts val="0"/>
              </a:spcAft>
              <a:defRPr sz="900" b="0">
                <a:solidFill>
                  <a:srgbClr val="E5E5EA"/>
                </a:solidFill>
                <a:latin typeface="Segoe UI"/>
              </a:defRPr>
            </a:pPr>
            <a:r>
              <a:t>▸ Theo dõi đơn hàng realtime</a:t>
            </a:r>
          </a:p>
        </p:txBody>
      </p:sp>
      <p:sp>
        <p:nvSpPr>
          <p:cNvPr id="17" name="TextBox 16"/>
          <p:cNvSpPr txBox="1"/>
          <p:nvPr/>
        </p:nvSpPr>
        <p:spPr>
          <a:xfrm>
            <a:off x="731520" y="3840480"/>
            <a:ext cx="2286000" cy="274320"/>
          </a:xfrm>
          <a:prstGeom prst="rect">
            <a:avLst/>
          </a:prstGeom>
          <a:noFill/>
        </p:spPr>
        <p:txBody>
          <a:bodyPr wrap="square">
            <a:spAutoFit/>
          </a:bodyPr>
          <a:lstStyle/>
          <a:p>
            <a:pPr algn="l">
              <a:spcBef>
                <a:spcPts val="0"/>
              </a:spcBef>
              <a:spcAft>
                <a:spcPts val="0"/>
              </a:spcAft>
              <a:defRPr sz="900" b="0">
                <a:solidFill>
                  <a:srgbClr val="E5E5EA"/>
                </a:solidFill>
                <a:latin typeface="Segoe UI"/>
              </a:defRPr>
            </a:pPr>
            <a:r>
              <a:t>▸ Đặt nhóm (Split Bill)</a:t>
            </a:r>
          </a:p>
        </p:txBody>
      </p:sp>
      <p:sp>
        <p:nvSpPr>
          <p:cNvPr id="18" name="TextBox 17"/>
          <p:cNvSpPr txBox="1"/>
          <p:nvPr/>
        </p:nvSpPr>
        <p:spPr>
          <a:xfrm>
            <a:off x="731520" y="4160520"/>
            <a:ext cx="2286000" cy="274320"/>
          </a:xfrm>
          <a:prstGeom prst="rect">
            <a:avLst/>
          </a:prstGeom>
          <a:noFill/>
        </p:spPr>
        <p:txBody>
          <a:bodyPr wrap="square">
            <a:spAutoFit/>
          </a:bodyPr>
          <a:lstStyle/>
          <a:p>
            <a:pPr algn="l">
              <a:spcBef>
                <a:spcPts val="0"/>
              </a:spcBef>
              <a:spcAft>
                <a:spcPts val="0"/>
              </a:spcAft>
              <a:defRPr sz="900" b="0">
                <a:solidFill>
                  <a:srgbClr val="E5E5EA"/>
                </a:solidFill>
                <a:latin typeface="Segoe UI"/>
              </a:defRPr>
            </a:pPr>
            <a:r>
              <a:t>▸ Đăng ký gói ăn định kỳ</a:t>
            </a:r>
          </a:p>
        </p:txBody>
      </p:sp>
      <p:sp>
        <p:nvSpPr>
          <p:cNvPr id="19" name="TextBox 18"/>
          <p:cNvSpPr txBox="1"/>
          <p:nvPr/>
        </p:nvSpPr>
        <p:spPr>
          <a:xfrm>
            <a:off x="731520" y="4480560"/>
            <a:ext cx="2286000" cy="274320"/>
          </a:xfrm>
          <a:prstGeom prst="rect">
            <a:avLst/>
          </a:prstGeom>
          <a:noFill/>
        </p:spPr>
        <p:txBody>
          <a:bodyPr wrap="square">
            <a:spAutoFit/>
          </a:bodyPr>
          <a:lstStyle/>
          <a:p>
            <a:pPr algn="l">
              <a:spcBef>
                <a:spcPts val="0"/>
              </a:spcBef>
              <a:spcAft>
                <a:spcPts val="0"/>
              </a:spcAft>
              <a:defRPr sz="900" b="0">
                <a:solidFill>
                  <a:srgbClr val="E5E5EA"/>
                </a:solidFill>
                <a:latin typeface="Segoe UI"/>
              </a:defRPr>
            </a:pPr>
            <a:r>
              <a:t>▸ Đánh giá &amp; nhận xét</a:t>
            </a:r>
          </a:p>
        </p:txBody>
      </p:sp>
      <p:sp>
        <p:nvSpPr>
          <p:cNvPr id="20" name="TextBox 19"/>
          <p:cNvSpPr txBox="1"/>
          <p:nvPr/>
        </p:nvSpPr>
        <p:spPr>
          <a:xfrm>
            <a:off x="731520" y="4800600"/>
            <a:ext cx="2286000" cy="274320"/>
          </a:xfrm>
          <a:prstGeom prst="rect">
            <a:avLst/>
          </a:prstGeom>
          <a:noFill/>
        </p:spPr>
        <p:txBody>
          <a:bodyPr wrap="square">
            <a:spAutoFit/>
          </a:bodyPr>
          <a:lstStyle/>
          <a:p>
            <a:pPr algn="l">
              <a:spcBef>
                <a:spcPts val="0"/>
              </a:spcBef>
              <a:spcAft>
                <a:spcPts val="0"/>
              </a:spcAft>
              <a:defRPr sz="900" b="0">
                <a:solidFill>
                  <a:srgbClr val="E5E5EA"/>
                </a:solidFill>
                <a:latin typeface="Segoe UI"/>
              </a:defRPr>
            </a:pPr>
            <a:r>
              <a:t>▸ Chơi game săn Xu</a:t>
            </a:r>
          </a:p>
        </p:txBody>
      </p:sp>
      <p:sp>
        <p:nvSpPr>
          <p:cNvPr id="21" name="TextBox 20"/>
          <p:cNvSpPr txBox="1"/>
          <p:nvPr/>
        </p:nvSpPr>
        <p:spPr>
          <a:xfrm>
            <a:off x="731520" y="5120640"/>
            <a:ext cx="2286000" cy="274320"/>
          </a:xfrm>
          <a:prstGeom prst="rect">
            <a:avLst/>
          </a:prstGeom>
          <a:noFill/>
        </p:spPr>
        <p:txBody>
          <a:bodyPr wrap="square">
            <a:spAutoFit/>
          </a:bodyPr>
          <a:lstStyle/>
          <a:p>
            <a:pPr algn="l">
              <a:spcBef>
                <a:spcPts val="0"/>
              </a:spcBef>
              <a:spcAft>
                <a:spcPts val="0"/>
              </a:spcAft>
              <a:defRPr sz="900" b="0">
                <a:solidFill>
                  <a:srgbClr val="E5E5EA"/>
                </a:solidFill>
                <a:latin typeface="Segoe UI"/>
              </a:defRPr>
            </a:pPr>
            <a:r>
              <a:t>▸ Sử dụng AI Chatbot</a:t>
            </a:r>
          </a:p>
        </p:txBody>
      </p:sp>
      <p:sp>
        <p:nvSpPr>
          <p:cNvPr id="22" name="TextBox 21"/>
          <p:cNvSpPr txBox="1"/>
          <p:nvPr/>
        </p:nvSpPr>
        <p:spPr>
          <a:xfrm>
            <a:off x="731520" y="5440680"/>
            <a:ext cx="2286000" cy="274320"/>
          </a:xfrm>
          <a:prstGeom prst="rect">
            <a:avLst/>
          </a:prstGeom>
          <a:noFill/>
        </p:spPr>
        <p:txBody>
          <a:bodyPr wrap="square">
            <a:spAutoFit/>
          </a:bodyPr>
          <a:lstStyle/>
          <a:p>
            <a:pPr algn="l">
              <a:spcBef>
                <a:spcPts val="0"/>
              </a:spcBef>
              <a:spcAft>
                <a:spcPts val="0"/>
              </a:spcAft>
              <a:defRPr sz="900" b="0">
                <a:solidFill>
                  <a:srgbClr val="E5E5EA"/>
                </a:solidFill>
                <a:latin typeface="Segoe UI"/>
              </a:defRPr>
            </a:pPr>
            <a:r>
              <a:t>▸ Quản lý voucher &amp; xu</a:t>
            </a:r>
          </a:p>
        </p:txBody>
      </p:sp>
      <p:sp>
        <p:nvSpPr>
          <p:cNvPr id="23" name="TextBox 22"/>
          <p:cNvSpPr txBox="1"/>
          <p:nvPr/>
        </p:nvSpPr>
        <p:spPr>
          <a:xfrm>
            <a:off x="731520" y="5760720"/>
            <a:ext cx="2286000" cy="274320"/>
          </a:xfrm>
          <a:prstGeom prst="rect">
            <a:avLst/>
          </a:prstGeom>
          <a:noFill/>
        </p:spPr>
        <p:txBody>
          <a:bodyPr wrap="square">
            <a:spAutoFit/>
          </a:bodyPr>
          <a:lstStyle/>
          <a:p>
            <a:pPr algn="l">
              <a:spcBef>
                <a:spcPts val="0"/>
              </a:spcBef>
              <a:spcAft>
                <a:spcPts val="0"/>
              </a:spcAft>
              <a:defRPr sz="900" b="0">
                <a:solidFill>
                  <a:srgbClr val="E5E5EA"/>
                </a:solidFill>
                <a:latin typeface="Segoe UI"/>
              </a:defRPr>
            </a:pPr>
            <a:r>
              <a:t>▸ Xem lịch sử đơn hàng</a:t>
            </a:r>
          </a:p>
        </p:txBody>
      </p:sp>
      <p:sp>
        <p:nvSpPr>
          <p:cNvPr id="24" name="Rounded Rectangle 23"/>
          <p:cNvSpPr/>
          <p:nvPr/>
        </p:nvSpPr>
        <p:spPr>
          <a:xfrm>
            <a:off x="3383280" y="1280160"/>
            <a:ext cx="2651760" cy="5029200"/>
          </a:xfrm>
          <a:prstGeom prst="roundRect">
            <a:avLst>
              <a:gd name="adj" fmla="val 4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3520440" y="1417320"/>
            <a:ext cx="2377440" cy="594360"/>
          </a:xfrm>
          <a:prstGeom prst="roundRect">
            <a:avLst>
              <a:gd name="adj" fmla="val 8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520440" y="1463040"/>
            <a:ext cx="2377440" cy="502920"/>
          </a:xfrm>
          <a:prstGeom prst="rect">
            <a:avLst/>
          </a:prstGeom>
          <a:noFill/>
        </p:spPr>
        <p:txBody>
          <a:bodyPr wrap="square">
            <a:spAutoFit/>
          </a:bodyPr>
          <a:lstStyle/>
          <a:p>
            <a:pPr algn="ctr">
              <a:spcBef>
                <a:spcPts val="0"/>
              </a:spcBef>
              <a:spcAft>
                <a:spcPts val="0"/>
              </a:spcAft>
              <a:defRPr sz="1200" b="1">
                <a:solidFill>
                  <a:srgbClr val="FFFFFF"/>
                </a:solidFill>
                <a:latin typeface="Segoe UI"/>
              </a:defRPr>
            </a:pPr>
            <a:r>
              <a:t>🍳  NHÀ HÀNG</a:t>
            </a:r>
          </a:p>
        </p:txBody>
      </p:sp>
      <p:sp>
        <p:nvSpPr>
          <p:cNvPr id="27" name="TextBox 26"/>
          <p:cNvSpPr txBox="1"/>
          <p:nvPr/>
        </p:nvSpPr>
        <p:spPr>
          <a:xfrm>
            <a:off x="3566160" y="2240280"/>
            <a:ext cx="2286000" cy="274320"/>
          </a:xfrm>
          <a:prstGeom prst="rect">
            <a:avLst/>
          </a:prstGeom>
          <a:noFill/>
        </p:spPr>
        <p:txBody>
          <a:bodyPr wrap="square">
            <a:spAutoFit/>
          </a:bodyPr>
          <a:lstStyle/>
          <a:p>
            <a:pPr algn="l">
              <a:spcBef>
                <a:spcPts val="0"/>
              </a:spcBef>
              <a:spcAft>
                <a:spcPts val="0"/>
              </a:spcAft>
              <a:defRPr sz="900" b="0">
                <a:solidFill>
                  <a:srgbClr val="E5E5EA"/>
                </a:solidFill>
                <a:latin typeface="Segoe UI"/>
              </a:defRPr>
            </a:pPr>
            <a:r>
              <a:t>▸ Đăng ký đối tác</a:t>
            </a:r>
          </a:p>
        </p:txBody>
      </p:sp>
      <p:sp>
        <p:nvSpPr>
          <p:cNvPr id="28" name="TextBox 27"/>
          <p:cNvSpPr txBox="1"/>
          <p:nvPr/>
        </p:nvSpPr>
        <p:spPr>
          <a:xfrm>
            <a:off x="3566160" y="2560320"/>
            <a:ext cx="2286000" cy="274320"/>
          </a:xfrm>
          <a:prstGeom prst="rect">
            <a:avLst/>
          </a:prstGeom>
          <a:noFill/>
        </p:spPr>
        <p:txBody>
          <a:bodyPr wrap="square">
            <a:spAutoFit/>
          </a:bodyPr>
          <a:lstStyle/>
          <a:p>
            <a:pPr algn="l">
              <a:spcBef>
                <a:spcPts val="0"/>
              </a:spcBef>
              <a:spcAft>
                <a:spcPts val="0"/>
              </a:spcAft>
              <a:defRPr sz="900" b="0">
                <a:solidFill>
                  <a:srgbClr val="E5E5EA"/>
                </a:solidFill>
                <a:latin typeface="Segoe UI"/>
              </a:defRPr>
            </a:pPr>
            <a:r>
              <a:t>▸ Quản lý thực đơn (CRUD)</a:t>
            </a:r>
          </a:p>
        </p:txBody>
      </p:sp>
      <p:sp>
        <p:nvSpPr>
          <p:cNvPr id="29" name="TextBox 28"/>
          <p:cNvSpPr txBox="1"/>
          <p:nvPr/>
        </p:nvSpPr>
        <p:spPr>
          <a:xfrm>
            <a:off x="3566160" y="2880360"/>
            <a:ext cx="2286000" cy="274320"/>
          </a:xfrm>
          <a:prstGeom prst="rect">
            <a:avLst/>
          </a:prstGeom>
          <a:noFill/>
        </p:spPr>
        <p:txBody>
          <a:bodyPr wrap="square">
            <a:spAutoFit/>
          </a:bodyPr>
          <a:lstStyle/>
          <a:p>
            <a:pPr algn="l">
              <a:spcBef>
                <a:spcPts val="0"/>
              </a:spcBef>
              <a:spcAft>
                <a:spcPts val="0"/>
              </a:spcAft>
              <a:defRPr sz="900" b="0">
                <a:solidFill>
                  <a:srgbClr val="E5E5EA"/>
                </a:solidFill>
                <a:latin typeface="Segoe UI"/>
              </a:defRPr>
            </a:pPr>
            <a:r>
              <a:t>▸ Xác nhận / từ chối đơn</a:t>
            </a:r>
          </a:p>
        </p:txBody>
      </p:sp>
      <p:sp>
        <p:nvSpPr>
          <p:cNvPr id="30" name="TextBox 29"/>
          <p:cNvSpPr txBox="1"/>
          <p:nvPr/>
        </p:nvSpPr>
        <p:spPr>
          <a:xfrm>
            <a:off x="3566160" y="3200400"/>
            <a:ext cx="2286000" cy="274320"/>
          </a:xfrm>
          <a:prstGeom prst="rect">
            <a:avLst/>
          </a:prstGeom>
          <a:noFill/>
        </p:spPr>
        <p:txBody>
          <a:bodyPr wrap="square">
            <a:spAutoFit/>
          </a:bodyPr>
          <a:lstStyle/>
          <a:p>
            <a:pPr algn="l">
              <a:spcBef>
                <a:spcPts val="0"/>
              </a:spcBef>
              <a:spcAft>
                <a:spcPts val="0"/>
              </a:spcAft>
              <a:defRPr sz="900" b="0">
                <a:solidFill>
                  <a:srgbClr val="E5E5EA"/>
                </a:solidFill>
                <a:latin typeface="Segoe UI"/>
              </a:defRPr>
            </a:pPr>
            <a:r>
              <a:t>▸ Cập nhật trạng thái món</a:t>
            </a:r>
          </a:p>
        </p:txBody>
      </p:sp>
      <p:sp>
        <p:nvSpPr>
          <p:cNvPr id="31" name="TextBox 30"/>
          <p:cNvSpPr txBox="1"/>
          <p:nvPr/>
        </p:nvSpPr>
        <p:spPr>
          <a:xfrm>
            <a:off x="3566160" y="3520440"/>
            <a:ext cx="2286000" cy="274320"/>
          </a:xfrm>
          <a:prstGeom prst="rect">
            <a:avLst/>
          </a:prstGeom>
          <a:noFill/>
        </p:spPr>
        <p:txBody>
          <a:bodyPr wrap="square">
            <a:spAutoFit/>
          </a:bodyPr>
          <a:lstStyle/>
          <a:p>
            <a:pPr algn="l">
              <a:spcBef>
                <a:spcPts val="0"/>
              </a:spcBef>
              <a:spcAft>
                <a:spcPts val="0"/>
              </a:spcAft>
              <a:defRPr sz="900" b="0">
                <a:solidFill>
                  <a:srgbClr val="E5E5EA"/>
                </a:solidFill>
                <a:latin typeface="Segoe UI"/>
              </a:defRPr>
            </a:pPr>
            <a:r>
              <a:t>▸ Xem thống kê doanh thu</a:t>
            </a:r>
          </a:p>
        </p:txBody>
      </p:sp>
      <p:sp>
        <p:nvSpPr>
          <p:cNvPr id="32" name="TextBox 31"/>
          <p:cNvSpPr txBox="1"/>
          <p:nvPr/>
        </p:nvSpPr>
        <p:spPr>
          <a:xfrm>
            <a:off x="3566160" y="3840480"/>
            <a:ext cx="2286000" cy="274320"/>
          </a:xfrm>
          <a:prstGeom prst="rect">
            <a:avLst/>
          </a:prstGeom>
          <a:noFill/>
        </p:spPr>
        <p:txBody>
          <a:bodyPr wrap="square">
            <a:spAutoFit/>
          </a:bodyPr>
          <a:lstStyle/>
          <a:p>
            <a:pPr algn="l">
              <a:spcBef>
                <a:spcPts val="0"/>
              </a:spcBef>
              <a:spcAft>
                <a:spcPts val="0"/>
              </a:spcAft>
              <a:defRPr sz="900" b="0">
                <a:solidFill>
                  <a:srgbClr val="E5E5EA"/>
                </a:solidFill>
                <a:latin typeface="Segoe UI"/>
              </a:defRPr>
            </a:pPr>
            <a:r>
              <a:t>▸ Phản hồi đánh giá</a:t>
            </a:r>
          </a:p>
        </p:txBody>
      </p:sp>
      <p:sp>
        <p:nvSpPr>
          <p:cNvPr id="33" name="TextBox 32"/>
          <p:cNvSpPr txBox="1"/>
          <p:nvPr/>
        </p:nvSpPr>
        <p:spPr>
          <a:xfrm>
            <a:off x="3566160" y="4160520"/>
            <a:ext cx="2286000" cy="274320"/>
          </a:xfrm>
          <a:prstGeom prst="rect">
            <a:avLst/>
          </a:prstGeom>
          <a:noFill/>
        </p:spPr>
        <p:txBody>
          <a:bodyPr wrap="square">
            <a:spAutoFit/>
          </a:bodyPr>
          <a:lstStyle/>
          <a:p>
            <a:pPr algn="l">
              <a:spcBef>
                <a:spcPts val="0"/>
              </a:spcBef>
              <a:spcAft>
                <a:spcPts val="0"/>
              </a:spcAft>
              <a:defRPr sz="900" b="0">
                <a:solidFill>
                  <a:srgbClr val="E5E5EA"/>
                </a:solidFill>
                <a:latin typeface="Segoe UI"/>
              </a:defRPr>
            </a:pPr>
            <a:r>
              <a:t>▸ Thanh toán phí duy trì</a:t>
            </a:r>
          </a:p>
        </p:txBody>
      </p:sp>
      <p:sp>
        <p:nvSpPr>
          <p:cNvPr id="34" name="TextBox 33"/>
          <p:cNvSpPr txBox="1"/>
          <p:nvPr/>
        </p:nvSpPr>
        <p:spPr>
          <a:xfrm>
            <a:off x="3566160" y="4480560"/>
            <a:ext cx="2286000" cy="274320"/>
          </a:xfrm>
          <a:prstGeom prst="rect">
            <a:avLst/>
          </a:prstGeom>
          <a:noFill/>
        </p:spPr>
        <p:txBody>
          <a:bodyPr wrap="square">
            <a:spAutoFit/>
          </a:bodyPr>
          <a:lstStyle/>
          <a:p>
            <a:pPr algn="l">
              <a:spcBef>
                <a:spcPts val="0"/>
              </a:spcBef>
              <a:spcAft>
                <a:spcPts val="0"/>
              </a:spcAft>
              <a:defRPr sz="900" b="0">
                <a:solidFill>
                  <a:srgbClr val="E5E5EA"/>
                </a:solidFill>
                <a:latin typeface="Segoe UI"/>
              </a:defRPr>
            </a:pPr>
            <a:r>
              <a:t>▸ Quản lý ảnh bìa cửa hàng</a:t>
            </a:r>
          </a:p>
        </p:txBody>
      </p:sp>
      <p:sp>
        <p:nvSpPr>
          <p:cNvPr id="35" name="Rounded Rectangle 34"/>
          <p:cNvSpPr/>
          <p:nvPr/>
        </p:nvSpPr>
        <p:spPr>
          <a:xfrm>
            <a:off x="6217920" y="1280160"/>
            <a:ext cx="2651760" cy="5029200"/>
          </a:xfrm>
          <a:prstGeom prst="roundRect">
            <a:avLst>
              <a:gd name="adj" fmla="val 4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6355080" y="1417320"/>
            <a:ext cx="2377440" cy="594360"/>
          </a:xfrm>
          <a:prstGeom prst="roundRect">
            <a:avLst>
              <a:gd name="adj" fmla="val 8000"/>
            </a:avLst>
          </a:prstGeom>
          <a:solidFill>
            <a:srgbClr val="388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355080" y="1463040"/>
            <a:ext cx="2377440" cy="502920"/>
          </a:xfrm>
          <a:prstGeom prst="rect">
            <a:avLst/>
          </a:prstGeom>
          <a:noFill/>
        </p:spPr>
        <p:txBody>
          <a:bodyPr wrap="square">
            <a:spAutoFit/>
          </a:bodyPr>
          <a:lstStyle/>
          <a:p>
            <a:pPr algn="ctr">
              <a:spcBef>
                <a:spcPts val="0"/>
              </a:spcBef>
              <a:spcAft>
                <a:spcPts val="0"/>
              </a:spcAft>
              <a:defRPr sz="1200" b="1">
                <a:solidFill>
                  <a:srgbClr val="FFFFFF"/>
                </a:solidFill>
                <a:latin typeface="Segoe UI"/>
              </a:defRPr>
            </a:pPr>
            <a:r>
              <a:t>🛵  TÀI XẾ</a:t>
            </a:r>
          </a:p>
        </p:txBody>
      </p:sp>
      <p:sp>
        <p:nvSpPr>
          <p:cNvPr id="38" name="TextBox 37"/>
          <p:cNvSpPr txBox="1"/>
          <p:nvPr/>
        </p:nvSpPr>
        <p:spPr>
          <a:xfrm>
            <a:off x="6400800" y="2240280"/>
            <a:ext cx="2286000" cy="274320"/>
          </a:xfrm>
          <a:prstGeom prst="rect">
            <a:avLst/>
          </a:prstGeom>
          <a:noFill/>
        </p:spPr>
        <p:txBody>
          <a:bodyPr wrap="square">
            <a:spAutoFit/>
          </a:bodyPr>
          <a:lstStyle/>
          <a:p>
            <a:pPr algn="l">
              <a:spcBef>
                <a:spcPts val="0"/>
              </a:spcBef>
              <a:spcAft>
                <a:spcPts val="0"/>
              </a:spcAft>
              <a:defRPr sz="900" b="0">
                <a:solidFill>
                  <a:srgbClr val="E5E5EA"/>
                </a:solidFill>
                <a:latin typeface="Segoe UI"/>
              </a:defRPr>
            </a:pPr>
            <a:r>
              <a:t>▸ Đăng ký tài xế</a:t>
            </a:r>
          </a:p>
        </p:txBody>
      </p:sp>
      <p:sp>
        <p:nvSpPr>
          <p:cNvPr id="39" name="TextBox 38"/>
          <p:cNvSpPr txBox="1"/>
          <p:nvPr/>
        </p:nvSpPr>
        <p:spPr>
          <a:xfrm>
            <a:off x="6400800" y="2560320"/>
            <a:ext cx="2286000" cy="274320"/>
          </a:xfrm>
          <a:prstGeom prst="rect">
            <a:avLst/>
          </a:prstGeom>
          <a:noFill/>
        </p:spPr>
        <p:txBody>
          <a:bodyPr wrap="square">
            <a:spAutoFit/>
          </a:bodyPr>
          <a:lstStyle/>
          <a:p>
            <a:pPr algn="l">
              <a:spcBef>
                <a:spcPts val="0"/>
              </a:spcBef>
              <a:spcAft>
                <a:spcPts val="0"/>
              </a:spcAft>
              <a:defRPr sz="900" b="0">
                <a:solidFill>
                  <a:srgbClr val="E5E5EA"/>
                </a:solidFill>
                <a:latin typeface="Segoe UI"/>
              </a:defRPr>
            </a:pPr>
            <a:r>
              <a:t>▸ Bật/Tắt trạng thái online</a:t>
            </a:r>
          </a:p>
        </p:txBody>
      </p:sp>
      <p:sp>
        <p:nvSpPr>
          <p:cNvPr id="40" name="TextBox 39"/>
          <p:cNvSpPr txBox="1"/>
          <p:nvPr/>
        </p:nvSpPr>
        <p:spPr>
          <a:xfrm>
            <a:off x="6400800" y="2880360"/>
            <a:ext cx="2286000" cy="274320"/>
          </a:xfrm>
          <a:prstGeom prst="rect">
            <a:avLst/>
          </a:prstGeom>
          <a:noFill/>
        </p:spPr>
        <p:txBody>
          <a:bodyPr wrap="square">
            <a:spAutoFit/>
          </a:bodyPr>
          <a:lstStyle/>
          <a:p>
            <a:pPr algn="l">
              <a:spcBef>
                <a:spcPts val="0"/>
              </a:spcBef>
              <a:spcAft>
                <a:spcPts val="0"/>
              </a:spcAft>
              <a:defRPr sz="900" b="0">
                <a:solidFill>
                  <a:srgbClr val="E5E5EA"/>
                </a:solidFill>
                <a:latin typeface="Segoe UI"/>
              </a:defRPr>
            </a:pPr>
            <a:r>
              <a:t>▸ Nhận đơn giao hàng</a:t>
            </a:r>
          </a:p>
        </p:txBody>
      </p:sp>
      <p:sp>
        <p:nvSpPr>
          <p:cNvPr id="41" name="TextBox 40"/>
          <p:cNvSpPr txBox="1"/>
          <p:nvPr/>
        </p:nvSpPr>
        <p:spPr>
          <a:xfrm>
            <a:off x="6400800" y="3200400"/>
            <a:ext cx="2286000" cy="274320"/>
          </a:xfrm>
          <a:prstGeom prst="rect">
            <a:avLst/>
          </a:prstGeom>
          <a:noFill/>
        </p:spPr>
        <p:txBody>
          <a:bodyPr wrap="square">
            <a:spAutoFit/>
          </a:bodyPr>
          <a:lstStyle/>
          <a:p>
            <a:pPr algn="l">
              <a:spcBef>
                <a:spcPts val="0"/>
              </a:spcBef>
              <a:spcAft>
                <a:spcPts val="0"/>
              </a:spcAft>
              <a:defRPr sz="900" b="0">
                <a:solidFill>
                  <a:srgbClr val="E5E5EA"/>
                </a:solidFill>
                <a:latin typeface="Segoe UI"/>
              </a:defRPr>
            </a:pPr>
            <a:r>
              <a:t>▸ Cập nhật vị trí GPS</a:t>
            </a:r>
          </a:p>
        </p:txBody>
      </p:sp>
      <p:sp>
        <p:nvSpPr>
          <p:cNvPr id="42" name="TextBox 41"/>
          <p:cNvSpPr txBox="1"/>
          <p:nvPr/>
        </p:nvSpPr>
        <p:spPr>
          <a:xfrm>
            <a:off x="6400800" y="3520440"/>
            <a:ext cx="2286000" cy="274320"/>
          </a:xfrm>
          <a:prstGeom prst="rect">
            <a:avLst/>
          </a:prstGeom>
          <a:noFill/>
        </p:spPr>
        <p:txBody>
          <a:bodyPr wrap="square">
            <a:spAutoFit/>
          </a:bodyPr>
          <a:lstStyle/>
          <a:p>
            <a:pPr algn="l">
              <a:spcBef>
                <a:spcPts val="0"/>
              </a:spcBef>
              <a:spcAft>
                <a:spcPts val="0"/>
              </a:spcAft>
              <a:defRPr sz="900" b="0">
                <a:solidFill>
                  <a:srgbClr val="E5E5EA"/>
                </a:solidFill>
                <a:latin typeface="Segoe UI"/>
              </a:defRPr>
            </a:pPr>
            <a:r>
              <a:t>▸ Xác nhận giao hàng</a:t>
            </a:r>
          </a:p>
        </p:txBody>
      </p:sp>
      <p:sp>
        <p:nvSpPr>
          <p:cNvPr id="43" name="TextBox 42"/>
          <p:cNvSpPr txBox="1"/>
          <p:nvPr/>
        </p:nvSpPr>
        <p:spPr>
          <a:xfrm>
            <a:off x="6400800" y="3840480"/>
            <a:ext cx="2286000" cy="274320"/>
          </a:xfrm>
          <a:prstGeom prst="rect">
            <a:avLst/>
          </a:prstGeom>
          <a:noFill/>
        </p:spPr>
        <p:txBody>
          <a:bodyPr wrap="square">
            <a:spAutoFit/>
          </a:bodyPr>
          <a:lstStyle/>
          <a:p>
            <a:pPr algn="l">
              <a:spcBef>
                <a:spcPts val="0"/>
              </a:spcBef>
              <a:spcAft>
                <a:spcPts val="0"/>
              </a:spcAft>
              <a:defRPr sz="900" b="0">
                <a:solidFill>
                  <a:srgbClr val="E5E5EA"/>
                </a:solidFill>
                <a:latin typeface="Segoe UI"/>
              </a:defRPr>
            </a:pPr>
            <a:r>
              <a:t>▸ Xem thống kê thu nhập</a:t>
            </a:r>
          </a:p>
        </p:txBody>
      </p:sp>
      <p:sp>
        <p:nvSpPr>
          <p:cNvPr id="44" name="TextBox 43"/>
          <p:cNvSpPr txBox="1"/>
          <p:nvPr/>
        </p:nvSpPr>
        <p:spPr>
          <a:xfrm>
            <a:off x="6400800" y="4160520"/>
            <a:ext cx="2286000" cy="274320"/>
          </a:xfrm>
          <a:prstGeom prst="rect">
            <a:avLst/>
          </a:prstGeom>
          <a:noFill/>
        </p:spPr>
        <p:txBody>
          <a:bodyPr wrap="square">
            <a:spAutoFit/>
          </a:bodyPr>
          <a:lstStyle/>
          <a:p>
            <a:pPr algn="l">
              <a:spcBef>
                <a:spcPts val="0"/>
              </a:spcBef>
              <a:spcAft>
                <a:spcPts val="0"/>
              </a:spcAft>
              <a:defRPr sz="900" b="0">
                <a:solidFill>
                  <a:srgbClr val="E5E5EA"/>
                </a:solidFill>
                <a:latin typeface="Segoe UI"/>
              </a:defRPr>
            </a:pPr>
            <a:r>
              <a:t>▸ Quản lý hồ sơ tài xế</a:t>
            </a:r>
          </a:p>
        </p:txBody>
      </p:sp>
      <p:sp>
        <p:nvSpPr>
          <p:cNvPr id="45" name="Rounded Rectangle 44"/>
          <p:cNvSpPr/>
          <p:nvPr/>
        </p:nvSpPr>
        <p:spPr>
          <a:xfrm>
            <a:off x="9052560" y="1280160"/>
            <a:ext cx="2651760" cy="5029200"/>
          </a:xfrm>
          <a:prstGeom prst="roundRect">
            <a:avLst>
              <a:gd name="adj" fmla="val 4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45"/>
          <p:cNvSpPr/>
          <p:nvPr/>
        </p:nvSpPr>
        <p:spPr>
          <a:xfrm>
            <a:off x="9189720" y="1417320"/>
            <a:ext cx="2377440" cy="594360"/>
          </a:xfrm>
          <a:prstGeom prst="roundRect">
            <a:avLst>
              <a:gd name="adj" fmla="val 8000"/>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9189720" y="1463040"/>
            <a:ext cx="2377440" cy="502920"/>
          </a:xfrm>
          <a:prstGeom prst="rect">
            <a:avLst/>
          </a:prstGeom>
          <a:noFill/>
        </p:spPr>
        <p:txBody>
          <a:bodyPr wrap="square">
            <a:spAutoFit/>
          </a:bodyPr>
          <a:lstStyle/>
          <a:p>
            <a:pPr algn="ctr">
              <a:spcBef>
                <a:spcPts val="0"/>
              </a:spcBef>
              <a:spcAft>
                <a:spcPts val="0"/>
              </a:spcAft>
              <a:defRPr sz="1200" b="1">
                <a:solidFill>
                  <a:srgbClr val="FFFFFF"/>
                </a:solidFill>
                <a:latin typeface="Segoe UI"/>
              </a:defRPr>
            </a:pPr>
            <a:r>
              <a:t>👑  QUẢN TRỊ VIÊN</a:t>
            </a:r>
          </a:p>
        </p:txBody>
      </p:sp>
      <p:sp>
        <p:nvSpPr>
          <p:cNvPr id="48" name="TextBox 47"/>
          <p:cNvSpPr txBox="1"/>
          <p:nvPr/>
        </p:nvSpPr>
        <p:spPr>
          <a:xfrm>
            <a:off x="9235440" y="2240280"/>
            <a:ext cx="2286000" cy="274320"/>
          </a:xfrm>
          <a:prstGeom prst="rect">
            <a:avLst/>
          </a:prstGeom>
          <a:noFill/>
        </p:spPr>
        <p:txBody>
          <a:bodyPr wrap="square">
            <a:spAutoFit/>
          </a:bodyPr>
          <a:lstStyle/>
          <a:p>
            <a:pPr algn="l">
              <a:spcBef>
                <a:spcPts val="0"/>
              </a:spcBef>
              <a:spcAft>
                <a:spcPts val="0"/>
              </a:spcAft>
              <a:defRPr sz="900" b="0">
                <a:solidFill>
                  <a:srgbClr val="E5E5EA"/>
                </a:solidFill>
                <a:latin typeface="Segoe UI"/>
              </a:defRPr>
            </a:pPr>
            <a:r>
              <a:t>▸ Dashboard tổng quan</a:t>
            </a:r>
          </a:p>
        </p:txBody>
      </p:sp>
      <p:sp>
        <p:nvSpPr>
          <p:cNvPr id="49" name="TextBox 48"/>
          <p:cNvSpPr txBox="1"/>
          <p:nvPr/>
        </p:nvSpPr>
        <p:spPr>
          <a:xfrm>
            <a:off x="9235440" y="2560320"/>
            <a:ext cx="2286000" cy="274320"/>
          </a:xfrm>
          <a:prstGeom prst="rect">
            <a:avLst/>
          </a:prstGeom>
          <a:noFill/>
        </p:spPr>
        <p:txBody>
          <a:bodyPr wrap="square">
            <a:spAutoFit/>
          </a:bodyPr>
          <a:lstStyle/>
          <a:p>
            <a:pPr algn="l">
              <a:spcBef>
                <a:spcPts val="0"/>
              </a:spcBef>
              <a:spcAft>
                <a:spcPts val="0"/>
              </a:spcAft>
              <a:defRPr sz="900" b="0">
                <a:solidFill>
                  <a:srgbClr val="E5E5EA"/>
                </a:solidFill>
                <a:latin typeface="Segoe UI"/>
              </a:defRPr>
            </a:pPr>
            <a:r>
              <a:t>▸ Quản lý người dùng</a:t>
            </a:r>
          </a:p>
        </p:txBody>
      </p:sp>
      <p:sp>
        <p:nvSpPr>
          <p:cNvPr id="50" name="TextBox 49"/>
          <p:cNvSpPr txBox="1"/>
          <p:nvPr/>
        </p:nvSpPr>
        <p:spPr>
          <a:xfrm>
            <a:off x="9235440" y="2880360"/>
            <a:ext cx="2286000" cy="274320"/>
          </a:xfrm>
          <a:prstGeom prst="rect">
            <a:avLst/>
          </a:prstGeom>
          <a:noFill/>
        </p:spPr>
        <p:txBody>
          <a:bodyPr wrap="square">
            <a:spAutoFit/>
          </a:bodyPr>
          <a:lstStyle/>
          <a:p>
            <a:pPr algn="l">
              <a:spcBef>
                <a:spcPts val="0"/>
              </a:spcBef>
              <a:spcAft>
                <a:spcPts val="0"/>
              </a:spcAft>
              <a:defRPr sz="900" b="0">
                <a:solidFill>
                  <a:srgbClr val="E5E5EA"/>
                </a:solidFill>
                <a:latin typeface="Segoe UI"/>
              </a:defRPr>
            </a:pPr>
            <a:r>
              <a:t>▸ Duyệt đối tác / tài xế</a:t>
            </a:r>
          </a:p>
        </p:txBody>
      </p:sp>
      <p:sp>
        <p:nvSpPr>
          <p:cNvPr id="51" name="TextBox 50"/>
          <p:cNvSpPr txBox="1"/>
          <p:nvPr/>
        </p:nvSpPr>
        <p:spPr>
          <a:xfrm>
            <a:off x="9235440" y="3200400"/>
            <a:ext cx="2286000" cy="274320"/>
          </a:xfrm>
          <a:prstGeom prst="rect">
            <a:avLst/>
          </a:prstGeom>
          <a:noFill/>
        </p:spPr>
        <p:txBody>
          <a:bodyPr wrap="square">
            <a:spAutoFit/>
          </a:bodyPr>
          <a:lstStyle/>
          <a:p>
            <a:pPr algn="l">
              <a:spcBef>
                <a:spcPts val="0"/>
              </a:spcBef>
              <a:spcAft>
                <a:spcPts val="0"/>
              </a:spcAft>
              <a:defRPr sz="900" b="0">
                <a:solidFill>
                  <a:srgbClr val="E5E5EA"/>
                </a:solidFill>
                <a:latin typeface="Segoe UI"/>
              </a:defRPr>
            </a:pPr>
            <a:r>
              <a:t>▸ Quản lý đơn hàng</a:t>
            </a:r>
          </a:p>
        </p:txBody>
      </p:sp>
      <p:sp>
        <p:nvSpPr>
          <p:cNvPr id="52" name="TextBox 51"/>
          <p:cNvSpPr txBox="1"/>
          <p:nvPr/>
        </p:nvSpPr>
        <p:spPr>
          <a:xfrm>
            <a:off x="9235440" y="3520440"/>
            <a:ext cx="2286000" cy="274320"/>
          </a:xfrm>
          <a:prstGeom prst="rect">
            <a:avLst/>
          </a:prstGeom>
          <a:noFill/>
        </p:spPr>
        <p:txBody>
          <a:bodyPr wrap="square">
            <a:spAutoFit/>
          </a:bodyPr>
          <a:lstStyle/>
          <a:p>
            <a:pPr algn="l">
              <a:spcBef>
                <a:spcPts val="0"/>
              </a:spcBef>
              <a:spcAft>
                <a:spcPts val="0"/>
              </a:spcAft>
              <a:defRPr sz="900" b="0">
                <a:solidFill>
                  <a:srgbClr val="E5E5EA"/>
                </a:solidFill>
                <a:latin typeface="Segoe UI"/>
              </a:defRPr>
            </a:pPr>
            <a:r>
              <a:t>▸ Quản lý mã giảm giá</a:t>
            </a:r>
          </a:p>
        </p:txBody>
      </p:sp>
      <p:sp>
        <p:nvSpPr>
          <p:cNvPr id="53" name="TextBox 52"/>
          <p:cNvSpPr txBox="1"/>
          <p:nvPr/>
        </p:nvSpPr>
        <p:spPr>
          <a:xfrm>
            <a:off x="9235440" y="3840480"/>
            <a:ext cx="2286000" cy="274320"/>
          </a:xfrm>
          <a:prstGeom prst="rect">
            <a:avLst/>
          </a:prstGeom>
          <a:noFill/>
        </p:spPr>
        <p:txBody>
          <a:bodyPr wrap="square">
            <a:spAutoFit/>
          </a:bodyPr>
          <a:lstStyle/>
          <a:p>
            <a:pPr algn="l">
              <a:spcBef>
                <a:spcPts val="0"/>
              </a:spcBef>
              <a:spcAft>
                <a:spcPts val="0"/>
              </a:spcAft>
              <a:defRPr sz="900" b="0">
                <a:solidFill>
                  <a:srgbClr val="E5E5EA"/>
                </a:solidFill>
                <a:latin typeface="Segoe UI"/>
              </a:defRPr>
            </a:pPr>
            <a:r>
              <a:t>▸ Cấu hình hệ thống</a:t>
            </a:r>
          </a:p>
        </p:txBody>
      </p:sp>
      <p:sp>
        <p:nvSpPr>
          <p:cNvPr id="54" name="TextBox 53"/>
          <p:cNvSpPr txBox="1"/>
          <p:nvPr/>
        </p:nvSpPr>
        <p:spPr>
          <a:xfrm>
            <a:off x="9235440" y="4160520"/>
            <a:ext cx="2286000" cy="274320"/>
          </a:xfrm>
          <a:prstGeom prst="rect">
            <a:avLst/>
          </a:prstGeom>
          <a:noFill/>
        </p:spPr>
        <p:txBody>
          <a:bodyPr wrap="square">
            <a:spAutoFit/>
          </a:bodyPr>
          <a:lstStyle/>
          <a:p>
            <a:pPr algn="l">
              <a:spcBef>
                <a:spcPts val="0"/>
              </a:spcBef>
              <a:spcAft>
                <a:spcPts val="0"/>
              </a:spcAft>
              <a:defRPr sz="900" b="0">
                <a:solidFill>
                  <a:srgbClr val="E5E5EA"/>
                </a:solidFill>
                <a:latin typeface="Segoe UI"/>
              </a:defRPr>
            </a:pPr>
            <a:r>
              <a:t>▸ Quản lý phí duy trì</a:t>
            </a:r>
          </a:p>
        </p:txBody>
      </p:sp>
      <p:sp>
        <p:nvSpPr>
          <p:cNvPr id="55" name="TextBox 54"/>
          <p:cNvSpPr txBox="1"/>
          <p:nvPr/>
        </p:nvSpPr>
        <p:spPr>
          <a:xfrm>
            <a:off x="9235440" y="4480560"/>
            <a:ext cx="2286000" cy="274320"/>
          </a:xfrm>
          <a:prstGeom prst="rect">
            <a:avLst/>
          </a:prstGeom>
          <a:noFill/>
        </p:spPr>
        <p:txBody>
          <a:bodyPr wrap="square">
            <a:spAutoFit/>
          </a:bodyPr>
          <a:lstStyle/>
          <a:p>
            <a:pPr algn="l">
              <a:spcBef>
                <a:spcPts val="0"/>
              </a:spcBef>
              <a:spcAft>
                <a:spcPts val="0"/>
              </a:spcAft>
              <a:defRPr sz="900" b="0">
                <a:solidFill>
                  <a:srgbClr val="E5E5EA"/>
                </a:solidFill>
                <a:latin typeface="Segoe UI"/>
              </a:defRPr>
            </a:pPr>
            <a:r>
              <a:t>▸ Bật/Tắt bảo trì</a:t>
            </a:r>
          </a:p>
        </p:txBody>
      </p:sp>
      <p:sp>
        <p:nvSpPr>
          <p:cNvPr id="56" name="TextBox 55"/>
          <p:cNvSpPr txBox="1"/>
          <p:nvPr/>
        </p:nvSpPr>
        <p:spPr>
          <a:xfrm>
            <a:off x="9235440" y="4800600"/>
            <a:ext cx="2286000" cy="274320"/>
          </a:xfrm>
          <a:prstGeom prst="rect">
            <a:avLst/>
          </a:prstGeom>
          <a:noFill/>
        </p:spPr>
        <p:txBody>
          <a:bodyPr wrap="square">
            <a:spAutoFit/>
          </a:bodyPr>
          <a:lstStyle/>
          <a:p>
            <a:pPr algn="l">
              <a:spcBef>
                <a:spcPts val="0"/>
              </a:spcBef>
              <a:spcAft>
                <a:spcPts val="0"/>
              </a:spcAft>
              <a:defRPr sz="900" b="0">
                <a:solidFill>
                  <a:srgbClr val="E5E5EA"/>
                </a:solidFill>
                <a:latin typeface="Segoe UI"/>
              </a:defRPr>
            </a:pPr>
            <a:r>
              <a:t>▸ Xem analytics &amp; reports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0F14"/>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731520" cy="457200"/>
          </a:xfrm>
          <a:prstGeom prst="rect">
            <a:avLst/>
          </a:prstGeom>
          <a:noFill/>
        </p:spPr>
        <p:txBody>
          <a:bodyPr wrap="square">
            <a:spAutoFit/>
          </a:bodyPr>
          <a:lstStyle/>
          <a:p>
            <a:pPr algn="l">
              <a:spcBef>
                <a:spcPts val="0"/>
              </a:spcBef>
              <a:spcAft>
                <a:spcPts val="0"/>
              </a:spcAft>
              <a:defRPr sz="1400" b="1">
                <a:solidFill>
                  <a:srgbClr val="FF6B00"/>
                </a:solidFill>
                <a:latin typeface="Segoe UI Black"/>
              </a:defRPr>
            </a:pPr>
            <a:r>
              <a:t>03</a:t>
            </a:r>
          </a:p>
        </p:txBody>
      </p:sp>
      <p:sp>
        <p:nvSpPr>
          <p:cNvPr id="4" name="TextBox 3"/>
          <p:cNvSpPr txBox="1"/>
          <p:nvPr/>
        </p:nvSpPr>
        <p:spPr>
          <a:xfrm>
            <a:off x="1234440" y="320040"/>
            <a:ext cx="274320" cy="457200"/>
          </a:xfrm>
          <a:prstGeom prst="rect">
            <a:avLst/>
          </a:prstGeom>
          <a:noFill/>
        </p:spPr>
        <p:txBody>
          <a:bodyPr wrap="square">
            <a:spAutoFit/>
          </a:bodyPr>
          <a:lstStyle/>
          <a:p>
            <a:pPr algn="l">
              <a:spcBef>
                <a:spcPts val="0"/>
              </a:spcBef>
              <a:spcAft>
                <a:spcPts val="0"/>
              </a:spcAft>
              <a:defRPr sz="1400" b="1">
                <a:solidFill>
                  <a:srgbClr val="9C9CA8"/>
                </a:solidFill>
                <a:latin typeface="Segoe UI"/>
              </a:defRPr>
            </a:pPr>
            <a:r>
              <a:t>—</a:t>
            </a:r>
          </a:p>
        </p:txBody>
      </p:sp>
      <p:sp>
        <p:nvSpPr>
          <p:cNvPr id="5" name="TextBox 4"/>
          <p:cNvSpPr txBox="1"/>
          <p:nvPr/>
        </p:nvSpPr>
        <p:spPr>
          <a:xfrm>
            <a:off x="1508760" y="274320"/>
            <a:ext cx="7315200" cy="502920"/>
          </a:xfrm>
          <a:prstGeom prst="rect">
            <a:avLst/>
          </a:prstGeom>
          <a:noFill/>
        </p:spPr>
        <p:txBody>
          <a:bodyPr wrap="square">
            <a:spAutoFit/>
          </a:bodyPr>
          <a:lstStyle/>
          <a:p>
            <a:pPr algn="l">
              <a:spcBef>
                <a:spcPts val="0"/>
              </a:spcBef>
              <a:spcAft>
                <a:spcPts val="0"/>
              </a:spcAft>
              <a:defRPr sz="1500" b="1">
                <a:solidFill>
                  <a:srgbClr val="FFFFFF"/>
                </a:solidFill>
                <a:latin typeface="Segoe UI Semibold"/>
              </a:defRPr>
            </a:pPr>
            <a:r>
              <a:t>LƯỢC ĐỒ QUAN HỆ THỰC THỂ (ER)</a:t>
            </a:r>
          </a:p>
        </p:txBody>
      </p:sp>
      <p:sp>
        <p:nvSpPr>
          <p:cNvPr id="6" name="TextBox 5"/>
          <p:cNvSpPr txBox="1"/>
          <p:nvPr/>
        </p:nvSpPr>
        <p:spPr>
          <a:xfrm>
            <a:off x="1508760" y="640080"/>
            <a:ext cx="7315200" cy="36576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Phân tích hệ thống</a:t>
            </a:r>
          </a:p>
        </p:txBody>
      </p:sp>
      <p:sp>
        <p:nvSpPr>
          <p:cNvPr id="7" name="TextBox 6"/>
          <p:cNvSpPr txBox="1"/>
          <p:nvPr/>
        </p:nvSpPr>
        <p:spPr>
          <a:xfrm>
            <a:off x="10058400" y="320040"/>
            <a:ext cx="1828800" cy="365760"/>
          </a:xfrm>
          <a:prstGeom prst="rect">
            <a:avLst/>
          </a:prstGeom>
          <a:noFill/>
        </p:spPr>
        <p:txBody>
          <a:bodyPr wrap="square">
            <a:spAutoFit/>
          </a:bodyPr>
          <a:lstStyle/>
          <a:p>
            <a:pPr algn="r">
              <a:spcBef>
                <a:spcPts val="0"/>
              </a:spcBef>
              <a:spcAft>
                <a:spcPts val="0"/>
              </a:spcAft>
              <a:defRPr sz="1100" b="1">
                <a:solidFill>
                  <a:srgbClr val="FF6B00"/>
                </a:solidFill>
                <a:latin typeface="Segoe UI"/>
              </a:defRPr>
            </a:pPr>
            <a:r>
              <a:t>🍽️ FoodServe</a:t>
            </a:r>
          </a:p>
        </p:txBody>
      </p:sp>
      <p:sp>
        <p:nvSpPr>
          <p:cNvPr id="8" name="Rectangle 7"/>
          <p:cNvSpPr/>
          <p:nvPr/>
        </p:nvSpPr>
        <p:spPr>
          <a:xfrm>
            <a:off x="731520" y="1005840"/>
            <a:ext cx="10698480" cy="12700"/>
          </a:xfrm>
          <a:prstGeom prst="rect">
            <a:avLst/>
          </a:prstGeom>
          <a:solidFill>
            <a:srgbClr val="2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48640" y="1280160"/>
            <a:ext cx="2651760" cy="1463040"/>
          </a:xfrm>
          <a:prstGeom prst="roundRect">
            <a:avLst>
              <a:gd name="adj" fmla="val 5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40080" y="1353312"/>
            <a:ext cx="2468880" cy="347472"/>
          </a:xfrm>
          <a:prstGeom prst="roundRect">
            <a:avLst>
              <a:gd name="adj" fmla="val 10000"/>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1371600"/>
            <a:ext cx="1920240" cy="320040"/>
          </a:xfrm>
          <a:prstGeom prst="rect">
            <a:avLst/>
          </a:prstGeom>
          <a:noFill/>
        </p:spPr>
        <p:txBody>
          <a:bodyPr wrap="square">
            <a:spAutoFit/>
          </a:bodyPr>
          <a:lstStyle/>
          <a:p>
            <a:pPr algn="l">
              <a:spcBef>
                <a:spcPts val="0"/>
              </a:spcBef>
              <a:spcAft>
                <a:spcPts val="0"/>
              </a:spcAft>
              <a:defRPr sz="1100" b="1">
                <a:solidFill>
                  <a:srgbClr val="FFFFFF"/>
                </a:solidFill>
                <a:latin typeface="Segoe UI"/>
              </a:defRPr>
            </a:pPr>
            <a:r>
              <a:t>📋 User</a:t>
            </a:r>
          </a:p>
        </p:txBody>
      </p:sp>
      <p:sp>
        <p:nvSpPr>
          <p:cNvPr id="12" name="TextBox 11"/>
          <p:cNvSpPr txBox="1"/>
          <p:nvPr/>
        </p:nvSpPr>
        <p:spPr>
          <a:xfrm>
            <a:off x="2011680" y="1389888"/>
            <a:ext cx="1005840" cy="274320"/>
          </a:xfrm>
          <a:prstGeom prst="rect">
            <a:avLst/>
          </a:prstGeom>
          <a:noFill/>
        </p:spPr>
        <p:txBody>
          <a:bodyPr wrap="square">
            <a:spAutoFit/>
          </a:bodyPr>
          <a:lstStyle/>
          <a:p>
            <a:pPr algn="r">
              <a:spcBef>
                <a:spcPts val="0"/>
              </a:spcBef>
              <a:spcAft>
                <a:spcPts val="0"/>
              </a:spcAft>
              <a:defRPr sz="800" b="0">
                <a:solidFill>
                  <a:srgbClr val="FFFFFF"/>
                </a:solidFill>
                <a:latin typeface="Segoe UI"/>
              </a:defRPr>
            </a:pPr>
            <a:r>
              <a:t>16 fields</a:t>
            </a:r>
          </a:p>
        </p:txBody>
      </p:sp>
      <p:sp>
        <p:nvSpPr>
          <p:cNvPr id="13" name="TextBox 12"/>
          <p:cNvSpPr txBox="1"/>
          <p:nvPr/>
        </p:nvSpPr>
        <p:spPr>
          <a:xfrm>
            <a:off x="685800" y="1783080"/>
            <a:ext cx="2377440" cy="868680"/>
          </a:xfrm>
          <a:prstGeom prst="rect">
            <a:avLst/>
          </a:prstGeom>
          <a:noFill/>
        </p:spPr>
        <p:txBody>
          <a:bodyPr wrap="square">
            <a:spAutoFit/>
          </a:bodyPr>
          <a:lstStyle/>
          <a:p>
            <a:pPr algn="l">
              <a:spcBef>
                <a:spcPts val="0"/>
              </a:spcBef>
              <a:spcAft>
                <a:spcPts val="0"/>
              </a:spcAft>
              <a:defRPr sz="800" b="0">
                <a:solidFill>
                  <a:srgbClr val="9C9CA8"/>
                </a:solidFill>
                <a:latin typeface="Segoe UI"/>
              </a:defRPr>
            </a:pPr>
            <a:r>
              <a:t>name, email, password,</a:t>
            </a:r>
            <a:br/>
            <a:r>
              <a:t>phone, role, coins, spins,</a:t>
            </a:r>
            <a:br/>
            <a:r>
              <a:t>totalSpent, avatar</a:t>
            </a:r>
          </a:p>
        </p:txBody>
      </p:sp>
      <p:sp>
        <p:nvSpPr>
          <p:cNvPr id="14" name="Rounded Rectangle 13"/>
          <p:cNvSpPr/>
          <p:nvPr/>
        </p:nvSpPr>
        <p:spPr>
          <a:xfrm>
            <a:off x="3383280" y="1280160"/>
            <a:ext cx="2651760" cy="1463040"/>
          </a:xfrm>
          <a:prstGeom prst="roundRect">
            <a:avLst>
              <a:gd name="adj" fmla="val 5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474720" y="1353312"/>
            <a:ext cx="2468880" cy="347472"/>
          </a:xfrm>
          <a:prstGeom prst="roundRect">
            <a:avLst>
              <a:gd name="adj" fmla="val 10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520440" y="1371600"/>
            <a:ext cx="1920240" cy="320040"/>
          </a:xfrm>
          <a:prstGeom prst="rect">
            <a:avLst/>
          </a:prstGeom>
          <a:noFill/>
        </p:spPr>
        <p:txBody>
          <a:bodyPr wrap="square">
            <a:spAutoFit/>
          </a:bodyPr>
          <a:lstStyle/>
          <a:p>
            <a:pPr algn="l">
              <a:spcBef>
                <a:spcPts val="0"/>
              </a:spcBef>
              <a:spcAft>
                <a:spcPts val="0"/>
              </a:spcAft>
              <a:defRPr sz="1100" b="1">
                <a:solidFill>
                  <a:srgbClr val="FFFFFF"/>
                </a:solidFill>
                <a:latin typeface="Segoe UI"/>
              </a:defRPr>
            </a:pPr>
            <a:r>
              <a:t>📋 Restaurant</a:t>
            </a:r>
          </a:p>
        </p:txBody>
      </p:sp>
      <p:sp>
        <p:nvSpPr>
          <p:cNvPr id="17" name="TextBox 16"/>
          <p:cNvSpPr txBox="1"/>
          <p:nvPr/>
        </p:nvSpPr>
        <p:spPr>
          <a:xfrm>
            <a:off x="4846320" y="1389888"/>
            <a:ext cx="1005840" cy="274320"/>
          </a:xfrm>
          <a:prstGeom prst="rect">
            <a:avLst/>
          </a:prstGeom>
          <a:noFill/>
        </p:spPr>
        <p:txBody>
          <a:bodyPr wrap="square">
            <a:spAutoFit/>
          </a:bodyPr>
          <a:lstStyle/>
          <a:p>
            <a:pPr algn="r">
              <a:spcBef>
                <a:spcPts val="0"/>
              </a:spcBef>
              <a:spcAft>
                <a:spcPts val="0"/>
              </a:spcAft>
              <a:defRPr sz="800" b="0">
                <a:solidFill>
                  <a:srgbClr val="FFFFFF"/>
                </a:solidFill>
                <a:latin typeface="Segoe UI"/>
              </a:defRPr>
            </a:pPr>
            <a:r>
              <a:t>15 fields</a:t>
            </a:r>
          </a:p>
        </p:txBody>
      </p:sp>
      <p:sp>
        <p:nvSpPr>
          <p:cNvPr id="18" name="TextBox 17"/>
          <p:cNvSpPr txBox="1"/>
          <p:nvPr/>
        </p:nvSpPr>
        <p:spPr>
          <a:xfrm>
            <a:off x="3520440" y="1783080"/>
            <a:ext cx="2377440" cy="868680"/>
          </a:xfrm>
          <a:prstGeom prst="rect">
            <a:avLst/>
          </a:prstGeom>
          <a:noFill/>
        </p:spPr>
        <p:txBody>
          <a:bodyPr wrap="square">
            <a:spAutoFit/>
          </a:bodyPr>
          <a:lstStyle/>
          <a:p>
            <a:pPr algn="l">
              <a:spcBef>
                <a:spcPts val="0"/>
              </a:spcBef>
              <a:spcAft>
                <a:spcPts val="0"/>
              </a:spcAft>
              <a:defRPr sz="800" b="0">
                <a:solidFill>
                  <a:srgbClr val="9C9CA8"/>
                </a:solidFill>
                <a:latin typeface="Segoe UI"/>
              </a:defRPr>
            </a:pPr>
            <a:r>
              <a:t>name, image, rating,</a:t>
            </a:r>
            <a:br/>
            <a:r>
              <a:t>deliveryTime, location,</a:t>
            </a:r>
            <a:br/>
            <a:r>
              <a:t>ownerId, categories</a:t>
            </a:r>
          </a:p>
        </p:txBody>
      </p:sp>
      <p:sp>
        <p:nvSpPr>
          <p:cNvPr id="19" name="Rounded Rectangle 18"/>
          <p:cNvSpPr/>
          <p:nvPr/>
        </p:nvSpPr>
        <p:spPr>
          <a:xfrm>
            <a:off x="6217920" y="1280160"/>
            <a:ext cx="2651760" cy="1463040"/>
          </a:xfrm>
          <a:prstGeom prst="roundRect">
            <a:avLst>
              <a:gd name="adj" fmla="val 5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309360" y="1353312"/>
            <a:ext cx="2468880" cy="347472"/>
          </a:xfrm>
          <a:prstGeom prst="roundRect">
            <a:avLst>
              <a:gd name="adj" fmla="val 10000"/>
            </a:avLst>
          </a:prstGeom>
          <a:solidFill>
            <a:srgbClr val="388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55080" y="1371600"/>
            <a:ext cx="1920240" cy="320040"/>
          </a:xfrm>
          <a:prstGeom prst="rect">
            <a:avLst/>
          </a:prstGeom>
          <a:noFill/>
        </p:spPr>
        <p:txBody>
          <a:bodyPr wrap="square">
            <a:spAutoFit/>
          </a:bodyPr>
          <a:lstStyle/>
          <a:p>
            <a:pPr algn="l">
              <a:spcBef>
                <a:spcPts val="0"/>
              </a:spcBef>
              <a:spcAft>
                <a:spcPts val="0"/>
              </a:spcAft>
              <a:defRPr sz="1100" b="1">
                <a:solidFill>
                  <a:srgbClr val="FFFFFF"/>
                </a:solidFill>
                <a:latin typeface="Segoe UI"/>
              </a:defRPr>
            </a:pPr>
            <a:r>
              <a:t>📋 MenuItem</a:t>
            </a:r>
          </a:p>
        </p:txBody>
      </p:sp>
      <p:sp>
        <p:nvSpPr>
          <p:cNvPr id="22" name="TextBox 21"/>
          <p:cNvSpPr txBox="1"/>
          <p:nvPr/>
        </p:nvSpPr>
        <p:spPr>
          <a:xfrm>
            <a:off x="7680960" y="1389888"/>
            <a:ext cx="1005840" cy="274320"/>
          </a:xfrm>
          <a:prstGeom prst="rect">
            <a:avLst/>
          </a:prstGeom>
          <a:noFill/>
        </p:spPr>
        <p:txBody>
          <a:bodyPr wrap="square">
            <a:spAutoFit/>
          </a:bodyPr>
          <a:lstStyle/>
          <a:p>
            <a:pPr algn="r">
              <a:spcBef>
                <a:spcPts val="0"/>
              </a:spcBef>
              <a:spcAft>
                <a:spcPts val="0"/>
              </a:spcAft>
              <a:defRPr sz="800" b="0">
                <a:solidFill>
                  <a:srgbClr val="FFFFFF"/>
                </a:solidFill>
                <a:latin typeface="Segoe UI"/>
              </a:defRPr>
            </a:pPr>
            <a:r>
              <a:t>12 fields</a:t>
            </a:r>
          </a:p>
        </p:txBody>
      </p:sp>
      <p:sp>
        <p:nvSpPr>
          <p:cNvPr id="23" name="TextBox 22"/>
          <p:cNvSpPr txBox="1"/>
          <p:nvPr/>
        </p:nvSpPr>
        <p:spPr>
          <a:xfrm>
            <a:off x="6355080" y="1783080"/>
            <a:ext cx="2377440" cy="868680"/>
          </a:xfrm>
          <a:prstGeom prst="rect">
            <a:avLst/>
          </a:prstGeom>
          <a:noFill/>
        </p:spPr>
        <p:txBody>
          <a:bodyPr wrap="square">
            <a:spAutoFit/>
          </a:bodyPr>
          <a:lstStyle/>
          <a:p>
            <a:pPr algn="l">
              <a:spcBef>
                <a:spcPts val="0"/>
              </a:spcBef>
              <a:spcAft>
                <a:spcPts val="0"/>
              </a:spcAft>
              <a:defRPr sz="800" b="0">
                <a:solidFill>
                  <a:srgbClr val="9C9CA8"/>
                </a:solidFill>
                <a:latin typeface="Segoe UI"/>
              </a:defRPr>
            </a:pPr>
            <a:r>
              <a:t>restaurantId, name, price,</a:t>
            </a:r>
            <a:br/>
            <a:r>
              <a:t>calories, protein, carbs,</a:t>
            </a:r>
            <a:br/>
            <a:r>
              <a:t>fat, isHealthy</a:t>
            </a:r>
          </a:p>
        </p:txBody>
      </p:sp>
      <p:sp>
        <p:nvSpPr>
          <p:cNvPr id="24" name="Rounded Rectangle 23"/>
          <p:cNvSpPr/>
          <p:nvPr/>
        </p:nvSpPr>
        <p:spPr>
          <a:xfrm>
            <a:off x="9052560" y="1280160"/>
            <a:ext cx="2651760" cy="1463040"/>
          </a:xfrm>
          <a:prstGeom prst="roundRect">
            <a:avLst>
              <a:gd name="adj" fmla="val 5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9144000" y="1353312"/>
            <a:ext cx="2468880" cy="347472"/>
          </a:xfrm>
          <a:prstGeom prst="roundRect">
            <a:avLst>
              <a:gd name="adj" fmla="val 10000"/>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189720" y="1371600"/>
            <a:ext cx="1920240" cy="320040"/>
          </a:xfrm>
          <a:prstGeom prst="rect">
            <a:avLst/>
          </a:prstGeom>
          <a:noFill/>
        </p:spPr>
        <p:txBody>
          <a:bodyPr wrap="square">
            <a:spAutoFit/>
          </a:bodyPr>
          <a:lstStyle/>
          <a:p>
            <a:pPr algn="l">
              <a:spcBef>
                <a:spcPts val="0"/>
              </a:spcBef>
              <a:spcAft>
                <a:spcPts val="0"/>
              </a:spcAft>
              <a:defRPr sz="1100" b="1">
                <a:solidFill>
                  <a:srgbClr val="FFFFFF"/>
                </a:solidFill>
                <a:latin typeface="Segoe UI"/>
              </a:defRPr>
            </a:pPr>
            <a:r>
              <a:t>📋 Order</a:t>
            </a:r>
          </a:p>
        </p:txBody>
      </p:sp>
      <p:sp>
        <p:nvSpPr>
          <p:cNvPr id="27" name="TextBox 26"/>
          <p:cNvSpPr txBox="1"/>
          <p:nvPr/>
        </p:nvSpPr>
        <p:spPr>
          <a:xfrm>
            <a:off x="10515600" y="1389888"/>
            <a:ext cx="1005840" cy="274320"/>
          </a:xfrm>
          <a:prstGeom prst="rect">
            <a:avLst/>
          </a:prstGeom>
          <a:noFill/>
        </p:spPr>
        <p:txBody>
          <a:bodyPr wrap="square">
            <a:spAutoFit/>
          </a:bodyPr>
          <a:lstStyle/>
          <a:p>
            <a:pPr algn="r">
              <a:spcBef>
                <a:spcPts val="0"/>
              </a:spcBef>
              <a:spcAft>
                <a:spcPts val="0"/>
              </a:spcAft>
              <a:defRPr sz="800" b="0">
                <a:solidFill>
                  <a:srgbClr val="FFFFFF"/>
                </a:solidFill>
                <a:latin typeface="Segoe UI"/>
              </a:defRPr>
            </a:pPr>
            <a:r>
              <a:t>20 fields</a:t>
            </a:r>
          </a:p>
        </p:txBody>
      </p:sp>
      <p:sp>
        <p:nvSpPr>
          <p:cNvPr id="28" name="TextBox 27"/>
          <p:cNvSpPr txBox="1"/>
          <p:nvPr/>
        </p:nvSpPr>
        <p:spPr>
          <a:xfrm>
            <a:off x="9189720" y="1783080"/>
            <a:ext cx="2377440" cy="868680"/>
          </a:xfrm>
          <a:prstGeom prst="rect">
            <a:avLst/>
          </a:prstGeom>
          <a:noFill/>
        </p:spPr>
        <p:txBody>
          <a:bodyPr wrap="square">
            <a:spAutoFit/>
          </a:bodyPr>
          <a:lstStyle/>
          <a:p>
            <a:pPr algn="l">
              <a:spcBef>
                <a:spcPts val="0"/>
              </a:spcBef>
              <a:spcAft>
                <a:spcPts val="0"/>
              </a:spcAft>
              <a:defRPr sz="800" b="0">
                <a:solidFill>
                  <a:srgbClr val="9C9CA8"/>
                </a:solidFill>
                <a:latin typeface="Segoe UI"/>
              </a:defRPr>
            </a:pPr>
            <a:r>
              <a:t>userId, restaurantId,</a:t>
            </a:r>
            <a:br/>
            <a:r>
              <a:t>items, status, payment,</a:t>
            </a:r>
            <a:br/>
            <a:r>
              <a:t>deliveryAddress</a:t>
            </a:r>
          </a:p>
        </p:txBody>
      </p:sp>
      <p:sp>
        <p:nvSpPr>
          <p:cNvPr id="29" name="Rounded Rectangle 28"/>
          <p:cNvSpPr/>
          <p:nvPr/>
        </p:nvSpPr>
        <p:spPr>
          <a:xfrm>
            <a:off x="548640" y="2971800"/>
            <a:ext cx="2651760" cy="1463040"/>
          </a:xfrm>
          <a:prstGeom prst="roundRect">
            <a:avLst>
              <a:gd name="adj" fmla="val 5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640080" y="3044952"/>
            <a:ext cx="2468880" cy="347472"/>
          </a:xfrm>
          <a:prstGeom prst="roundRect">
            <a:avLst>
              <a:gd name="adj" fmla="val 10000"/>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5800" y="3063240"/>
            <a:ext cx="1920240" cy="320040"/>
          </a:xfrm>
          <a:prstGeom prst="rect">
            <a:avLst/>
          </a:prstGeom>
          <a:noFill/>
        </p:spPr>
        <p:txBody>
          <a:bodyPr wrap="square">
            <a:spAutoFit/>
          </a:bodyPr>
          <a:lstStyle/>
          <a:p>
            <a:pPr algn="l">
              <a:spcBef>
                <a:spcPts val="0"/>
              </a:spcBef>
              <a:spcAft>
                <a:spcPts val="0"/>
              </a:spcAft>
              <a:defRPr sz="1100" b="1">
                <a:solidFill>
                  <a:srgbClr val="FFFFFF"/>
                </a:solidFill>
                <a:latin typeface="Segoe UI"/>
              </a:defRPr>
            </a:pPr>
            <a:r>
              <a:t>📋 Review</a:t>
            </a:r>
          </a:p>
        </p:txBody>
      </p:sp>
      <p:sp>
        <p:nvSpPr>
          <p:cNvPr id="32" name="TextBox 31"/>
          <p:cNvSpPr txBox="1"/>
          <p:nvPr/>
        </p:nvSpPr>
        <p:spPr>
          <a:xfrm>
            <a:off x="2011680" y="3081528"/>
            <a:ext cx="1005840" cy="274320"/>
          </a:xfrm>
          <a:prstGeom prst="rect">
            <a:avLst/>
          </a:prstGeom>
          <a:noFill/>
        </p:spPr>
        <p:txBody>
          <a:bodyPr wrap="square">
            <a:spAutoFit/>
          </a:bodyPr>
          <a:lstStyle/>
          <a:p>
            <a:pPr algn="r">
              <a:spcBef>
                <a:spcPts val="0"/>
              </a:spcBef>
              <a:spcAft>
                <a:spcPts val="0"/>
              </a:spcAft>
              <a:defRPr sz="800" b="0">
                <a:solidFill>
                  <a:srgbClr val="FFFFFF"/>
                </a:solidFill>
                <a:latin typeface="Segoe UI"/>
              </a:defRPr>
            </a:pPr>
            <a:r>
              <a:t>14 fields</a:t>
            </a:r>
          </a:p>
        </p:txBody>
      </p:sp>
      <p:sp>
        <p:nvSpPr>
          <p:cNvPr id="33" name="TextBox 32"/>
          <p:cNvSpPr txBox="1"/>
          <p:nvPr/>
        </p:nvSpPr>
        <p:spPr>
          <a:xfrm>
            <a:off x="685800" y="3474720"/>
            <a:ext cx="2377440" cy="868680"/>
          </a:xfrm>
          <a:prstGeom prst="rect">
            <a:avLst/>
          </a:prstGeom>
          <a:noFill/>
        </p:spPr>
        <p:txBody>
          <a:bodyPr wrap="square">
            <a:spAutoFit/>
          </a:bodyPr>
          <a:lstStyle/>
          <a:p>
            <a:pPr algn="l">
              <a:spcBef>
                <a:spcPts val="0"/>
              </a:spcBef>
              <a:spcAft>
                <a:spcPts val="0"/>
              </a:spcAft>
              <a:defRPr sz="800" b="0">
                <a:solidFill>
                  <a:srgbClr val="9C9CA8"/>
                </a:solidFill>
                <a:latin typeface="Segoe UI"/>
              </a:defRPr>
            </a:pPr>
            <a:r>
              <a:t>userId, restaurantId,</a:t>
            </a:r>
            <a:br/>
            <a:r>
              <a:t>rating, comment,</a:t>
            </a:r>
            <a:br/>
            <a:r>
              <a:t>aiSentiment, images</a:t>
            </a:r>
          </a:p>
        </p:txBody>
      </p:sp>
      <p:sp>
        <p:nvSpPr>
          <p:cNvPr id="34" name="Rounded Rectangle 33"/>
          <p:cNvSpPr/>
          <p:nvPr/>
        </p:nvSpPr>
        <p:spPr>
          <a:xfrm>
            <a:off x="3383280" y="2971800"/>
            <a:ext cx="2651760" cy="1463040"/>
          </a:xfrm>
          <a:prstGeom prst="roundRect">
            <a:avLst>
              <a:gd name="adj" fmla="val 5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3474720" y="3044952"/>
            <a:ext cx="2468880" cy="347472"/>
          </a:xfrm>
          <a:prstGeom prst="roundRect">
            <a:avLst>
              <a:gd name="adj" fmla="val 10000"/>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520440" y="3063240"/>
            <a:ext cx="1920240" cy="320040"/>
          </a:xfrm>
          <a:prstGeom prst="rect">
            <a:avLst/>
          </a:prstGeom>
          <a:noFill/>
        </p:spPr>
        <p:txBody>
          <a:bodyPr wrap="square">
            <a:spAutoFit/>
          </a:bodyPr>
          <a:lstStyle/>
          <a:p>
            <a:pPr algn="l">
              <a:spcBef>
                <a:spcPts val="0"/>
              </a:spcBef>
              <a:spcAft>
                <a:spcPts val="0"/>
              </a:spcAft>
              <a:defRPr sz="1100" b="1">
                <a:solidFill>
                  <a:srgbClr val="FFFFFF"/>
                </a:solidFill>
                <a:latin typeface="Segoe UI"/>
              </a:defRPr>
            </a:pPr>
            <a:r>
              <a:t>📋 Voucher</a:t>
            </a:r>
          </a:p>
        </p:txBody>
      </p:sp>
      <p:sp>
        <p:nvSpPr>
          <p:cNvPr id="37" name="TextBox 36"/>
          <p:cNvSpPr txBox="1"/>
          <p:nvPr/>
        </p:nvSpPr>
        <p:spPr>
          <a:xfrm>
            <a:off x="4846320" y="3081528"/>
            <a:ext cx="1005840" cy="274320"/>
          </a:xfrm>
          <a:prstGeom prst="rect">
            <a:avLst/>
          </a:prstGeom>
          <a:noFill/>
        </p:spPr>
        <p:txBody>
          <a:bodyPr wrap="square">
            <a:spAutoFit/>
          </a:bodyPr>
          <a:lstStyle/>
          <a:p>
            <a:pPr algn="r">
              <a:spcBef>
                <a:spcPts val="0"/>
              </a:spcBef>
              <a:spcAft>
                <a:spcPts val="0"/>
              </a:spcAft>
              <a:defRPr sz="800" b="0">
                <a:solidFill>
                  <a:srgbClr val="FFFFFF"/>
                </a:solidFill>
                <a:latin typeface="Segoe UI"/>
              </a:defRPr>
            </a:pPr>
            <a:r>
              <a:t>12 fields</a:t>
            </a:r>
          </a:p>
        </p:txBody>
      </p:sp>
      <p:sp>
        <p:nvSpPr>
          <p:cNvPr id="38" name="TextBox 37"/>
          <p:cNvSpPr txBox="1"/>
          <p:nvPr/>
        </p:nvSpPr>
        <p:spPr>
          <a:xfrm>
            <a:off x="3520440" y="3474720"/>
            <a:ext cx="2377440" cy="868680"/>
          </a:xfrm>
          <a:prstGeom prst="rect">
            <a:avLst/>
          </a:prstGeom>
          <a:noFill/>
        </p:spPr>
        <p:txBody>
          <a:bodyPr wrap="square">
            <a:spAutoFit/>
          </a:bodyPr>
          <a:lstStyle/>
          <a:p>
            <a:pPr algn="l">
              <a:spcBef>
                <a:spcPts val="0"/>
              </a:spcBef>
              <a:spcAft>
                <a:spcPts val="0"/>
              </a:spcAft>
              <a:defRPr sz="800" b="0">
                <a:solidFill>
                  <a:srgbClr val="9C9CA8"/>
                </a:solidFill>
                <a:latin typeface="Segoe UI"/>
              </a:defRPr>
            </a:pPr>
            <a:r>
              <a:t>code, type, value,</a:t>
            </a:r>
            <a:br/>
            <a:r>
              <a:t>minOrder, maxDiscount,</a:t>
            </a:r>
            <a:br/>
            <a:r>
              <a:t>usageLimit, expiresAt</a:t>
            </a:r>
          </a:p>
        </p:txBody>
      </p:sp>
      <p:sp>
        <p:nvSpPr>
          <p:cNvPr id="39" name="Rounded Rectangle 38"/>
          <p:cNvSpPr/>
          <p:nvPr/>
        </p:nvSpPr>
        <p:spPr>
          <a:xfrm>
            <a:off x="6217920" y="2971800"/>
            <a:ext cx="2651760" cy="1463040"/>
          </a:xfrm>
          <a:prstGeom prst="roundRect">
            <a:avLst>
              <a:gd name="adj" fmla="val 5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6309360" y="3044952"/>
            <a:ext cx="2468880" cy="347472"/>
          </a:xfrm>
          <a:prstGeom prst="roundRect">
            <a:avLst>
              <a:gd name="adj" fmla="val 10000"/>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355080" y="3063240"/>
            <a:ext cx="1920240" cy="320040"/>
          </a:xfrm>
          <a:prstGeom prst="rect">
            <a:avLst/>
          </a:prstGeom>
          <a:noFill/>
        </p:spPr>
        <p:txBody>
          <a:bodyPr wrap="square">
            <a:spAutoFit/>
          </a:bodyPr>
          <a:lstStyle/>
          <a:p>
            <a:pPr algn="l">
              <a:spcBef>
                <a:spcPts val="0"/>
              </a:spcBef>
              <a:spcAft>
                <a:spcPts val="0"/>
              </a:spcAft>
              <a:defRPr sz="1100" b="1">
                <a:solidFill>
                  <a:srgbClr val="FFFFFF"/>
                </a:solidFill>
                <a:latin typeface="Segoe UI"/>
              </a:defRPr>
            </a:pPr>
            <a:r>
              <a:t>📋 GroupOrder</a:t>
            </a:r>
          </a:p>
        </p:txBody>
      </p:sp>
      <p:sp>
        <p:nvSpPr>
          <p:cNvPr id="42" name="TextBox 41"/>
          <p:cNvSpPr txBox="1"/>
          <p:nvPr/>
        </p:nvSpPr>
        <p:spPr>
          <a:xfrm>
            <a:off x="7680960" y="3081528"/>
            <a:ext cx="1005840" cy="274320"/>
          </a:xfrm>
          <a:prstGeom prst="rect">
            <a:avLst/>
          </a:prstGeom>
          <a:noFill/>
        </p:spPr>
        <p:txBody>
          <a:bodyPr wrap="square">
            <a:spAutoFit/>
          </a:bodyPr>
          <a:lstStyle/>
          <a:p>
            <a:pPr algn="r">
              <a:spcBef>
                <a:spcPts val="0"/>
              </a:spcBef>
              <a:spcAft>
                <a:spcPts val="0"/>
              </a:spcAft>
              <a:defRPr sz="800" b="0">
                <a:solidFill>
                  <a:srgbClr val="FFFFFF"/>
                </a:solidFill>
                <a:latin typeface="Segoe UI"/>
              </a:defRPr>
            </a:pPr>
            <a:r>
              <a:t>8 fields</a:t>
            </a:r>
          </a:p>
        </p:txBody>
      </p:sp>
      <p:sp>
        <p:nvSpPr>
          <p:cNvPr id="43" name="TextBox 42"/>
          <p:cNvSpPr txBox="1"/>
          <p:nvPr/>
        </p:nvSpPr>
        <p:spPr>
          <a:xfrm>
            <a:off x="6355080" y="3474720"/>
            <a:ext cx="2377440" cy="868680"/>
          </a:xfrm>
          <a:prstGeom prst="rect">
            <a:avLst/>
          </a:prstGeom>
          <a:noFill/>
        </p:spPr>
        <p:txBody>
          <a:bodyPr wrap="square">
            <a:spAutoFit/>
          </a:bodyPr>
          <a:lstStyle/>
          <a:p>
            <a:pPr algn="l">
              <a:spcBef>
                <a:spcPts val="0"/>
              </a:spcBef>
              <a:spcAft>
                <a:spcPts val="0"/>
              </a:spcAft>
              <a:defRPr sz="800" b="0">
                <a:solidFill>
                  <a:srgbClr val="9C9CA8"/>
                </a:solidFill>
                <a:latin typeface="Segoe UI"/>
              </a:defRPr>
            </a:pPr>
            <a:r>
              <a:t>code, hostId, members,</a:t>
            </a:r>
            <a:br/>
            <a:r>
              <a:t>items, status,</a:t>
            </a:r>
            <a:br/>
            <a:r>
              <a:t>restaurantId</a:t>
            </a:r>
          </a:p>
        </p:txBody>
      </p:sp>
      <p:sp>
        <p:nvSpPr>
          <p:cNvPr id="44" name="Rounded Rectangle 43"/>
          <p:cNvSpPr/>
          <p:nvPr/>
        </p:nvSpPr>
        <p:spPr>
          <a:xfrm>
            <a:off x="9052560" y="2971800"/>
            <a:ext cx="2651760" cy="1463040"/>
          </a:xfrm>
          <a:prstGeom prst="roundRect">
            <a:avLst>
              <a:gd name="adj" fmla="val 5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9144000" y="3044952"/>
            <a:ext cx="2468880" cy="347472"/>
          </a:xfrm>
          <a:prstGeom prst="roundRect">
            <a:avLst>
              <a:gd name="adj" fmla="val 10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189720" y="3063240"/>
            <a:ext cx="1920240" cy="320040"/>
          </a:xfrm>
          <a:prstGeom prst="rect">
            <a:avLst/>
          </a:prstGeom>
          <a:noFill/>
        </p:spPr>
        <p:txBody>
          <a:bodyPr wrap="square">
            <a:spAutoFit/>
          </a:bodyPr>
          <a:lstStyle/>
          <a:p>
            <a:pPr algn="l">
              <a:spcBef>
                <a:spcPts val="0"/>
              </a:spcBef>
              <a:spcAft>
                <a:spcPts val="0"/>
              </a:spcAft>
              <a:defRPr sz="1100" b="1">
                <a:solidFill>
                  <a:srgbClr val="FFFFFF"/>
                </a:solidFill>
                <a:latin typeface="Segoe UI"/>
              </a:defRPr>
            </a:pPr>
            <a:r>
              <a:t>📋 MealSubscription</a:t>
            </a:r>
          </a:p>
        </p:txBody>
      </p:sp>
      <p:sp>
        <p:nvSpPr>
          <p:cNvPr id="47" name="TextBox 46"/>
          <p:cNvSpPr txBox="1"/>
          <p:nvPr/>
        </p:nvSpPr>
        <p:spPr>
          <a:xfrm>
            <a:off x="10515600" y="3081528"/>
            <a:ext cx="1005840" cy="274320"/>
          </a:xfrm>
          <a:prstGeom prst="rect">
            <a:avLst/>
          </a:prstGeom>
          <a:noFill/>
        </p:spPr>
        <p:txBody>
          <a:bodyPr wrap="square">
            <a:spAutoFit/>
          </a:bodyPr>
          <a:lstStyle/>
          <a:p>
            <a:pPr algn="r">
              <a:spcBef>
                <a:spcPts val="0"/>
              </a:spcBef>
              <a:spcAft>
                <a:spcPts val="0"/>
              </a:spcAft>
              <a:defRPr sz="800" b="0">
                <a:solidFill>
                  <a:srgbClr val="FFFFFF"/>
                </a:solidFill>
                <a:latin typeface="Segoe UI"/>
              </a:defRPr>
            </a:pPr>
            <a:r>
              <a:t>10 fields</a:t>
            </a:r>
          </a:p>
        </p:txBody>
      </p:sp>
      <p:sp>
        <p:nvSpPr>
          <p:cNvPr id="48" name="TextBox 47"/>
          <p:cNvSpPr txBox="1"/>
          <p:nvPr/>
        </p:nvSpPr>
        <p:spPr>
          <a:xfrm>
            <a:off x="9189720" y="3474720"/>
            <a:ext cx="2377440" cy="868680"/>
          </a:xfrm>
          <a:prstGeom prst="rect">
            <a:avLst/>
          </a:prstGeom>
          <a:noFill/>
        </p:spPr>
        <p:txBody>
          <a:bodyPr wrap="square">
            <a:spAutoFit/>
          </a:bodyPr>
          <a:lstStyle/>
          <a:p>
            <a:pPr algn="l">
              <a:spcBef>
                <a:spcPts val="0"/>
              </a:spcBef>
              <a:spcAft>
                <a:spcPts val="0"/>
              </a:spcAft>
              <a:defRPr sz="800" b="0">
                <a:solidFill>
                  <a:srgbClr val="9C9CA8"/>
                </a:solidFill>
                <a:latin typeface="Segoe UI"/>
              </a:defRPr>
            </a:pPr>
            <a:r>
              <a:t>userId, restaurantId,</a:t>
            </a:r>
            <a:br/>
            <a:r>
              <a:t>planType, deliveryTime,</a:t>
            </a:r>
            <a:br/>
            <a:r>
              <a:t>totalPrice, status</a:t>
            </a:r>
          </a:p>
        </p:txBody>
      </p:sp>
      <p:sp>
        <p:nvSpPr>
          <p:cNvPr id="49" name="Rounded Rectangle 48"/>
          <p:cNvSpPr/>
          <p:nvPr/>
        </p:nvSpPr>
        <p:spPr>
          <a:xfrm>
            <a:off x="548640" y="4663440"/>
            <a:ext cx="2651760" cy="1463040"/>
          </a:xfrm>
          <a:prstGeom prst="roundRect">
            <a:avLst>
              <a:gd name="adj" fmla="val 5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ounded Rectangle 49"/>
          <p:cNvSpPr/>
          <p:nvPr/>
        </p:nvSpPr>
        <p:spPr>
          <a:xfrm>
            <a:off x="640080" y="4736592"/>
            <a:ext cx="2468880" cy="347472"/>
          </a:xfrm>
          <a:prstGeom prst="roundRect">
            <a:avLst>
              <a:gd name="adj" fmla="val 10000"/>
            </a:avLst>
          </a:prstGeom>
          <a:solidFill>
            <a:srgbClr val="388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85800" y="4754880"/>
            <a:ext cx="1920240" cy="320040"/>
          </a:xfrm>
          <a:prstGeom prst="rect">
            <a:avLst/>
          </a:prstGeom>
          <a:noFill/>
        </p:spPr>
        <p:txBody>
          <a:bodyPr wrap="square">
            <a:spAutoFit/>
          </a:bodyPr>
          <a:lstStyle/>
          <a:p>
            <a:pPr algn="l">
              <a:spcBef>
                <a:spcPts val="0"/>
              </a:spcBef>
              <a:spcAft>
                <a:spcPts val="0"/>
              </a:spcAft>
              <a:defRPr sz="1100" b="1">
                <a:solidFill>
                  <a:srgbClr val="FFFFFF"/>
                </a:solidFill>
                <a:latin typeface="Segoe UI"/>
              </a:defRPr>
            </a:pPr>
            <a:r>
              <a:t>📋 Notification</a:t>
            </a:r>
          </a:p>
        </p:txBody>
      </p:sp>
      <p:sp>
        <p:nvSpPr>
          <p:cNvPr id="52" name="TextBox 51"/>
          <p:cNvSpPr txBox="1"/>
          <p:nvPr/>
        </p:nvSpPr>
        <p:spPr>
          <a:xfrm>
            <a:off x="2011680" y="4773168"/>
            <a:ext cx="1005840" cy="274320"/>
          </a:xfrm>
          <a:prstGeom prst="rect">
            <a:avLst/>
          </a:prstGeom>
          <a:noFill/>
        </p:spPr>
        <p:txBody>
          <a:bodyPr wrap="square">
            <a:spAutoFit/>
          </a:bodyPr>
          <a:lstStyle/>
          <a:p>
            <a:pPr algn="r">
              <a:spcBef>
                <a:spcPts val="0"/>
              </a:spcBef>
              <a:spcAft>
                <a:spcPts val="0"/>
              </a:spcAft>
              <a:defRPr sz="800" b="0">
                <a:solidFill>
                  <a:srgbClr val="FFFFFF"/>
                </a:solidFill>
                <a:latin typeface="Segoe UI"/>
              </a:defRPr>
            </a:pPr>
            <a:r>
              <a:t>7 fields</a:t>
            </a:r>
          </a:p>
        </p:txBody>
      </p:sp>
      <p:sp>
        <p:nvSpPr>
          <p:cNvPr id="53" name="TextBox 52"/>
          <p:cNvSpPr txBox="1"/>
          <p:nvPr/>
        </p:nvSpPr>
        <p:spPr>
          <a:xfrm>
            <a:off x="685800" y="5166360"/>
            <a:ext cx="2377440" cy="868680"/>
          </a:xfrm>
          <a:prstGeom prst="rect">
            <a:avLst/>
          </a:prstGeom>
          <a:noFill/>
        </p:spPr>
        <p:txBody>
          <a:bodyPr wrap="square">
            <a:spAutoFit/>
          </a:bodyPr>
          <a:lstStyle/>
          <a:p>
            <a:pPr algn="l">
              <a:spcBef>
                <a:spcPts val="0"/>
              </a:spcBef>
              <a:spcAft>
                <a:spcPts val="0"/>
              </a:spcAft>
              <a:defRPr sz="800" b="0">
                <a:solidFill>
                  <a:srgbClr val="9C9CA8"/>
                </a:solidFill>
                <a:latin typeface="Segoe UI"/>
              </a:defRPr>
            </a:pPr>
            <a:r>
              <a:t>userId, type, title,</a:t>
            </a:r>
            <a:br/>
            <a:r>
              <a:t>message, read,</a:t>
            </a:r>
            <a:br/>
            <a:r>
              <a:t>data</a:t>
            </a:r>
          </a:p>
        </p:txBody>
      </p:sp>
      <p:sp>
        <p:nvSpPr>
          <p:cNvPr id="54" name="Rounded Rectangle 53"/>
          <p:cNvSpPr/>
          <p:nvPr/>
        </p:nvSpPr>
        <p:spPr>
          <a:xfrm>
            <a:off x="3383280" y="4663440"/>
            <a:ext cx="2651760" cy="1463040"/>
          </a:xfrm>
          <a:prstGeom prst="roundRect">
            <a:avLst>
              <a:gd name="adj" fmla="val 5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ounded Rectangle 54"/>
          <p:cNvSpPr/>
          <p:nvPr/>
        </p:nvSpPr>
        <p:spPr>
          <a:xfrm>
            <a:off x="3474720" y="4736592"/>
            <a:ext cx="2468880" cy="347472"/>
          </a:xfrm>
          <a:prstGeom prst="roundRect">
            <a:avLst>
              <a:gd name="adj" fmla="val 10000"/>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3520440" y="4754880"/>
            <a:ext cx="1920240" cy="320040"/>
          </a:xfrm>
          <a:prstGeom prst="rect">
            <a:avLst/>
          </a:prstGeom>
          <a:noFill/>
        </p:spPr>
        <p:txBody>
          <a:bodyPr wrap="square">
            <a:spAutoFit/>
          </a:bodyPr>
          <a:lstStyle/>
          <a:p>
            <a:pPr algn="l">
              <a:spcBef>
                <a:spcPts val="0"/>
              </a:spcBef>
              <a:spcAft>
                <a:spcPts val="0"/>
              </a:spcAft>
              <a:defRPr sz="1100" b="1">
                <a:solidFill>
                  <a:srgbClr val="FFFFFF"/>
                </a:solidFill>
                <a:latin typeface="Segoe UI"/>
              </a:defRPr>
            </a:pPr>
            <a:r>
              <a:t>📋 CoinTransaction</a:t>
            </a:r>
          </a:p>
        </p:txBody>
      </p:sp>
      <p:sp>
        <p:nvSpPr>
          <p:cNvPr id="57" name="TextBox 56"/>
          <p:cNvSpPr txBox="1"/>
          <p:nvPr/>
        </p:nvSpPr>
        <p:spPr>
          <a:xfrm>
            <a:off x="4846320" y="4773168"/>
            <a:ext cx="1005840" cy="274320"/>
          </a:xfrm>
          <a:prstGeom prst="rect">
            <a:avLst/>
          </a:prstGeom>
          <a:noFill/>
        </p:spPr>
        <p:txBody>
          <a:bodyPr wrap="square">
            <a:spAutoFit/>
          </a:bodyPr>
          <a:lstStyle/>
          <a:p>
            <a:pPr algn="r">
              <a:spcBef>
                <a:spcPts val="0"/>
              </a:spcBef>
              <a:spcAft>
                <a:spcPts val="0"/>
              </a:spcAft>
              <a:defRPr sz="800" b="0">
                <a:solidFill>
                  <a:srgbClr val="FFFFFF"/>
                </a:solidFill>
                <a:latin typeface="Segoe UI"/>
              </a:defRPr>
            </a:pPr>
            <a:r>
              <a:t>8 fields</a:t>
            </a:r>
          </a:p>
        </p:txBody>
      </p:sp>
      <p:sp>
        <p:nvSpPr>
          <p:cNvPr id="58" name="TextBox 57"/>
          <p:cNvSpPr txBox="1"/>
          <p:nvPr/>
        </p:nvSpPr>
        <p:spPr>
          <a:xfrm>
            <a:off x="3520440" y="5166360"/>
            <a:ext cx="2377440" cy="868680"/>
          </a:xfrm>
          <a:prstGeom prst="rect">
            <a:avLst/>
          </a:prstGeom>
          <a:noFill/>
        </p:spPr>
        <p:txBody>
          <a:bodyPr wrap="square">
            <a:spAutoFit/>
          </a:bodyPr>
          <a:lstStyle/>
          <a:p>
            <a:pPr algn="l">
              <a:spcBef>
                <a:spcPts val="0"/>
              </a:spcBef>
              <a:spcAft>
                <a:spcPts val="0"/>
              </a:spcAft>
              <a:defRPr sz="800" b="0">
                <a:solidFill>
                  <a:srgbClr val="9C9CA8"/>
                </a:solidFill>
                <a:latin typeface="Segoe UI"/>
              </a:defRPr>
            </a:pPr>
            <a:r>
              <a:t>userId, amount, coins,</a:t>
            </a:r>
            <a:br/>
            <a:r>
              <a:t>type, paymentMethod,</a:t>
            </a:r>
            <a:br/>
            <a:r>
              <a:t>status</a:t>
            </a:r>
          </a:p>
        </p:txBody>
      </p:sp>
      <p:sp>
        <p:nvSpPr>
          <p:cNvPr id="59" name="Rounded Rectangle 58"/>
          <p:cNvSpPr/>
          <p:nvPr/>
        </p:nvSpPr>
        <p:spPr>
          <a:xfrm>
            <a:off x="6217920" y="4663440"/>
            <a:ext cx="2651760" cy="1463040"/>
          </a:xfrm>
          <a:prstGeom prst="roundRect">
            <a:avLst>
              <a:gd name="adj" fmla="val 5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ounded Rectangle 59"/>
          <p:cNvSpPr/>
          <p:nvPr/>
        </p:nvSpPr>
        <p:spPr>
          <a:xfrm>
            <a:off x="6309360" y="4736592"/>
            <a:ext cx="2468880" cy="347472"/>
          </a:xfrm>
          <a:prstGeom prst="roundRect">
            <a:avLst>
              <a:gd name="adj" fmla="val 10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6355080" y="4754880"/>
            <a:ext cx="1920240" cy="320040"/>
          </a:xfrm>
          <a:prstGeom prst="rect">
            <a:avLst/>
          </a:prstGeom>
          <a:noFill/>
        </p:spPr>
        <p:txBody>
          <a:bodyPr wrap="square">
            <a:spAutoFit/>
          </a:bodyPr>
          <a:lstStyle/>
          <a:p>
            <a:pPr algn="l">
              <a:spcBef>
                <a:spcPts val="0"/>
              </a:spcBef>
              <a:spcAft>
                <a:spcPts val="0"/>
              </a:spcAft>
              <a:defRPr sz="1100" b="1">
                <a:solidFill>
                  <a:srgbClr val="FFFFFF"/>
                </a:solidFill>
                <a:latin typeface="Segoe UI"/>
              </a:defRPr>
            </a:pPr>
            <a:r>
              <a:t>📋 PartnerRequest</a:t>
            </a:r>
          </a:p>
        </p:txBody>
      </p:sp>
      <p:sp>
        <p:nvSpPr>
          <p:cNvPr id="62" name="TextBox 61"/>
          <p:cNvSpPr txBox="1"/>
          <p:nvPr/>
        </p:nvSpPr>
        <p:spPr>
          <a:xfrm>
            <a:off x="7680960" y="4773168"/>
            <a:ext cx="1005840" cy="274320"/>
          </a:xfrm>
          <a:prstGeom prst="rect">
            <a:avLst/>
          </a:prstGeom>
          <a:noFill/>
        </p:spPr>
        <p:txBody>
          <a:bodyPr wrap="square">
            <a:spAutoFit/>
          </a:bodyPr>
          <a:lstStyle/>
          <a:p>
            <a:pPr algn="r">
              <a:spcBef>
                <a:spcPts val="0"/>
              </a:spcBef>
              <a:spcAft>
                <a:spcPts val="0"/>
              </a:spcAft>
              <a:defRPr sz="800" b="0">
                <a:solidFill>
                  <a:srgbClr val="FFFFFF"/>
                </a:solidFill>
                <a:latin typeface="Segoe UI"/>
              </a:defRPr>
            </a:pPr>
            <a:r>
              <a:t>14 fields</a:t>
            </a:r>
          </a:p>
        </p:txBody>
      </p:sp>
      <p:sp>
        <p:nvSpPr>
          <p:cNvPr id="63" name="TextBox 62"/>
          <p:cNvSpPr txBox="1"/>
          <p:nvPr/>
        </p:nvSpPr>
        <p:spPr>
          <a:xfrm>
            <a:off x="6355080" y="5166360"/>
            <a:ext cx="2377440" cy="868680"/>
          </a:xfrm>
          <a:prstGeom prst="rect">
            <a:avLst/>
          </a:prstGeom>
          <a:noFill/>
        </p:spPr>
        <p:txBody>
          <a:bodyPr wrap="square">
            <a:spAutoFit/>
          </a:bodyPr>
          <a:lstStyle/>
          <a:p>
            <a:pPr algn="l">
              <a:spcBef>
                <a:spcPts val="0"/>
              </a:spcBef>
              <a:spcAft>
                <a:spcPts val="0"/>
              </a:spcAft>
              <a:defRPr sz="800" b="0">
                <a:solidFill>
                  <a:srgbClr val="9C9CA8"/>
                </a:solidFill>
                <a:latin typeface="Segoe UI"/>
              </a:defRPr>
            </a:pPr>
            <a:r>
              <a:t>userId, restaurantName,</a:t>
            </a:r>
            <a:br/>
            <a:r>
              <a:t>businessType, status,</a:t>
            </a:r>
            <a:br/>
            <a:r>
              <a:t>ownerName, cuisineTypes</a:t>
            </a:r>
          </a:p>
        </p:txBody>
      </p:sp>
      <p:sp>
        <p:nvSpPr>
          <p:cNvPr id="64" name="Rounded Rectangle 63"/>
          <p:cNvSpPr/>
          <p:nvPr/>
        </p:nvSpPr>
        <p:spPr>
          <a:xfrm>
            <a:off x="9052560" y="4663440"/>
            <a:ext cx="2651760" cy="1463040"/>
          </a:xfrm>
          <a:prstGeom prst="roundRect">
            <a:avLst>
              <a:gd name="adj" fmla="val 5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ounded Rectangle 64"/>
          <p:cNvSpPr/>
          <p:nvPr/>
        </p:nvSpPr>
        <p:spPr>
          <a:xfrm>
            <a:off x="9144000" y="4736592"/>
            <a:ext cx="2468880" cy="347472"/>
          </a:xfrm>
          <a:prstGeom prst="roundRect">
            <a:avLst>
              <a:gd name="adj" fmla="val 10000"/>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9189720" y="4754880"/>
            <a:ext cx="1920240" cy="320040"/>
          </a:xfrm>
          <a:prstGeom prst="rect">
            <a:avLst/>
          </a:prstGeom>
          <a:noFill/>
        </p:spPr>
        <p:txBody>
          <a:bodyPr wrap="square">
            <a:spAutoFit/>
          </a:bodyPr>
          <a:lstStyle/>
          <a:p>
            <a:pPr algn="l">
              <a:spcBef>
                <a:spcPts val="0"/>
              </a:spcBef>
              <a:spcAft>
                <a:spcPts val="0"/>
              </a:spcAft>
              <a:defRPr sz="1100" b="1">
                <a:solidFill>
                  <a:srgbClr val="FFFFFF"/>
                </a:solidFill>
                <a:latin typeface="Segoe UI"/>
              </a:defRPr>
            </a:pPr>
            <a:r>
              <a:t>📋 DriverRequest</a:t>
            </a:r>
          </a:p>
        </p:txBody>
      </p:sp>
      <p:sp>
        <p:nvSpPr>
          <p:cNvPr id="67" name="TextBox 66"/>
          <p:cNvSpPr txBox="1"/>
          <p:nvPr/>
        </p:nvSpPr>
        <p:spPr>
          <a:xfrm>
            <a:off x="10515600" y="4773168"/>
            <a:ext cx="1005840" cy="274320"/>
          </a:xfrm>
          <a:prstGeom prst="rect">
            <a:avLst/>
          </a:prstGeom>
          <a:noFill/>
        </p:spPr>
        <p:txBody>
          <a:bodyPr wrap="square">
            <a:spAutoFit/>
          </a:bodyPr>
          <a:lstStyle/>
          <a:p>
            <a:pPr algn="r">
              <a:spcBef>
                <a:spcPts val="0"/>
              </a:spcBef>
              <a:spcAft>
                <a:spcPts val="0"/>
              </a:spcAft>
              <a:defRPr sz="800" b="0">
                <a:solidFill>
                  <a:srgbClr val="FFFFFF"/>
                </a:solidFill>
                <a:latin typeface="Segoe UI"/>
              </a:defRPr>
            </a:pPr>
            <a:r>
              <a:t>10 fields</a:t>
            </a:r>
          </a:p>
        </p:txBody>
      </p:sp>
      <p:sp>
        <p:nvSpPr>
          <p:cNvPr id="68" name="TextBox 67"/>
          <p:cNvSpPr txBox="1"/>
          <p:nvPr/>
        </p:nvSpPr>
        <p:spPr>
          <a:xfrm>
            <a:off x="9189720" y="5166360"/>
            <a:ext cx="2377440" cy="868680"/>
          </a:xfrm>
          <a:prstGeom prst="rect">
            <a:avLst/>
          </a:prstGeom>
          <a:noFill/>
        </p:spPr>
        <p:txBody>
          <a:bodyPr wrap="square">
            <a:spAutoFit/>
          </a:bodyPr>
          <a:lstStyle/>
          <a:p>
            <a:pPr algn="l">
              <a:spcBef>
                <a:spcPts val="0"/>
              </a:spcBef>
              <a:spcAft>
                <a:spcPts val="0"/>
              </a:spcAft>
              <a:defRPr sz="800" b="0">
                <a:solidFill>
                  <a:srgbClr val="9C9CA8"/>
                </a:solidFill>
                <a:latin typeface="Segoe UI"/>
              </a:defRPr>
            </a:pPr>
            <a:r>
              <a:t>name, email, phone,</a:t>
            </a:r>
            <a:br/>
            <a:r>
              <a:t>vehicleType, licensePlate,</a:t>
            </a:r>
            <a:br/>
            <a:r>
              <a:t>status</a:t>
            </a:r>
          </a:p>
        </p:txBody>
      </p:sp>
      <p:sp>
        <p:nvSpPr>
          <p:cNvPr id="69" name="Rounded Rectangle 68"/>
          <p:cNvSpPr/>
          <p:nvPr/>
        </p:nvSpPr>
        <p:spPr>
          <a:xfrm>
            <a:off x="548640" y="6355080"/>
            <a:ext cx="10972800" cy="411480"/>
          </a:xfrm>
          <a:prstGeom prst="roundRect">
            <a:avLst>
              <a:gd name="adj" fmla="val 4000"/>
            </a:avLst>
          </a:prstGeom>
          <a:solidFill>
            <a:srgbClr val="222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914400" y="6382512"/>
            <a:ext cx="10515600" cy="320040"/>
          </a:xfrm>
          <a:prstGeom prst="rect">
            <a:avLst/>
          </a:prstGeom>
          <a:noFill/>
        </p:spPr>
        <p:txBody>
          <a:bodyPr wrap="square">
            <a:spAutoFit/>
          </a:bodyPr>
          <a:lstStyle/>
          <a:p>
            <a:pPr algn="l">
              <a:spcBef>
                <a:spcPts val="0"/>
              </a:spcBef>
              <a:spcAft>
                <a:spcPts val="0"/>
              </a:spcAft>
              <a:defRPr sz="900" b="0">
                <a:solidFill>
                  <a:srgbClr val="9C9CA8"/>
                </a:solidFill>
                <a:latin typeface="Segoe UI"/>
              </a:defRPr>
            </a:pPr>
            <a:r>
              <a:t>🔗 Quan hệ chính: User ←→ Order (1-N)  •  Restaurant ←→ MenuItem (1-N)  •  User ←→ Review (1-N)  •  Order ←→ Review (1-1)  •  Restaurant ←→ Order (1-N)  •  User ←→ Notification (1-N)</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0F14"/>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731520" cy="457200"/>
          </a:xfrm>
          <a:prstGeom prst="rect">
            <a:avLst/>
          </a:prstGeom>
          <a:noFill/>
        </p:spPr>
        <p:txBody>
          <a:bodyPr wrap="square">
            <a:spAutoFit/>
          </a:bodyPr>
          <a:lstStyle/>
          <a:p>
            <a:pPr algn="l">
              <a:spcBef>
                <a:spcPts val="0"/>
              </a:spcBef>
              <a:spcAft>
                <a:spcPts val="0"/>
              </a:spcAft>
              <a:defRPr sz="1400" b="1">
                <a:solidFill>
                  <a:srgbClr val="FF6B00"/>
                </a:solidFill>
                <a:latin typeface="Segoe UI Black"/>
              </a:defRPr>
            </a:pPr>
            <a:r>
              <a:t>03</a:t>
            </a:r>
          </a:p>
        </p:txBody>
      </p:sp>
      <p:sp>
        <p:nvSpPr>
          <p:cNvPr id="4" name="TextBox 3"/>
          <p:cNvSpPr txBox="1"/>
          <p:nvPr/>
        </p:nvSpPr>
        <p:spPr>
          <a:xfrm>
            <a:off x="1234440" y="320040"/>
            <a:ext cx="274320" cy="457200"/>
          </a:xfrm>
          <a:prstGeom prst="rect">
            <a:avLst/>
          </a:prstGeom>
          <a:noFill/>
        </p:spPr>
        <p:txBody>
          <a:bodyPr wrap="square">
            <a:spAutoFit/>
          </a:bodyPr>
          <a:lstStyle/>
          <a:p>
            <a:pPr algn="l">
              <a:spcBef>
                <a:spcPts val="0"/>
              </a:spcBef>
              <a:spcAft>
                <a:spcPts val="0"/>
              </a:spcAft>
              <a:defRPr sz="1400" b="1">
                <a:solidFill>
                  <a:srgbClr val="9C9CA8"/>
                </a:solidFill>
                <a:latin typeface="Segoe UI"/>
              </a:defRPr>
            </a:pPr>
            <a:r>
              <a:t>—</a:t>
            </a:r>
          </a:p>
        </p:txBody>
      </p:sp>
      <p:sp>
        <p:nvSpPr>
          <p:cNvPr id="5" name="TextBox 4"/>
          <p:cNvSpPr txBox="1"/>
          <p:nvPr/>
        </p:nvSpPr>
        <p:spPr>
          <a:xfrm>
            <a:off x="1508760" y="274320"/>
            <a:ext cx="7315200" cy="502920"/>
          </a:xfrm>
          <a:prstGeom prst="rect">
            <a:avLst/>
          </a:prstGeom>
          <a:noFill/>
        </p:spPr>
        <p:txBody>
          <a:bodyPr wrap="square">
            <a:spAutoFit/>
          </a:bodyPr>
          <a:lstStyle/>
          <a:p>
            <a:pPr algn="l">
              <a:spcBef>
                <a:spcPts val="0"/>
              </a:spcBef>
              <a:spcAft>
                <a:spcPts val="0"/>
              </a:spcAft>
              <a:defRPr sz="1500" b="1">
                <a:solidFill>
                  <a:srgbClr val="FFFFFF"/>
                </a:solidFill>
                <a:latin typeface="Segoe UI Semibold"/>
              </a:defRPr>
            </a:pPr>
            <a:r>
              <a:t>SƠ ĐỒ QUAN HỆ GIỮA CÁC THỰC THỂ</a:t>
            </a:r>
          </a:p>
        </p:txBody>
      </p:sp>
      <p:sp>
        <p:nvSpPr>
          <p:cNvPr id="6" name="TextBox 5"/>
          <p:cNvSpPr txBox="1"/>
          <p:nvPr/>
        </p:nvSpPr>
        <p:spPr>
          <a:xfrm>
            <a:off x="1508760" y="640080"/>
            <a:ext cx="7315200" cy="36576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Phân tích hệ thống</a:t>
            </a:r>
          </a:p>
        </p:txBody>
      </p:sp>
      <p:sp>
        <p:nvSpPr>
          <p:cNvPr id="7" name="TextBox 6"/>
          <p:cNvSpPr txBox="1"/>
          <p:nvPr/>
        </p:nvSpPr>
        <p:spPr>
          <a:xfrm>
            <a:off x="10058400" y="320040"/>
            <a:ext cx="1828800" cy="365760"/>
          </a:xfrm>
          <a:prstGeom prst="rect">
            <a:avLst/>
          </a:prstGeom>
          <a:noFill/>
        </p:spPr>
        <p:txBody>
          <a:bodyPr wrap="square">
            <a:spAutoFit/>
          </a:bodyPr>
          <a:lstStyle/>
          <a:p>
            <a:pPr algn="r">
              <a:spcBef>
                <a:spcPts val="0"/>
              </a:spcBef>
              <a:spcAft>
                <a:spcPts val="0"/>
              </a:spcAft>
              <a:defRPr sz="1100" b="1">
                <a:solidFill>
                  <a:srgbClr val="FF6B00"/>
                </a:solidFill>
                <a:latin typeface="Segoe UI"/>
              </a:defRPr>
            </a:pPr>
            <a:r>
              <a:t>🍽️ FoodServe</a:t>
            </a:r>
          </a:p>
        </p:txBody>
      </p:sp>
      <p:sp>
        <p:nvSpPr>
          <p:cNvPr id="8" name="Rectangle 7"/>
          <p:cNvSpPr/>
          <p:nvPr/>
        </p:nvSpPr>
        <p:spPr>
          <a:xfrm>
            <a:off x="731520" y="1005840"/>
            <a:ext cx="10698480" cy="12700"/>
          </a:xfrm>
          <a:prstGeom prst="rect">
            <a:avLst/>
          </a:prstGeom>
          <a:solidFill>
            <a:srgbClr val="2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120640" y="3200400"/>
            <a:ext cx="1645920" cy="640080"/>
          </a:xfrm>
          <a:prstGeom prst="roundRect">
            <a:avLst>
              <a:gd name="adj" fmla="val 10000"/>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120640" y="3291840"/>
            <a:ext cx="1645920" cy="457200"/>
          </a:xfrm>
          <a:prstGeom prst="rect">
            <a:avLst/>
          </a:prstGeom>
          <a:noFill/>
        </p:spPr>
        <p:txBody>
          <a:bodyPr wrap="square">
            <a:spAutoFit/>
          </a:bodyPr>
          <a:lstStyle/>
          <a:p>
            <a:pPr algn="ctr">
              <a:spcBef>
                <a:spcPts val="0"/>
              </a:spcBef>
              <a:spcAft>
                <a:spcPts val="0"/>
              </a:spcAft>
              <a:defRPr sz="1400" b="1">
                <a:solidFill>
                  <a:srgbClr val="FFFFFF"/>
                </a:solidFill>
                <a:latin typeface="Segoe UI"/>
              </a:defRPr>
            </a:pPr>
            <a:r>
              <a:t>👤 USER</a:t>
            </a:r>
          </a:p>
        </p:txBody>
      </p:sp>
      <p:sp>
        <p:nvSpPr>
          <p:cNvPr id="11" name="Rounded Rectangle 10"/>
          <p:cNvSpPr/>
          <p:nvPr/>
        </p:nvSpPr>
        <p:spPr>
          <a:xfrm>
            <a:off x="1828800" y="1645920"/>
            <a:ext cx="1645920" cy="594360"/>
          </a:xfrm>
          <a:prstGeom prst="roundRect">
            <a:avLst>
              <a:gd name="adj" fmla="val 8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828800" y="1645920"/>
            <a:ext cx="1645920" cy="381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828800" y="1737360"/>
            <a:ext cx="1645920" cy="228600"/>
          </a:xfrm>
          <a:prstGeom prst="rect">
            <a:avLst/>
          </a:prstGeom>
          <a:noFill/>
        </p:spPr>
        <p:txBody>
          <a:bodyPr wrap="square">
            <a:spAutoFit/>
          </a:bodyPr>
          <a:lstStyle/>
          <a:p>
            <a:pPr algn="ctr">
              <a:spcBef>
                <a:spcPts val="0"/>
              </a:spcBef>
              <a:spcAft>
                <a:spcPts val="0"/>
              </a:spcAft>
              <a:defRPr sz="1000" b="1">
                <a:solidFill>
                  <a:srgbClr val="FFFFFF"/>
                </a:solidFill>
                <a:latin typeface="Segoe UI"/>
              </a:defRPr>
            </a:pPr>
            <a:r>
              <a:t>🛒 Order</a:t>
            </a:r>
          </a:p>
        </p:txBody>
      </p:sp>
      <p:sp>
        <p:nvSpPr>
          <p:cNvPr id="14" name="TextBox 13"/>
          <p:cNvSpPr txBox="1"/>
          <p:nvPr/>
        </p:nvSpPr>
        <p:spPr>
          <a:xfrm>
            <a:off x="1828800" y="1965960"/>
            <a:ext cx="1645920" cy="228600"/>
          </a:xfrm>
          <a:prstGeom prst="rect">
            <a:avLst/>
          </a:prstGeom>
          <a:noFill/>
        </p:spPr>
        <p:txBody>
          <a:bodyPr wrap="square">
            <a:spAutoFit/>
          </a:bodyPr>
          <a:lstStyle/>
          <a:p>
            <a:pPr algn="ctr">
              <a:spcBef>
                <a:spcPts val="0"/>
              </a:spcBef>
              <a:spcAft>
                <a:spcPts val="0"/>
              </a:spcAft>
              <a:defRPr sz="800" b="0">
                <a:solidFill>
                  <a:srgbClr val="9C9CA8"/>
                </a:solidFill>
                <a:latin typeface="Segoe UI"/>
              </a:defRPr>
            </a:pPr>
            <a:r>
              <a:t>1 — N</a:t>
            </a:r>
          </a:p>
        </p:txBody>
      </p:sp>
      <p:sp>
        <p:nvSpPr>
          <p:cNvPr id="15" name="Rounded Rectangle 14"/>
          <p:cNvSpPr/>
          <p:nvPr/>
        </p:nvSpPr>
        <p:spPr>
          <a:xfrm>
            <a:off x="8412480" y="1645920"/>
            <a:ext cx="1645920" cy="594360"/>
          </a:xfrm>
          <a:prstGeom prst="roundRect">
            <a:avLst>
              <a:gd name="adj" fmla="val 8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412480" y="1645920"/>
            <a:ext cx="1645920" cy="381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80" y="1737360"/>
            <a:ext cx="1645920" cy="228600"/>
          </a:xfrm>
          <a:prstGeom prst="rect">
            <a:avLst/>
          </a:prstGeom>
          <a:noFill/>
        </p:spPr>
        <p:txBody>
          <a:bodyPr wrap="square">
            <a:spAutoFit/>
          </a:bodyPr>
          <a:lstStyle/>
          <a:p>
            <a:pPr algn="ctr">
              <a:spcBef>
                <a:spcPts val="0"/>
              </a:spcBef>
              <a:spcAft>
                <a:spcPts val="0"/>
              </a:spcAft>
              <a:defRPr sz="1000" b="1">
                <a:solidFill>
                  <a:srgbClr val="FFFFFF"/>
                </a:solidFill>
                <a:latin typeface="Segoe UI"/>
              </a:defRPr>
            </a:pPr>
            <a:r>
              <a:t>🏪 Restaurant</a:t>
            </a:r>
          </a:p>
        </p:txBody>
      </p:sp>
      <p:sp>
        <p:nvSpPr>
          <p:cNvPr id="18" name="TextBox 17"/>
          <p:cNvSpPr txBox="1"/>
          <p:nvPr/>
        </p:nvSpPr>
        <p:spPr>
          <a:xfrm>
            <a:off x="8412480" y="1965960"/>
            <a:ext cx="1645920" cy="228600"/>
          </a:xfrm>
          <a:prstGeom prst="rect">
            <a:avLst/>
          </a:prstGeom>
          <a:noFill/>
        </p:spPr>
        <p:txBody>
          <a:bodyPr wrap="square">
            <a:spAutoFit/>
          </a:bodyPr>
          <a:lstStyle/>
          <a:p>
            <a:pPr algn="ctr">
              <a:spcBef>
                <a:spcPts val="0"/>
              </a:spcBef>
              <a:spcAft>
                <a:spcPts val="0"/>
              </a:spcAft>
              <a:defRPr sz="800" b="0">
                <a:solidFill>
                  <a:srgbClr val="9C9CA8"/>
                </a:solidFill>
                <a:latin typeface="Segoe UI"/>
              </a:defRPr>
            </a:pPr>
            <a:r>
              <a:t>1 — N</a:t>
            </a:r>
          </a:p>
        </p:txBody>
      </p:sp>
      <p:sp>
        <p:nvSpPr>
          <p:cNvPr id="19" name="Rounded Rectangle 18"/>
          <p:cNvSpPr/>
          <p:nvPr/>
        </p:nvSpPr>
        <p:spPr>
          <a:xfrm>
            <a:off x="1828800" y="4572000"/>
            <a:ext cx="1645920" cy="594360"/>
          </a:xfrm>
          <a:prstGeom prst="roundRect">
            <a:avLst>
              <a:gd name="adj" fmla="val 8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828800" y="4572000"/>
            <a:ext cx="1645920" cy="381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828800" y="4663440"/>
            <a:ext cx="1645920" cy="228600"/>
          </a:xfrm>
          <a:prstGeom prst="rect">
            <a:avLst/>
          </a:prstGeom>
          <a:noFill/>
        </p:spPr>
        <p:txBody>
          <a:bodyPr wrap="square">
            <a:spAutoFit/>
          </a:bodyPr>
          <a:lstStyle/>
          <a:p>
            <a:pPr algn="ctr">
              <a:spcBef>
                <a:spcPts val="0"/>
              </a:spcBef>
              <a:spcAft>
                <a:spcPts val="0"/>
              </a:spcAft>
              <a:defRPr sz="1000" b="1">
                <a:solidFill>
                  <a:srgbClr val="FFFFFF"/>
                </a:solidFill>
                <a:latin typeface="Segoe UI"/>
              </a:defRPr>
            </a:pPr>
            <a:r>
              <a:t>⭐ Review</a:t>
            </a:r>
          </a:p>
        </p:txBody>
      </p:sp>
      <p:sp>
        <p:nvSpPr>
          <p:cNvPr id="22" name="TextBox 21"/>
          <p:cNvSpPr txBox="1"/>
          <p:nvPr/>
        </p:nvSpPr>
        <p:spPr>
          <a:xfrm>
            <a:off x="1828800" y="4892040"/>
            <a:ext cx="1645920" cy="228600"/>
          </a:xfrm>
          <a:prstGeom prst="rect">
            <a:avLst/>
          </a:prstGeom>
          <a:noFill/>
        </p:spPr>
        <p:txBody>
          <a:bodyPr wrap="square">
            <a:spAutoFit/>
          </a:bodyPr>
          <a:lstStyle/>
          <a:p>
            <a:pPr algn="ctr">
              <a:spcBef>
                <a:spcPts val="0"/>
              </a:spcBef>
              <a:spcAft>
                <a:spcPts val="0"/>
              </a:spcAft>
              <a:defRPr sz="800" b="0">
                <a:solidFill>
                  <a:srgbClr val="9C9CA8"/>
                </a:solidFill>
                <a:latin typeface="Segoe UI"/>
              </a:defRPr>
            </a:pPr>
            <a:r>
              <a:t>1 — N</a:t>
            </a:r>
          </a:p>
        </p:txBody>
      </p:sp>
      <p:sp>
        <p:nvSpPr>
          <p:cNvPr id="23" name="Rounded Rectangle 22"/>
          <p:cNvSpPr/>
          <p:nvPr/>
        </p:nvSpPr>
        <p:spPr>
          <a:xfrm>
            <a:off x="8412480" y="4572000"/>
            <a:ext cx="1645920" cy="594360"/>
          </a:xfrm>
          <a:prstGeom prst="roundRect">
            <a:avLst>
              <a:gd name="adj" fmla="val 8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412480" y="4572000"/>
            <a:ext cx="1645920" cy="38100"/>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412480" y="4663440"/>
            <a:ext cx="1645920" cy="228600"/>
          </a:xfrm>
          <a:prstGeom prst="rect">
            <a:avLst/>
          </a:prstGeom>
          <a:noFill/>
        </p:spPr>
        <p:txBody>
          <a:bodyPr wrap="square">
            <a:spAutoFit/>
          </a:bodyPr>
          <a:lstStyle/>
          <a:p>
            <a:pPr algn="ctr">
              <a:spcBef>
                <a:spcPts val="0"/>
              </a:spcBef>
              <a:spcAft>
                <a:spcPts val="0"/>
              </a:spcAft>
              <a:defRPr sz="1000" b="1">
                <a:solidFill>
                  <a:srgbClr val="FFFFFF"/>
                </a:solidFill>
                <a:latin typeface="Segoe UI"/>
              </a:defRPr>
            </a:pPr>
            <a:r>
              <a:t>🎫 Voucher</a:t>
            </a:r>
          </a:p>
        </p:txBody>
      </p:sp>
      <p:sp>
        <p:nvSpPr>
          <p:cNvPr id="26" name="TextBox 25"/>
          <p:cNvSpPr txBox="1"/>
          <p:nvPr/>
        </p:nvSpPr>
        <p:spPr>
          <a:xfrm>
            <a:off x="8412480" y="4892040"/>
            <a:ext cx="1645920" cy="228600"/>
          </a:xfrm>
          <a:prstGeom prst="rect">
            <a:avLst/>
          </a:prstGeom>
          <a:noFill/>
        </p:spPr>
        <p:txBody>
          <a:bodyPr wrap="square">
            <a:spAutoFit/>
          </a:bodyPr>
          <a:lstStyle/>
          <a:p>
            <a:pPr algn="ctr">
              <a:spcBef>
                <a:spcPts val="0"/>
              </a:spcBef>
              <a:spcAft>
                <a:spcPts val="0"/>
              </a:spcAft>
              <a:defRPr sz="800" b="0">
                <a:solidFill>
                  <a:srgbClr val="9C9CA8"/>
                </a:solidFill>
                <a:latin typeface="Segoe UI"/>
              </a:defRPr>
            </a:pPr>
            <a:r>
              <a:t>N — N</a:t>
            </a:r>
          </a:p>
        </p:txBody>
      </p:sp>
      <p:sp>
        <p:nvSpPr>
          <p:cNvPr id="27" name="Rounded Rectangle 26"/>
          <p:cNvSpPr/>
          <p:nvPr/>
        </p:nvSpPr>
        <p:spPr>
          <a:xfrm>
            <a:off x="457200" y="3200400"/>
            <a:ext cx="1645920" cy="594360"/>
          </a:xfrm>
          <a:prstGeom prst="roundRect">
            <a:avLst>
              <a:gd name="adj" fmla="val 8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57200" y="3200400"/>
            <a:ext cx="1645920" cy="38100"/>
          </a:xfrm>
          <a:prstGeom prst="rect">
            <a:avLst/>
          </a:prstGeom>
          <a:solidFill>
            <a:srgbClr val="388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7200" y="3291840"/>
            <a:ext cx="1645920" cy="228600"/>
          </a:xfrm>
          <a:prstGeom prst="rect">
            <a:avLst/>
          </a:prstGeom>
          <a:noFill/>
        </p:spPr>
        <p:txBody>
          <a:bodyPr wrap="square">
            <a:spAutoFit/>
          </a:bodyPr>
          <a:lstStyle/>
          <a:p>
            <a:pPr algn="ctr">
              <a:spcBef>
                <a:spcPts val="0"/>
              </a:spcBef>
              <a:spcAft>
                <a:spcPts val="0"/>
              </a:spcAft>
              <a:defRPr sz="1000" b="1">
                <a:solidFill>
                  <a:srgbClr val="FFFFFF"/>
                </a:solidFill>
                <a:latin typeface="Segoe UI"/>
              </a:defRPr>
            </a:pPr>
            <a:r>
              <a:t>🔔 Notification</a:t>
            </a:r>
          </a:p>
        </p:txBody>
      </p:sp>
      <p:sp>
        <p:nvSpPr>
          <p:cNvPr id="30" name="TextBox 29"/>
          <p:cNvSpPr txBox="1"/>
          <p:nvPr/>
        </p:nvSpPr>
        <p:spPr>
          <a:xfrm>
            <a:off x="457200" y="3520440"/>
            <a:ext cx="1645920" cy="228600"/>
          </a:xfrm>
          <a:prstGeom prst="rect">
            <a:avLst/>
          </a:prstGeom>
          <a:noFill/>
        </p:spPr>
        <p:txBody>
          <a:bodyPr wrap="square">
            <a:spAutoFit/>
          </a:bodyPr>
          <a:lstStyle/>
          <a:p>
            <a:pPr algn="ctr">
              <a:spcBef>
                <a:spcPts val="0"/>
              </a:spcBef>
              <a:spcAft>
                <a:spcPts val="0"/>
              </a:spcAft>
              <a:defRPr sz="800" b="0">
                <a:solidFill>
                  <a:srgbClr val="9C9CA8"/>
                </a:solidFill>
                <a:latin typeface="Segoe UI"/>
              </a:defRPr>
            </a:pPr>
            <a:r>
              <a:t>1 — N</a:t>
            </a:r>
          </a:p>
        </p:txBody>
      </p:sp>
      <p:sp>
        <p:nvSpPr>
          <p:cNvPr id="31" name="Rounded Rectangle 30"/>
          <p:cNvSpPr/>
          <p:nvPr/>
        </p:nvSpPr>
        <p:spPr>
          <a:xfrm>
            <a:off x="9875520" y="3200400"/>
            <a:ext cx="1645920" cy="594360"/>
          </a:xfrm>
          <a:prstGeom prst="roundRect">
            <a:avLst>
              <a:gd name="adj" fmla="val 8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9875520" y="3200400"/>
            <a:ext cx="1645920" cy="381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875520" y="3291840"/>
            <a:ext cx="1645920" cy="228600"/>
          </a:xfrm>
          <a:prstGeom prst="rect">
            <a:avLst/>
          </a:prstGeom>
          <a:noFill/>
        </p:spPr>
        <p:txBody>
          <a:bodyPr wrap="square">
            <a:spAutoFit/>
          </a:bodyPr>
          <a:lstStyle/>
          <a:p>
            <a:pPr algn="ctr">
              <a:spcBef>
                <a:spcPts val="0"/>
              </a:spcBef>
              <a:spcAft>
                <a:spcPts val="0"/>
              </a:spcAft>
              <a:defRPr sz="1000" b="1">
                <a:solidFill>
                  <a:srgbClr val="FFFFFF"/>
                </a:solidFill>
                <a:latin typeface="Segoe UI"/>
              </a:defRPr>
            </a:pPr>
            <a:r>
              <a:t>💰 CoinTxn</a:t>
            </a:r>
          </a:p>
        </p:txBody>
      </p:sp>
      <p:sp>
        <p:nvSpPr>
          <p:cNvPr id="34" name="TextBox 33"/>
          <p:cNvSpPr txBox="1"/>
          <p:nvPr/>
        </p:nvSpPr>
        <p:spPr>
          <a:xfrm>
            <a:off x="9875520" y="3520440"/>
            <a:ext cx="1645920" cy="228600"/>
          </a:xfrm>
          <a:prstGeom prst="rect">
            <a:avLst/>
          </a:prstGeom>
          <a:noFill/>
        </p:spPr>
        <p:txBody>
          <a:bodyPr wrap="square">
            <a:spAutoFit/>
          </a:bodyPr>
          <a:lstStyle/>
          <a:p>
            <a:pPr algn="ctr">
              <a:spcBef>
                <a:spcPts val="0"/>
              </a:spcBef>
              <a:spcAft>
                <a:spcPts val="0"/>
              </a:spcAft>
              <a:defRPr sz="800" b="0">
                <a:solidFill>
                  <a:srgbClr val="9C9CA8"/>
                </a:solidFill>
                <a:latin typeface="Segoe UI"/>
              </a:defRPr>
            </a:pPr>
            <a:r>
              <a:t>1 — N</a:t>
            </a:r>
          </a:p>
        </p:txBody>
      </p:sp>
      <p:sp>
        <p:nvSpPr>
          <p:cNvPr id="35" name="Rounded Rectangle 34"/>
          <p:cNvSpPr/>
          <p:nvPr/>
        </p:nvSpPr>
        <p:spPr>
          <a:xfrm>
            <a:off x="5120640" y="1371600"/>
            <a:ext cx="1645920" cy="594360"/>
          </a:xfrm>
          <a:prstGeom prst="roundRect">
            <a:avLst>
              <a:gd name="adj" fmla="val 8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5120640" y="1371600"/>
            <a:ext cx="1645920" cy="3810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120640" y="1463040"/>
            <a:ext cx="1645920" cy="228600"/>
          </a:xfrm>
          <a:prstGeom prst="rect">
            <a:avLst/>
          </a:prstGeom>
          <a:noFill/>
        </p:spPr>
        <p:txBody>
          <a:bodyPr wrap="square">
            <a:spAutoFit/>
          </a:bodyPr>
          <a:lstStyle/>
          <a:p>
            <a:pPr algn="ctr">
              <a:spcBef>
                <a:spcPts val="0"/>
              </a:spcBef>
              <a:spcAft>
                <a:spcPts val="0"/>
              </a:spcAft>
              <a:defRPr sz="1000" b="1">
                <a:solidFill>
                  <a:srgbClr val="FFFFFF"/>
                </a:solidFill>
                <a:latin typeface="Segoe UI"/>
              </a:defRPr>
            </a:pPr>
            <a:r>
              <a:t>👥 GroupOrder</a:t>
            </a:r>
          </a:p>
        </p:txBody>
      </p:sp>
      <p:sp>
        <p:nvSpPr>
          <p:cNvPr id="38" name="TextBox 37"/>
          <p:cNvSpPr txBox="1"/>
          <p:nvPr/>
        </p:nvSpPr>
        <p:spPr>
          <a:xfrm>
            <a:off x="5120640" y="1691640"/>
            <a:ext cx="1645920" cy="228600"/>
          </a:xfrm>
          <a:prstGeom prst="rect">
            <a:avLst/>
          </a:prstGeom>
          <a:noFill/>
        </p:spPr>
        <p:txBody>
          <a:bodyPr wrap="square">
            <a:spAutoFit/>
          </a:bodyPr>
          <a:lstStyle/>
          <a:p>
            <a:pPr algn="ctr">
              <a:spcBef>
                <a:spcPts val="0"/>
              </a:spcBef>
              <a:spcAft>
                <a:spcPts val="0"/>
              </a:spcAft>
              <a:defRPr sz="800" b="0">
                <a:solidFill>
                  <a:srgbClr val="9C9CA8"/>
                </a:solidFill>
                <a:latin typeface="Segoe UI"/>
              </a:defRPr>
            </a:pPr>
            <a:r>
              <a:t>N — N</a:t>
            </a:r>
          </a:p>
        </p:txBody>
      </p:sp>
      <p:sp>
        <p:nvSpPr>
          <p:cNvPr id="39" name="Rounded Rectangle 38"/>
          <p:cNvSpPr/>
          <p:nvPr/>
        </p:nvSpPr>
        <p:spPr>
          <a:xfrm>
            <a:off x="5120640" y="5029200"/>
            <a:ext cx="1645920" cy="594360"/>
          </a:xfrm>
          <a:prstGeom prst="roundRect">
            <a:avLst>
              <a:gd name="adj" fmla="val 8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5120640" y="5029200"/>
            <a:ext cx="1645920" cy="381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120640" y="5120640"/>
            <a:ext cx="1645920" cy="228600"/>
          </a:xfrm>
          <a:prstGeom prst="rect">
            <a:avLst/>
          </a:prstGeom>
          <a:noFill/>
        </p:spPr>
        <p:txBody>
          <a:bodyPr wrap="square">
            <a:spAutoFit/>
          </a:bodyPr>
          <a:lstStyle/>
          <a:p>
            <a:pPr algn="ctr">
              <a:spcBef>
                <a:spcPts val="0"/>
              </a:spcBef>
              <a:spcAft>
                <a:spcPts val="0"/>
              </a:spcAft>
              <a:defRPr sz="1000" b="1">
                <a:solidFill>
                  <a:srgbClr val="FFFFFF"/>
                </a:solidFill>
                <a:latin typeface="Segoe UI"/>
              </a:defRPr>
            </a:pPr>
            <a:r>
              <a:t>📅 Subscription</a:t>
            </a:r>
          </a:p>
        </p:txBody>
      </p:sp>
      <p:sp>
        <p:nvSpPr>
          <p:cNvPr id="42" name="TextBox 41"/>
          <p:cNvSpPr txBox="1"/>
          <p:nvPr/>
        </p:nvSpPr>
        <p:spPr>
          <a:xfrm>
            <a:off x="5120640" y="5349240"/>
            <a:ext cx="1645920" cy="228600"/>
          </a:xfrm>
          <a:prstGeom prst="rect">
            <a:avLst/>
          </a:prstGeom>
          <a:noFill/>
        </p:spPr>
        <p:txBody>
          <a:bodyPr wrap="square">
            <a:spAutoFit/>
          </a:bodyPr>
          <a:lstStyle/>
          <a:p>
            <a:pPr algn="ctr">
              <a:spcBef>
                <a:spcPts val="0"/>
              </a:spcBef>
              <a:spcAft>
                <a:spcPts val="0"/>
              </a:spcAft>
              <a:defRPr sz="800" b="0">
                <a:solidFill>
                  <a:srgbClr val="9C9CA8"/>
                </a:solidFill>
                <a:latin typeface="Segoe UI"/>
              </a:defRPr>
            </a:pPr>
            <a:r>
              <a:t>1 — N</a:t>
            </a:r>
          </a:p>
        </p:txBody>
      </p:sp>
      <p:sp>
        <p:nvSpPr>
          <p:cNvPr id="43" name="Rounded Rectangle 42"/>
          <p:cNvSpPr/>
          <p:nvPr/>
        </p:nvSpPr>
        <p:spPr>
          <a:xfrm>
            <a:off x="8412480" y="2926080"/>
            <a:ext cx="1645920" cy="594360"/>
          </a:xfrm>
          <a:prstGeom prst="roundRect">
            <a:avLst>
              <a:gd name="adj" fmla="val 8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8412480" y="2926080"/>
            <a:ext cx="1645920" cy="38100"/>
          </a:xfrm>
          <a:prstGeom prst="rect">
            <a:avLst/>
          </a:prstGeom>
          <a:solidFill>
            <a:srgbClr val="388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412480" y="3017520"/>
            <a:ext cx="1645920" cy="228600"/>
          </a:xfrm>
          <a:prstGeom prst="rect">
            <a:avLst/>
          </a:prstGeom>
          <a:noFill/>
        </p:spPr>
        <p:txBody>
          <a:bodyPr wrap="square">
            <a:spAutoFit/>
          </a:bodyPr>
          <a:lstStyle/>
          <a:p>
            <a:pPr algn="ctr">
              <a:spcBef>
                <a:spcPts val="0"/>
              </a:spcBef>
              <a:spcAft>
                <a:spcPts val="0"/>
              </a:spcAft>
              <a:defRPr sz="1000" b="1">
                <a:solidFill>
                  <a:srgbClr val="FFFFFF"/>
                </a:solidFill>
                <a:latin typeface="Segoe UI"/>
              </a:defRPr>
            </a:pPr>
            <a:r>
              <a:t>🍔 MenuItem</a:t>
            </a:r>
          </a:p>
        </p:txBody>
      </p:sp>
      <p:sp>
        <p:nvSpPr>
          <p:cNvPr id="46" name="TextBox 45"/>
          <p:cNvSpPr txBox="1"/>
          <p:nvPr/>
        </p:nvSpPr>
        <p:spPr>
          <a:xfrm>
            <a:off x="8412480" y="3246120"/>
            <a:ext cx="1645920" cy="228600"/>
          </a:xfrm>
          <a:prstGeom prst="rect">
            <a:avLst/>
          </a:prstGeom>
          <a:noFill/>
        </p:spPr>
        <p:txBody>
          <a:bodyPr wrap="square">
            <a:spAutoFit/>
          </a:bodyPr>
          <a:lstStyle/>
          <a:p>
            <a:pPr algn="ctr">
              <a:spcBef>
                <a:spcPts val="0"/>
              </a:spcBef>
              <a:spcAft>
                <a:spcPts val="0"/>
              </a:spcAft>
              <a:defRPr sz="800" b="0">
                <a:solidFill>
                  <a:srgbClr val="9C9CA8"/>
                </a:solidFill>
                <a:latin typeface="Segoe UI"/>
              </a:defRPr>
            </a:pPr>
            <a:r>
              <a:t>1 — N</a:t>
            </a:r>
          </a:p>
        </p:txBody>
      </p:sp>
      <p:sp>
        <p:nvSpPr>
          <p:cNvPr id="47" name="Rounded Rectangle 46"/>
          <p:cNvSpPr/>
          <p:nvPr/>
        </p:nvSpPr>
        <p:spPr>
          <a:xfrm>
            <a:off x="731520" y="6035040"/>
            <a:ext cx="10698480" cy="502920"/>
          </a:xfrm>
          <a:prstGeom prst="roundRect">
            <a:avLst>
              <a:gd name="adj" fmla="val 4000"/>
            </a:avLst>
          </a:prstGeom>
          <a:solidFill>
            <a:srgbClr val="222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097280" y="6080760"/>
            <a:ext cx="10058400" cy="365760"/>
          </a:xfrm>
          <a:prstGeom prst="rect">
            <a:avLst/>
          </a:prstGeom>
          <a:noFill/>
        </p:spPr>
        <p:txBody>
          <a:bodyPr wrap="square">
            <a:spAutoFit/>
          </a:bodyPr>
          <a:lstStyle/>
          <a:p>
            <a:pPr algn="l">
              <a:spcBef>
                <a:spcPts val="0"/>
              </a:spcBef>
              <a:spcAft>
                <a:spcPts val="0"/>
              </a:spcAft>
              <a:defRPr sz="900" b="0">
                <a:solidFill>
                  <a:srgbClr val="9C9CA8"/>
                </a:solidFill>
                <a:latin typeface="Segoe UI"/>
              </a:defRPr>
            </a:pPr>
            <a:r>
              <a:t>📖 Chú thích: 1-N = Một-Nhiều  •  N-N = Nhiều-Nhiều  •  Tổng cộng 16 collections trong MongoDB  •  Sử dụng Mongoose ODM cho schema validation &amp; indexing</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0F14"/>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731520" cy="457200"/>
          </a:xfrm>
          <a:prstGeom prst="rect">
            <a:avLst/>
          </a:prstGeom>
          <a:noFill/>
        </p:spPr>
        <p:txBody>
          <a:bodyPr wrap="square">
            <a:spAutoFit/>
          </a:bodyPr>
          <a:lstStyle/>
          <a:p>
            <a:pPr algn="l">
              <a:spcBef>
                <a:spcPts val="0"/>
              </a:spcBef>
              <a:spcAft>
                <a:spcPts val="0"/>
              </a:spcAft>
              <a:defRPr sz="1400" b="1">
                <a:solidFill>
                  <a:srgbClr val="FF6B00"/>
                </a:solidFill>
                <a:latin typeface="Segoe UI Black"/>
              </a:defRPr>
            </a:pPr>
            <a:r>
              <a:t>04</a:t>
            </a:r>
          </a:p>
        </p:txBody>
      </p:sp>
      <p:sp>
        <p:nvSpPr>
          <p:cNvPr id="4" name="TextBox 3"/>
          <p:cNvSpPr txBox="1"/>
          <p:nvPr/>
        </p:nvSpPr>
        <p:spPr>
          <a:xfrm>
            <a:off x="1234440" y="320040"/>
            <a:ext cx="274320" cy="457200"/>
          </a:xfrm>
          <a:prstGeom prst="rect">
            <a:avLst/>
          </a:prstGeom>
          <a:noFill/>
        </p:spPr>
        <p:txBody>
          <a:bodyPr wrap="square">
            <a:spAutoFit/>
          </a:bodyPr>
          <a:lstStyle/>
          <a:p>
            <a:pPr algn="l">
              <a:spcBef>
                <a:spcPts val="0"/>
              </a:spcBef>
              <a:spcAft>
                <a:spcPts val="0"/>
              </a:spcAft>
              <a:defRPr sz="1400" b="1">
                <a:solidFill>
                  <a:srgbClr val="9C9CA8"/>
                </a:solidFill>
                <a:latin typeface="Segoe UI"/>
              </a:defRPr>
            </a:pPr>
            <a:r>
              <a:t>—</a:t>
            </a:r>
          </a:p>
        </p:txBody>
      </p:sp>
      <p:sp>
        <p:nvSpPr>
          <p:cNvPr id="5" name="TextBox 4"/>
          <p:cNvSpPr txBox="1"/>
          <p:nvPr/>
        </p:nvSpPr>
        <p:spPr>
          <a:xfrm>
            <a:off x="1508760" y="274320"/>
            <a:ext cx="7315200" cy="502920"/>
          </a:xfrm>
          <a:prstGeom prst="rect">
            <a:avLst/>
          </a:prstGeom>
          <a:noFill/>
        </p:spPr>
        <p:txBody>
          <a:bodyPr wrap="square">
            <a:spAutoFit/>
          </a:bodyPr>
          <a:lstStyle/>
          <a:p>
            <a:pPr algn="l">
              <a:spcBef>
                <a:spcPts val="0"/>
              </a:spcBef>
              <a:spcAft>
                <a:spcPts val="0"/>
              </a:spcAft>
              <a:defRPr sz="1500" b="1">
                <a:solidFill>
                  <a:srgbClr val="FFFFFF"/>
                </a:solidFill>
                <a:latin typeface="Segoe UI Semibold"/>
              </a:defRPr>
            </a:pPr>
            <a:r>
              <a:t>DEMO SẢN PHẨM</a:t>
            </a:r>
          </a:p>
        </p:txBody>
      </p:sp>
      <p:sp>
        <p:nvSpPr>
          <p:cNvPr id="6" name="TextBox 5"/>
          <p:cNvSpPr txBox="1"/>
          <p:nvPr/>
        </p:nvSpPr>
        <p:spPr>
          <a:xfrm>
            <a:off x="1508760" y="640080"/>
            <a:ext cx="7315200" cy="36576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Trình diễn FoodServe</a:t>
            </a:r>
          </a:p>
        </p:txBody>
      </p:sp>
      <p:sp>
        <p:nvSpPr>
          <p:cNvPr id="7" name="TextBox 6"/>
          <p:cNvSpPr txBox="1"/>
          <p:nvPr/>
        </p:nvSpPr>
        <p:spPr>
          <a:xfrm>
            <a:off x="10058400" y="320040"/>
            <a:ext cx="1828800" cy="365760"/>
          </a:xfrm>
          <a:prstGeom prst="rect">
            <a:avLst/>
          </a:prstGeom>
          <a:noFill/>
        </p:spPr>
        <p:txBody>
          <a:bodyPr wrap="square">
            <a:spAutoFit/>
          </a:bodyPr>
          <a:lstStyle/>
          <a:p>
            <a:pPr algn="r">
              <a:spcBef>
                <a:spcPts val="0"/>
              </a:spcBef>
              <a:spcAft>
                <a:spcPts val="0"/>
              </a:spcAft>
              <a:defRPr sz="1100" b="1">
                <a:solidFill>
                  <a:srgbClr val="FF6B00"/>
                </a:solidFill>
                <a:latin typeface="Segoe UI"/>
              </a:defRPr>
            </a:pPr>
            <a:r>
              <a:t>🍽️ FoodServe</a:t>
            </a:r>
          </a:p>
        </p:txBody>
      </p:sp>
      <p:sp>
        <p:nvSpPr>
          <p:cNvPr id="8" name="Rectangle 7"/>
          <p:cNvSpPr/>
          <p:nvPr/>
        </p:nvSpPr>
        <p:spPr>
          <a:xfrm>
            <a:off x="731520" y="1005840"/>
            <a:ext cx="10698480" cy="12700"/>
          </a:xfrm>
          <a:prstGeom prst="rect">
            <a:avLst/>
          </a:prstGeom>
          <a:solidFill>
            <a:srgbClr val="2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48640" y="1371600"/>
            <a:ext cx="2606040" cy="219456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822960" y="1645920"/>
            <a:ext cx="502920" cy="502920"/>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1627632"/>
            <a:ext cx="502920" cy="502920"/>
          </a:xfrm>
          <a:prstGeom prst="rect">
            <a:avLst/>
          </a:prstGeom>
          <a:noFill/>
        </p:spPr>
        <p:txBody>
          <a:bodyPr wrap="square">
            <a:spAutoFit/>
          </a:bodyPr>
          <a:lstStyle/>
          <a:p>
            <a:pPr algn="ctr">
              <a:spcBef>
                <a:spcPts val="0"/>
              </a:spcBef>
              <a:spcAft>
                <a:spcPts val="0"/>
              </a:spcAft>
              <a:defRPr sz="1800" b="1">
                <a:solidFill>
                  <a:srgbClr val="FFFFFF"/>
                </a:solidFill>
                <a:latin typeface="Segoe UI"/>
              </a:defRPr>
            </a:pPr>
            <a:r>
              <a:t>🏠</a:t>
            </a:r>
          </a:p>
        </p:txBody>
      </p:sp>
      <p:sp>
        <p:nvSpPr>
          <p:cNvPr id="12" name="TextBox 11"/>
          <p:cNvSpPr txBox="1"/>
          <p:nvPr/>
        </p:nvSpPr>
        <p:spPr>
          <a:xfrm>
            <a:off x="822960" y="2286000"/>
            <a:ext cx="2057400" cy="365760"/>
          </a:xfrm>
          <a:prstGeom prst="rect">
            <a:avLst/>
          </a:prstGeom>
          <a:noFill/>
        </p:spPr>
        <p:txBody>
          <a:bodyPr wrap="square">
            <a:spAutoFit/>
          </a:bodyPr>
          <a:lstStyle/>
          <a:p>
            <a:pPr algn="l">
              <a:spcBef>
                <a:spcPts val="0"/>
              </a:spcBef>
              <a:spcAft>
                <a:spcPts val="0"/>
              </a:spcAft>
              <a:defRPr sz="1300" b="1">
                <a:solidFill>
                  <a:srgbClr val="FFFFFF"/>
                </a:solidFill>
                <a:latin typeface="Segoe UI"/>
              </a:defRPr>
            </a:pPr>
            <a:r>
              <a:t>Trang chủ</a:t>
            </a:r>
          </a:p>
        </p:txBody>
      </p:sp>
      <p:sp>
        <p:nvSpPr>
          <p:cNvPr id="13" name="TextBox 12"/>
          <p:cNvSpPr txBox="1"/>
          <p:nvPr/>
        </p:nvSpPr>
        <p:spPr>
          <a:xfrm>
            <a:off x="822960" y="2606040"/>
            <a:ext cx="2057400" cy="82296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Hero banner, danh sách nhà hàng,</a:t>
            </a:r>
            <a:br/>
            <a:r>
              <a:t>tìm kiếm, filter, dark mode,</a:t>
            </a:r>
            <a:br/>
            <a:r>
              <a:t>chế độ ăn lành mạnh</a:t>
            </a:r>
          </a:p>
        </p:txBody>
      </p:sp>
      <p:sp>
        <p:nvSpPr>
          <p:cNvPr id="14" name="Rounded Rectangle 13"/>
          <p:cNvSpPr/>
          <p:nvPr/>
        </p:nvSpPr>
        <p:spPr>
          <a:xfrm>
            <a:off x="3383280" y="1371600"/>
            <a:ext cx="2606040" cy="219456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3657600" y="1645920"/>
            <a:ext cx="502920" cy="50292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57600" y="1627632"/>
            <a:ext cx="502920" cy="502920"/>
          </a:xfrm>
          <a:prstGeom prst="rect">
            <a:avLst/>
          </a:prstGeom>
          <a:noFill/>
        </p:spPr>
        <p:txBody>
          <a:bodyPr wrap="square">
            <a:spAutoFit/>
          </a:bodyPr>
          <a:lstStyle/>
          <a:p>
            <a:pPr algn="ctr">
              <a:spcBef>
                <a:spcPts val="0"/>
              </a:spcBef>
              <a:spcAft>
                <a:spcPts val="0"/>
              </a:spcAft>
              <a:defRPr sz="1800" b="1">
                <a:solidFill>
                  <a:srgbClr val="FFFFFF"/>
                </a:solidFill>
                <a:latin typeface="Segoe UI"/>
              </a:defRPr>
            </a:pPr>
            <a:r>
              <a:t>🍔</a:t>
            </a:r>
          </a:p>
        </p:txBody>
      </p:sp>
      <p:sp>
        <p:nvSpPr>
          <p:cNvPr id="17" name="TextBox 16"/>
          <p:cNvSpPr txBox="1"/>
          <p:nvPr/>
        </p:nvSpPr>
        <p:spPr>
          <a:xfrm>
            <a:off x="3657600" y="2286000"/>
            <a:ext cx="2057400" cy="365760"/>
          </a:xfrm>
          <a:prstGeom prst="rect">
            <a:avLst/>
          </a:prstGeom>
          <a:noFill/>
        </p:spPr>
        <p:txBody>
          <a:bodyPr wrap="square">
            <a:spAutoFit/>
          </a:bodyPr>
          <a:lstStyle/>
          <a:p>
            <a:pPr algn="l">
              <a:spcBef>
                <a:spcPts val="0"/>
              </a:spcBef>
              <a:spcAft>
                <a:spcPts val="0"/>
              </a:spcAft>
              <a:defRPr sz="1300" b="1">
                <a:solidFill>
                  <a:srgbClr val="FFFFFF"/>
                </a:solidFill>
                <a:latin typeface="Segoe UI"/>
              </a:defRPr>
            </a:pPr>
            <a:r>
              <a:t>Đặt món</a:t>
            </a:r>
          </a:p>
        </p:txBody>
      </p:sp>
      <p:sp>
        <p:nvSpPr>
          <p:cNvPr id="18" name="TextBox 17"/>
          <p:cNvSpPr txBox="1"/>
          <p:nvPr/>
        </p:nvSpPr>
        <p:spPr>
          <a:xfrm>
            <a:off x="3657600" y="2606040"/>
            <a:ext cx="2057400" cy="82296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Xem thực đơn, thêm giỏ hàng,</a:t>
            </a:r>
            <a:br/>
            <a:r>
              <a:t>thanh toán đa phương thức,</a:t>
            </a:r>
            <a:br/>
            <a:r>
              <a:t>voucher &amp; mã giảm giá</a:t>
            </a:r>
          </a:p>
        </p:txBody>
      </p:sp>
      <p:sp>
        <p:nvSpPr>
          <p:cNvPr id="19" name="Rounded Rectangle 18"/>
          <p:cNvSpPr/>
          <p:nvPr/>
        </p:nvSpPr>
        <p:spPr>
          <a:xfrm>
            <a:off x="6217920" y="1371600"/>
            <a:ext cx="2606040" cy="219456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492240" y="1645920"/>
            <a:ext cx="502920" cy="502920"/>
          </a:xfrm>
          <a:prstGeom prst="ellipse">
            <a:avLst/>
          </a:prstGeom>
          <a:solidFill>
            <a:srgbClr val="388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92240" y="1627632"/>
            <a:ext cx="502920" cy="502920"/>
          </a:xfrm>
          <a:prstGeom prst="rect">
            <a:avLst/>
          </a:prstGeom>
          <a:noFill/>
        </p:spPr>
        <p:txBody>
          <a:bodyPr wrap="square">
            <a:spAutoFit/>
          </a:bodyPr>
          <a:lstStyle/>
          <a:p>
            <a:pPr algn="ctr">
              <a:spcBef>
                <a:spcPts val="0"/>
              </a:spcBef>
              <a:spcAft>
                <a:spcPts val="0"/>
              </a:spcAft>
              <a:defRPr sz="1800" b="1">
                <a:solidFill>
                  <a:srgbClr val="FFFFFF"/>
                </a:solidFill>
                <a:latin typeface="Segoe UI"/>
              </a:defRPr>
            </a:pPr>
            <a:r>
              <a:t>📍</a:t>
            </a:r>
          </a:p>
        </p:txBody>
      </p:sp>
      <p:sp>
        <p:nvSpPr>
          <p:cNvPr id="22" name="TextBox 21"/>
          <p:cNvSpPr txBox="1"/>
          <p:nvPr/>
        </p:nvSpPr>
        <p:spPr>
          <a:xfrm>
            <a:off x="6492240" y="2286000"/>
            <a:ext cx="2057400" cy="365760"/>
          </a:xfrm>
          <a:prstGeom prst="rect">
            <a:avLst/>
          </a:prstGeom>
          <a:noFill/>
        </p:spPr>
        <p:txBody>
          <a:bodyPr wrap="square">
            <a:spAutoFit/>
          </a:bodyPr>
          <a:lstStyle/>
          <a:p>
            <a:pPr algn="l">
              <a:spcBef>
                <a:spcPts val="0"/>
              </a:spcBef>
              <a:spcAft>
                <a:spcPts val="0"/>
              </a:spcAft>
              <a:defRPr sz="1300" b="1">
                <a:solidFill>
                  <a:srgbClr val="FFFFFF"/>
                </a:solidFill>
                <a:latin typeface="Segoe UI"/>
              </a:defRPr>
            </a:pPr>
            <a:r>
              <a:t>Tracking</a:t>
            </a:r>
          </a:p>
        </p:txBody>
      </p:sp>
      <p:sp>
        <p:nvSpPr>
          <p:cNvPr id="23" name="TextBox 22"/>
          <p:cNvSpPr txBox="1"/>
          <p:nvPr/>
        </p:nvSpPr>
        <p:spPr>
          <a:xfrm>
            <a:off x="6492240" y="2606040"/>
            <a:ext cx="2057400" cy="82296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Theo dõi đơn hàng realtime,</a:t>
            </a:r>
            <a:br/>
            <a:r>
              <a:t>vị trí tài xế trên bản đồ,</a:t>
            </a:r>
            <a:br/>
            <a:r>
              <a:t>cập nhật trạng thái live</a:t>
            </a:r>
          </a:p>
        </p:txBody>
      </p:sp>
      <p:sp>
        <p:nvSpPr>
          <p:cNvPr id="24" name="Rounded Rectangle 23"/>
          <p:cNvSpPr/>
          <p:nvPr/>
        </p:nvSpPr>
        <p:spPr>
          <a:xfrm>
            <a:off x="9052560" y="1371600"/>
            <a:ext cx="2606040" cy="219456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9326880" y="1645920"/>
            <a:ext cx="502920" cy="502920"/>
          </a:xfrm>
          <a:prstGeom prst="ellipse">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326880" y="1627632"/>
            <a:ext cx="502920" cy="502920"/>
          </a:xfrm>
          <a:prstGeom prst="rect">
            <a:avLst/>
          </a:prstGeom>
          <a:noFill/>
        </p:spPr>
        <p:txBody>
          <a:bodyPr wrap="square">
            <a:spAutoFit/>
          </a:bodyPr>
          <a:lstStyle/>
          <a:p>
            <a:pPr algn="ctr">
              <a:spcBef>
                <a:spcPts val="0"/>
              </a:spcBef>
              <a:spcAft>
                <a:spcPts val="0"/>
              </a:spcAft>
              <a:defRPr sz="1800" b="1">
                <a:solidFill>
                  <a:srgbClr val="FFFFFF"/>
                </a:solidFill>
                <a:latin typeface="Segoe UI"/>
              </a:defRPr>
            </a:pPr>
            <a:r>
              <a:t>👥</a:t>
            </a:r>
          </a:p>
        </p:txBody>
      </p:sp>
      <p:sp>
        <p:nvSpPr>
          <p:cNvPr id="27" name="TextBox 26"/>
          <p:cNvSpPr txBox="1"/>
          <p:nvPr/>
        </p:nvSpPr>
        <p:spPr>
          <a:xfrm>
            <a:off x="9326880" y="2286000"/>
            <a:ext cx="2057400" cy="365760"/>
          </a:xfrm>
          <a:prstGeom prst="rect">
            <a:avLst/>
          </a:prstGeom>
          <a:noFill/>
        </p:spPr>
        <p:txBody>
          <a:bodyPr wrap="square">
            <a:spAutoFit/>
          </a:bodyPr>
          <a:lstStyle/>
          <a:p>
            <a:pPr algn="l">
              <a:spcBef>
                <a:spcPts val="0"/>
              </a:spcBef>
              <a:spcAft>
                <a:spcPts val="0"/>
              </a:spcAft>
              <a:defRPr sz="1300" b="1">
                <a:solidFill>
                  <a:srgbClr val="FFFFFF"/>
                </a:solidFill>
                <a:latin typeface="Segoe UI"/>
              </a:defRPr>
            </a:pPr>
            <a:r>
              <a:t>Đặt nhóm</a:t>
            </a:r>
          </a:p>
        </p:txBody>
      </p:sp>
      <p:sp>
        <p:nvSpPr>
          <p:cNvPr id="28" name="TextBox 27"/>
          <p:cNvSpPr txBox="1"/>
          <p:nvPr/>
        </p:nvSpPr>
        <p:spPr>
          <a:xfrm>
            <a:off x="9326880" y="2606040"/>
            <a:ext cx="2057400" cy="82296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Tạo phòng Split Bill,</a:t>
            </a:r>
            <a:br/>
            <a:r>
              <a:t>mời bạn bè, đặt chung,</a:t>
            </a:r>
            <a:br/>
            <a:r>
              <a:t>chia hóa đơn tự động</a:t>
            </a:r>
          </a:p>
        </p:txBody>
      </p:sp>
      <p:sp>
        <p:nvSpPr>
          <p:cNvPr id="29" name="Rounded Rectangle 28"/>
          <p:cNvSpPr/>
          <p:nvPr/>
        </p:nvSpPr>
        <p:spPr>
          <a:xfrm>
            <a:off x="548640" y="3886200"/>
            <a:ext cx="2606040" cy="219456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822960" y="4160520"/>
            <a:ext cx="502920" cy="502920"/>
          </a:xfrm>
          <a:prstGeom prst="ellipse">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960" y="4142232"/>
            <a:ext cx="502920" cy="502920"/>
          </a:xfrm>
          <a:prstGeom prst="rect">
            <a:avLst/>
          </a:prstGeom>
          <a:noFill/>
        </p:spPr>
        <p:txBody>
          <a:bodyPr wrap="square">
            <a:spAutoFit/>
          </a:bodyPr>
          <a:lstStyle/>
          <a:p>
            <a:pPr algn="ctr">
              <a:spcBef>
                <a:spcPts val="0"/>
              </a:spcBef>
              <a:spcAft>
                <a:spcPts val="0"/>
              </a:spcAft>
              <a:defRPr sz="1800" b="1">
                <a:solidFill>
                  <a:srgbClr val="FFFFFF"/>
                </a:solidFill>
                <a:latin typeface="Segoe UI"/>
              </a:defRPr>
            </a:pPr>
            <a:r>
              <a:t>🎮</a:t>
            </a:r>
          </a:p>
        </p:txBody>
      </p:sp>
      <p:sp>
        <p:nvSpPr>
          <p:cNvPr id="32" name="TextBox 31"/>
          <p:cNvSpPr txBox="1"/>
          <p:nvPr/>
        </p:nvSpPr>
        <p:spPr>
          <a:xfrm>
            <a:off x="822960" y="4800600"/>
            <a:ext cx="2057400" cy="365760"/>
          </a:xfrm>
          <a:prstGeom prst="rect">
            <a:avLst/>
          </a:prstGeom>
          <a:noFill/>
        </p:spPr>
        <p:txBody>
          <a:bodyPr wrap="square">
            <a:spAutoFit/>
          </a:bodyPr>
          <a:lstStyle/>
          <a:p>
            <a:pPr algn="l">
              <a:spcBef>
                <a:spcPts val="0"/>
              </a:spcBef>
              <a:spcAft>
                <a:spcPts val="0"/>
              </a:spcAft>
              <a:defRPr sz="1300" b="1">
                <a:solidFill>
                  <a:srgbClr val="FFFFFF"/>
                </a:solidFill>
                <a:latin typeface="Segoe UI"/>
              </a:defRPr>
            </a:pPr>
            <a:r>
              <a:t>Gamification</a:t>
            </a:r>
          </a:p>
        </p:txBody>
      </p:sp>
      <p:sp>
        <p:nvSpPr>
          <p:cNvPr id="33" name="TextBox 32"/>
          <p:cNvSpPr txBox="1"/>
          <p:nvPr/>
        </p:nvSpPr>
        <p:spPr>
          <a:xfrm>
            <a:off x="822960" y="5120640"/>
            <a:ext cx="2057400" cy="82296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Vòng quay may mắn,</a:t>
            </a:r>
            <a:br/>
            <a:r>
              <a:t>Scratch Card, Đố vui,</a:t>
            </a:r>
            <a:br/>
            <a:r>
              <a:t>tích xu &amp; đổi voucher</a:t>
            </a:r>
          </a:p>
        </p:txBody>
      </p:sp>
      <p:sp>
        <p:nvSpPr>
          <p:cNvPr id="34" name="Rounded Rectangle 33"/>
          <p:cNvSpPr/>
          <p:nvPr/>
        </p:nvSpPr>
        <p:spPr>
          <a:xfrm>
            <a:off x="3383280" y="3886200"/>
            <a:ext cx="2606040" cy="219456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3657600" y="4160520"/>
            <a:ext cx="502920" cy="502920"/>
          </a:xfrm>
          <a:prstGeom prst="ellipse">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657600" y="4142232"/>
            <a:ext cx="502920" cy="502920"/>
          </a:xfrm>
          <a:prstGeom prst="rect">
            <a:avLst/>
          </a:prstGeom>
          <a:noFill/>
        </p:spPr>
        <p:txBody>
          <a:bodyPr wrap="square">
            <a:spAutoFit/>
          </a:bodyPr>
          <a:lstStyle/>
          <a:p>
            <a:pPr algn="ctr">
              <a:spcBef>
                <a:spcPts val="0"/>
              </a:spcBef>
              <a:spcAft>
                <a:spcPts val="0"/>
              </a:spcAft>
              <a:defRPr sz="1800" b="1">
                <a:solidFill>
                  <a:srgbClr val="FFFFFF"/>
                </a:solidFill>
                <a:latin typeface="Segoe UI"/>
              </a:defRPr>
            </a:pPr>
            <a:r>
              <a:t>🤖</a:t>
            </a:r>
          </a:p>
        </p:txBody>
      </p:sp>
      <p:sp>
        <p:nvSpPr>
          <p:cNvPr id="37" name="TextBox 36"/>
          <p:cNvSpPr txBox="1"/>
          <p:nvPr/>
        </p:nvSpPr>
        <p:spPr>
          <a:xfrm>
            <a:off x="3657600" y="4800600"/>
            <a:ext cx="2057400" cy="365760"/>
          </a:xfrm>
          <a:prstGeom prst="rect">
            <a:avLst/>
          </a:prstGeom>
          <a:noFill/>
        </p:spPr>
        <p:txBody>
          <a:bodyPr wrap="square">
            <a:spAutoFit/>
          </a:bodyPr>
          <a:lstStyle/>
          <a:p>
            <a:pPr algn="l">
              <a:spcBef>
                <a:spcPts val="0"/>
              </a:spcBef>
              <a:spcAft>
                <a:spcPts val="0"/>
              </a:spcAft>
              <a:defRPr sz="1300" b="1">
                <a:solidFill>
                  <a:srgbClr val="FFFFFF"/>
                </a:solidFill>
                <a:latin typeface="Segoe UI"/>
              </a:defRPr>
            </a:pPr>
            <a:r>
              <a:t>AI Chatbot</a:t>
            </a:r>
          </a:p>
        </p:txBody>
      </p:sp>
      <p:sp>
        <p:nvSpPr>
          <p:cNvPr id="38" name="TextBox 37"/>
          <p:cNvSpPr txBox="1"/>
          <p:nvPr/>
        </p:nvSpPr>
        <p:spPr>
          <a:xfrm>
            <a:off x="3657600" y="5120640"/>
            <a:ext cx="2057400" cy="82296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Hỗ trợ khách hàng 24/7,</a:t>
            </a:r>
            <a:br/>
            <a:r>
              <a:t>gợi ý món ăn, tra cứu</a:t>
            </a:r>
            <a:br/>
            <a:r>
              <a:t>đơn hàng (Gemini API)</a:t>
            </a:r>
          </a:p>
        </p:txBody>
      </p:sp>
      <p:sp>
        <p:nvSpPr>
          <p:cNvPr id="39" name="Rounded Rectangle 38"/>
          <p:cNvSpPr/>
          <p:nvPr/>
        </p:nvSpPr>
        <p:spPr>
          <a:xfrm>
            <a:off x="6217920" y="3886200"/>
            <a:ext cx="2606040" cy="219456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6492240" y="4160520"/>
            <a:ext cx="502920" cy="50292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92240" y="4142232"/>
            <a:ext cx="502920" cy="502920"/>
          </a:xfrm>
          <a:prstGeom prst="rect">
            <a:avLst/>
          </a:prstGeom>
          <a:noFill/>
        </p:spPr>
        <p:txBody>
          <a:bodyPr wrap="square">
            <a:spAutoFit/>
          </a:bodyPr>
          <a:lstStyle/>
          <a:p>
            <a:pPr algn="ctr">
              <a:spcBef>
                <a:spcPts val="0"/>
              </a:spcBef>
              <a:spcAft>
                <a:spcPts val="0"/>
              </a:spcAft>
              <a:defRPr sz="1800" b="1">
                <a:solidFill>
                  <a:srgbClr val="FFFFFF"/>
                </a:solidFill>
                <a:latin typeface="Segoe UI"/>
              </a:defRPr>
            </a:pPr>
            <a:r>
              <a:t>🍳</a:t>
            </a:r>
          </a:p>
        </p:txBody>
      </p:sp>
      <p:sp>
        <p:nvSpPr>
          <p:cNvPr id="42" name="TextBox 41"/>
          <p:cNvSpPr txBox="1"/>
          <p:nvPr/>
        </p:nvSpPr>
        <p:spPr>
          <a:xfrm>
            <a:off x="6492240" y="4800600"/>
            <a:ext cx="2057400" cy="365760"/>
          </a:xfrm>
          <a:prstGeom prst="rect">
            <a:avLst/>
          </a:prstGeom>
          <a:noFill/>
        </p:spPr>
        <p:txBody>
          <a:bodyPr wrap="square">
            <a:spAutoFit/>
          </a:bodyPr>
          <a:lstStyle/>
          <a:p>
            <a:pPr algn="l">
              <a:spcBef>
                <a:spcPts val="0"/>
              </a:spcBef>
              <a:spcAft>
                <a:spcPts val="0"/>
              </a:spcAft>
              <a:defRPr sz="1300" b="1">
                <a:solidFill>
                  <a:srgbClr val="FFFFFF"/>
                </a:solidFill>
                <a:latin typeface="Segoe UI"/>
              </a:defRPr>
            </a:pPr>
            <a:r>
              <a:t>Quản lý NH</a:t>
            </a:r>
          </a:p>
        </p:txBody>
      </p:sp>
      <p:sp>
        <p:nvSpPr>
          <p:cNvPr id="43" name="TextBox 42"/>
          <p:cNvSpPr txBox="1"/>
          <p:nvPr/>
        </p:nvSpPr>
        <p:spPr>
          <a:xfrm>
            <a:off x="6492240" y="5120640"/>
            <a:ext cx="2057400" cy="82296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CRUD menu, xử lý đơn,</a:t>
            </a:r>
            <a:br/>
            <a:r>
              <a:t>thống kê doanh thu,</a:t>
            </a:r>
            <a:br/>
            <a:r>
              <a:t>thanh toán phí duy trì</a:t>
            </a:r>
          </a:p>
        </p:txBody>
      </p:sp>
      <p:sp>
        <p:nvSpPr>
          <p:cNvPr id="44" name="Rounded Rectangle 43"/>
          <p:cNvSpPr/>
          <p:nvPr/>
        </p:nvSpPr>
        <p:spPr>
          <a:xfrm>
            <a:off x="9052560" y="3886200"/>
            <a:ext cx="2606040" cy="219456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9326880" y="4160520"/>
            <a:ext cx="502920" cy="502920"/>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326880" y="4142232"/>
            <a:ext cx="502920" cy="502920"/>
          </a:xfrm>
          <a:prstGeom prst="rect">
            <a:avLst/>
          </a:prstGeom>
          <a:noFill/>
        </p:spPr>
        <p:txBody>
          <a:bodyPr wrap="square">
            <a:spAutoFit/>
          </a:bodyPr>
          <a:lstStyle/>
          <a:p>
            <a:pPr algn="ctr">
              <a:spcBef>
                <a:spcPts val="0"/>
              </a:spcBef>
              <a:spcAft>
                <a:spcPts val="0"/>
              </a:spcAft>
              <a:defRPr sz="1800" b="1">
                <a:solidFill>
                  <a:srgbClr val="FFFFFF"/>
                </a:solidFill>
                <a:latin typeface="Segoe UI"/>
              </a:defRPr>
            </a:pPr>
            <a:r>
              <a:t>👑</a:t>
            </a:r>
          </a:p>
        </p:txBody>
      </p:sp>
      <p:sp>
        <p:nvSpPr>
          <p:cNvPr id="47" name="TextBox 46"/>
          <p:cNvSpPr txBox="1"/>
          <p:nvPr/>
        </p:nvSpPr>
        <p:spPr>
          <a:xfrm>
            <a:off x="9326880" y="4800600"/>
            <a:ext cx="2057400" cy="365760"/>
          </a:xfrm>
          <a:prstGeom prst="rect">
            <a:avLst/>
          </a:prstGeom>
          <a:noFill/>
        </p:spPr>
        <p:txBody>
          <a:bodyPr wrap="square">
            <a:spAutoFit/>
          </a:bodyPr>
          <a:lstStyle/>
          <a:p>
            <a:pPr algn="l">
              <a:spcBef>
                <a:spcPts val="0"/>
              </a:spcBef>
              <a:spcAft>
                <a:spcPts val="0"/>
              </a:spcAft>
              <a:defRPr sz="1300" b="1">
                <a:solidFill>
                  <a:srgbClr val="FFFFFF"/>
                </a:solidFill>
                <a:latin typeface="Segoe UI"/>
              </a:defRPr>
            </a:pPr>
            <a:r>
              <a:t>Admin Panel</a:t>
            </a:r>
          </a:p>
        </p:txBody>
      </p:sp>
      <p:sp>
        <p:nvSpPr>
          <p:cNvPr id="48" name="TextBox 47"/>
          <p:cNvSpPr txBox="1"/>
          <p:nvPr/>
        </p:nvSpPr>
        <p:spPr>
          <a:xfrm>
            <a:off x="9326880" y="5120640"/>
            <a:ext cx="2057400" cy="82296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Dashboard analytics,</a:t>
            </a:r>
            <a:br/>
            <a:r>
              <a:t>quản lý user/đơn hàng,</a:t>
            </a:r>
            <a:br/>
            <a:r>
              <a:t>voucher, cài đặt hệ thống</a:t>
            </a:r>
          </a:p>
        </p:txBody>
      </p:sp>
      <p:sp>
        <p:nvSpPr>
          <p:cNvPr id="49" name="Rounded Rectangle 48"/>
          <p:cNvSpPr/>
          <p:nvPr/>
        </p:nvSpPr>
        <p:spPr>
          <a:xfrm>
            <a:off x="3200400" y="6263640"/>
            <a:ext cx="5760720" cy="457200"/>
          </a:xfrm>
          <a:prstGeom prst="roundRect">
            <a:avLst>
              <a:gd name="adj" fmla="val 15000"/>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200400" y="6291072"/>
            <a:ext cx="5760720" cy="411480"/>
          </a:xfrm>
          <a:prstGeom prst="rect">
            <a:avLst/>
          </a:prstGeom>
          <a:noFill/>
        </p:spPr>
        <p:txBody>
          <a:bodyPr wrap="square">
            <a:spAutoFit/>
          </a:bodyPr>
          <a:lstStyle/>
          <a:p>
            <a:pPr algn="ctr">
              <a:spcBef>
                <a:spcPts val="0"/>
              </a:spcBef>
              <a:spcAft>
                <a:spcPts val="0"/>
              </a:spcAft>
              <a:defRPr sz="1200" b="1">
                <a:solidFill>
                  <a:srgbClr val="FFFFFF"/>
                </a:solidFill>
                <a:latin typeface="Segoe UI"/>
              </a:defRPr>
            </a:pPr>
            <a:r>
              <a:t>🎬  LIVE DEMO — TRÌNH DIỄN TRỰC TIẾP TRÊN TRÌNH DUYỆT</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0F14"/>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731520" cy="457200"/>
          </a:xfrm>
          <a:prstGeom prst="rect">
            <a:avLst/>
          </a:prstGeom>
          <a:noFill/>
        </p:spPr>
        <p:txBody>
          <a:bodyPr wrap="square">
            <a:spAutoFit/>
          </a:bodyPr>
          <a:lstStyle/>
          <a:p>
            <a:pPr algn="l">
              <a:spcBef>
                <a:spcPts val="0"/>
              </a:spcBef>
              <a:spcAft>
                <a:spcPts val="0"/>
              </a:spcAft>
              <a:defRPr sz="1400" b="1">
                <a:solidFill>
                  <a:srgbClr val="FF6B00"/>
                </a:solidFill>
                <a:latin typeface="Segoe UI Black"/>
              </a:defRPr>
            </a:pPr>
            <a:r>
              <a:t>04</a:t>
            </a:r>
          </a:p>
        </p:txBody>
      </p:sp>
      <p:sp>
        <p:nvSpPr>
          <p:cNvPr id="4" name="TextBox 3"/>
          <p:cNvSpPr txBox="1"/>
          <p:nvPr/>
        </p:nvSpPr>
        <p:spPr>
          <a:xfrm>
            <a:off x="1234440" y="320040"/>
            <a:ext cx="274320" cy="457200"/>
          </a:xfrm>
          <a:prstGeom prst="rect">
            <a:avLst/>
          </a:prstGeom>
          <a:noFill/>
        </p:spPr>
        <p:txBody>
          <a:bodyPr wrap="square">
            <a:spAutoFit/>
          </a:bodyPr>
          <a:lstStyle/>
          <a:p>
            <a:pPr algn="l">
              <a:spcBef>
                <a:spcPts val="0"/>
              </a:spcBef>
              <a:spcAft>
                <a:spcPts val="0"/>
              </a:spcAft>
              <a:defRPr sz="1400" b="1">
                <a:solidFill>
                  <a:srgbClr val="9C9CA8"/>
                </a:solidFill>
                <a:latin typeface="Segoe UI"/>
              </a:defRPr>
            </a:pPr>
            <a:r>
              <a:t>—</a:t>
            </a:r>
          </a:p>
        </p:txBody>
      </p:sp>
      <p:sp>
        <p:nvSpPr>
          <p:cNvPr id="5" name="TextBox 4"/>
          <p:cNvSpPr txBox="1"/>
          <p:nvPr/>
        </p:nvSpPr>
        <p:spPr>
          <a:xfrm>
            <a:off x="1508760" y="274320"/>
            <a:ext cx="7315200" cy="502920"/>
          </a:xfrm>
          <a:prstGeom prst="rect">
            <a:avLst/>
          </a:prstGeom>
          <a:noFill/>
        </p:spPr>
        <p:txBody>
          <a:bodyPr wrap="square">
            <a:spAutoFit/>
          </a:bodyPr>
          <a:lstStyle/>
          <a:p>
            <a:pPr algn="l">
              <a:spcBef>
                <a:spcPts val="0"/>
              </a:spcBef>
              <a:spcAft>
                <a:spcPts val="0"/>
              </a:spcAft>
              <a:defRPr sz="1500" b="1">
                <a:solidFill>
                  <a:srgbClr val="FFFFFF"/>
                </a:solidFill>
                <a:latin typeface="Segoe UI Semibold"/>
              </a:defRPr>
            </a:pPr>
            <a:r>
              <a:t>TÍNH NĂNG NỔI BẬT</a:t>
            </a:r>
          </a:p>
        </p:txBody>
      </p:sp>
      <p:sp>
        <p:nvSpPr>
          <p:cNvPr id="6" name="TextBox 5"/>
          <p:cNvSpPr txBox="1"/>
          <p:nvPr/>
        </p:nvSpPr>
        <p:spPr>
          <a:xfrm>
            <a:off x="1508760" y="640080"/>
            <a:ext cx="7315200" cy="36576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Trình diễn FoodServe</a:t>
            </a:r>
          </a:p>
        </p:txBody>
      </p:sp>
      <p:sp>
        <p:nvSpPr>
          <p:cNvPr id="7" name="TextBox 6"/>
          <p:cNvSpPr txBox="1"/>
          <p:nvPr/>
        </p:nvSpPr>
        <p:spPr>
          <a:xfrm>
            <a:off x="10058400" y="320040"/>
            <a:ext cx="1828800" cy="365760"/>
          </a:xfrm>
          <a:prstGeom prst="rect">
            <a:avLst/>
          </a:prstGeom>
          <a:noFill/>
        </p:spPr>
        <p:txBody>
          <a:bodyPr wrap="square">
            <a:spAutoFit/>
          </a:bodyPr>
          <a:lstStyle/>
          <a:p>
            <a:pPr algn="r">
              <a:spcBef>
                <a:spcPts val="0"/>
              </a:spcBef>
              <a:spcAft>
                <a:spcPts val="0"/>
              </a:spcAft>
              <a:defRPr sz="1100" b="1">
                <a:solidFill>
                  <a:srgbClr val="FF6B00"/>
                </a:solidFill>
                <a:latin typeface="Segoe UI"/>
              </a:defRPr>
            </a:pPr>
            <a:r>
              <a:t>🍽️ FoodServe</a:t>
            </a:r>
          </a:p>
        </p:txBody>
      </p:sp>
      <p:sp>
        <p:nvSpPr>
          <p:cNvPr id="8" name="Rectangle 7"/>
          <p:cNvSpPr/>
          <p:nvPr/>
        </p:nvSpPr>
        <p:spPr>
          <a:xfrm>
            <a:off x="731520" y="1005840"/>
            <a:ext cx="10698480" cy="12700"/>
          </a:xfrm>
          <a:prstGeom prst="rect">
            <a:avLst/>
          </a:prstGeom>
          <a:solidFill>
            <a:srgbClr val="2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48640" y="1371600"/>
            <a:ext cx="3520440" cy="3474720"/>
          </a:xfrm>
          <a:prstGeom prst="roundRect">
            <a:avLst>
              <a:gd name="adj" fmla="val 4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1554480"/>
            <a:ext cx="2377440" cy="457200"/>
          </a:xfrm>
          <a:prstGeom prst="roundRect">
            <a:avLst>
              <a:gd name="adj" fmla="val 10000"/>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1572768"/>
            <a:ext cx="2377440" cy="411480"/>
          </a:xfrm>
          <a:prstGeom prst="rect">
            <a:avLst/>
          </a:prstGeom>
          <a:noFill/>
        </p:spPr>
        <p:txBody>
          <a:bodyPr wrap="square">
            <a:spAutoFit/>
          </a:bodyPr>
          <a:lstStyle/>
          <a:p>
            <a:pPr algn="ctr">
              <a:spcBef>
                <a:spcPts val="0"/>
              </a:spcBef>
              <a:spcAft>
                <a:spcPts val="0"/>
              </a:spcAft>
              <a:defRPr sz="1200" b="1">
                <a:solidFill>
                  <a:srgbClr val="FFFFFF"/>
                </a:solidFill>
                <a:latin typeface="Segoe UI"/>
              </a:defRPr>
            </a:pPr>
            <a:r>
              <a:t>💳  THANH TOÁN ĐA KÊNH</a:t>
            </a:r>
          </a:p>
        </p:txBody>
      </p:sp>
      <p:sp>
        <p:nvSpPr>
          <p:cNvPr id="12" name="TextBox 11"/>
          <p:cNvSpPr txBox="1"/>
          <p:nvPr/>
        </p:nvSpPr>
        <p:spPr>
          <a:xfrm>
            <a:off x="822960" y="2194560"/>
            <a:ext cx="3017520" cy="2468880"/>
          </a:xfrm>
          <a:prstGeom prst="rect">
            <a:avLst/>
          </a:prstGeom>
          <a:noFill/>
        </p:spPr>
        <p:txBody>
          <a:bodyPr wrap="square">
            <a:spAutoFit/>
          </a:bodyPr>
          <a:lstStyle/>
          <a:p>
            <a:pPr algn="l">
              <a:spcBef>
                <a:spcPts val="0"/>
              </a:spcBef>
              <a:spcAft>
                <a:spcPts val="0"/>
              </a:spcAft>
              <a:defRPr sz="1100" b="0">
                <a:solidFill>
                  <a:srgbClr val="E5E5EA"/>
                </a:solidFill>
                <a:latin typeface="Segoe UI"/>
              </a:defRPr>
            </a:pPr>
            <a:r>
              <a:t>• VNPay (Ngân hàng nội địa)</a:t>
            </a:r>
            <a:br/>
            <a:r>
              <a:t>• MoMo (Ví điện tử)</a:t>
            </a:r>
            <a:br/>
            <a:r>
              <a:t>• ZaloPay (QR Code)</a:t>
            </a:r>
            <a:br/>
            <a:r>
              <a:t>• PayOS (Bank Transfer)</a:t>
            </a:r>
            <a:br/>
            <a:r>
              <a:t>• Thanh toán bằng Xu</a:t>
            </a:r>
            <a:br/>
            <a:r>
              <a:t>• Tiền mặt khi nhận hàng</a:t>
            </a:r>
          </a:p>
        </p:txBody>
      </p:sp>
      <p:sp>
        <p:nvSpPr>
          <p:cNvPr id="13" name="Rounded Rectangle 12"/>
          <p:cNvSpPr/>
          <p:nvPr/>
        </p:nvSpPr>
        <p:spPr>
          <a:xfrm>
            <a:off x="4343400" y="1371600"/>
            <a:ext cx="3520440" cy="3474720"/>
          </a:xfrm>
          <a:prstGeom prst="roundRect">
            <a:avLst>
              <a:gd name="adj" fmla="val 4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526280" y="1554480"/>
            <a:ext cx="2377440" cy="457200"/>
          </a:xfrm>
          <a:prstGeom prst="roundRect">
            <a:avLst>
              <a:gd name="adj" fmla="val 10000"/>
            </a:avLst>
          </a:prstGeom>
          <a:solidFill>
            <a:srgbClr val="388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26280" y="1572768"/>
            <a:ext cx="2377440" cy="411480"/>
          </a:xfrm>
          <a:prstGeom prst="rect">
            <a:avLst/>
          </a:prstGeom>
          <a:noFill/>
        </p:spPr>
        <p:txBody>
          <a:bodyPr wrap="square">
            <a:spAutoFit/>
          </a:bodyPr>
          <a:lstStyle/>
          <a:p>
            <a:pPr algn="ctr">
              <a:spcBef>
                <a:spcPts val="0"/>
              </a:spcBef>
              <a:spcAft>
                <a:spcPts val="0"/>
              </a:spcAft>
              <a:defRPr sz="1200" b="1">
                <a:solidFill>
                  <a:srgbClr val="FFFFFF"/>
                </a:solidFill>
                <a:latin typeface="Segoe UI"/>
              </a:defRPr>
            </a:pPr>
            <a:r>
              <a:t>🗺️  BẢN ĐỒ &amp; GPS TRACKING</a:t>
            </a:r>
          </a:p>
        </p:txBody>
      </p:sp>
      <p:sp>
        <p:nvSpPr>
          <p:cNvPr id="16" name="TextBox 15"/>
          <p:cNvSpPr txBox="1"/>
          <p:nvPr/>
        </p:nvSpPr>
        <p:spPr>
          <a:xfrm>
            <a:off x="4617720" y="2194560"/>
            <a:ext cx="3017520" cy="2468880"/>
          </a:xfrm>
          <a:prstGeom prst="rect">
            <a:avLst/>
          </a:prstGeom>
          <a:noFill/>
        </p:spPr>
        <p:txBody>
          <a:bodyPr wrap="square">
            <a:spAutoFit/>
          </a:bodyPr>
          <a:lstStyle/>
          <a:p>
            <a:pPr algn="l">
              <a:spcBef>
                <a:spcPts val="0"/>
              </a:spcBef>
              <a:spcAft>
                <a:spcPts val="0"/>
              </a:spcAft>
              <a:defRPr sz="1100" b="0">
                <a:solidFill>
                  <a:srgbClr val="E5E5EA"/>
                </a:solidFill>
                <a:latin typeface="Segoe UI"/>
              </a:defRPr>
            </a:pPr>
            <a:r>
              <a:t>• Leaflet + OpenStreetMap</a:t>
            </a:r>
            <a:br/>
            <a:r>
              <a:t>• Tracking vị trí tài xế realtime</a:t>
            </a:r>
            <a:br/>
            <a:r>
              <a:t>• Routing Machine (điều hướng)</a:t>
            </a:r>
            <a:br/>
            <a:r>
              <a:t>• Tính phí ship theo khoảng cách</a:t>
            </a:r>
            <a:br/>
            <a:r>
              <a:t>• Geocoding địa chỉ giao hàng</a:t>
            </a:r>
            <a:br/>
            <a:r>
              <a:t>• Socket.IO live location</a:t>
            </a:r>
          </a:p>
        </p:txBody>
      </p:sp>
      <p:sp>
        <p:nvSpPr>
          <p:cNvPr id="17" name="Rounded Rectangle 16"/>
          <p:cNvSpPr/>
          <p:nvPr/>
        </p:nvSpPr>
        <p:spPr>
          <a:xfrm>
            <a:off x="8138160" y="1371600"/>
            <a:ext cx="3520440" cy="3474720"/>
          </a:xfrm>
          <a:prstGeom prst="roundRect">
            <a:avLst>
              <a:gd name="adj" fmla="val 4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8321040" y="1554480"/>
            <a:ext cx="2377440" cy="457200"/>
          </a:xfrm>
          <a:prstGeom prst="roundRect">
            <a:avLst>
              <a:gd name="adj" fmla="val 10000"/>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21040" y="1572768"/>
            <a:ext cx="2377440" cy="411480"/>
          </a:xfrm>
          <a:prstGeom prst="rect">
            <a:avLst/>
          </a:prstGeom>
          <a:noFill/>
        </p:spPr>
        <p:txBody>
          <a:bodyPr wrap="square">
            <a:spAutoFit/>
          </a:bodyPr>
          <a:lstStyle/>
          <a:p>
            <a:pPr algn="ctr">
              <a:spcBef>
                <a:spcPts val="0"/>
              </a:spcBef>
              <a:spcAft>
                <a:spcPts val="0"/>
              </a:spcAft>
              <a:defRPr sz="1200" b="1">
                <a:solidFill>
                  <a:srgbClr val="FFFFFF"/>
                </a:solidFill>
                <a:latin typeface="Segoe UI"/>
              </a:defRPr>
            </a:pPr>
            <a:r>
              <a:t>🏆  GAMIFICATION &amp; LOYALTY</a:t>
            </a:r>
          </a:p>
        </p:txBody>
      </p:sp>
      <p:sp>
        <p:nvSpPr>
          <p:cNvPr id="20" name="TextBox 19"/>
          <p:cNvSpPr txBox="1"/>
          <p:nvPr/>
        </p:nvSpPr>
        <p:spPr>
          <a:xfrm>
            <a:off x="8412480" y="2194560"/>
            <a:ext cx="3017520" cy="2468880"/>
          </a:xfrm>
          <a:prstGeom prst="rect">
            <a:avLst/>
          </a:prstGeom>
          <a:noFill/>
        </p:spPr>
        <p:txBody>
          <a:bodyPr wrap="square">
            <a:spAutoFit/>
          </a:bodyPr>
          <a:lstStyle/>
          <a:p>
            <a:pPr algn="l">
              <a:spcBef>
                <a:spcPts val="0"/>
              </a:spcBef>
              <a:spcAft>
                <a:spcPts val="0"/>
              </a:spcAft>
              <a:defRPr sz="1100" b="0">
                <a:solidFill>
                  <a:srgbClr val="E5E5EA"/>
                </a:solidFill>
                <a:latin typeface="Segoe UI"/>
              </a:defRPr>
            </a:pPr>
            <a:r>
              <a:t>• Vòng quay may mắn</a:t>
            </a:r>
            <a:br/>
            <a:r>
              <a:t>• Scratch Card (Cào thẻ)</a:t>
            </a:r>
            <a:br/>
            <a:r>
              <a:t>• Quiz đố vui</a:t>
            </a:r>
            <a:br/>
            <a:r>
              <a:t>• Hệ thống cấp bậc (Rank)</a:t>
            </a:r>
            <a:br/>
            <a:r>
              <a:t>• Xu thưởng &amp; tích điểm</a:t>
            </a:r>
            <a:br/>
            <a:r>
              <a:t>• Bảng xếp hạng (Leaderboard)</a:t>
            </a:r>
          </a:p>
        </p:txBody>
      </p:sp>
      <p:sp>
        <p:nvSpPr>
          <p:cNvPr id="21" name="Rounded Rectangle 20"/>
          <p:cNvSpPr/>
          <p:nvPr/>
        </p:nvSpPr>
        <p:spPr>
          <a:xfrm>
            <a:off x="548640" y="5166360"/>
            <a:ext cx="1719072" cy="1097280"/>
          </a:xfrm>
          <a:prstGeom prst="roundRect">
            <a:avLst>
              <a:gd name="adj" fmla="val 6000"/>
            </a:avLst>
          </a:prstGeom>
          <a:solidFill>
            <a:srgbClr val="222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8640" y="5257800"/>
            <a:ext cx="1719072" cy="320040"/>
          </a:xfrm>
          <a:prstGeom prst="rect">
            <a:avLst/>
          </a:prstGeom>
          <a:noFill/>
        </p:spPr>
        <p:txBody>
          <a:bodyPr wrap="square">
            <a:spAutoFit/>
          </a:bodyPr>
          <a:lstStyle/>
          <a:p>
            <a:pPr algn="ctr">
              <a:spcBef>
                <a:spcPts val="0"/>
              </a:spcBef>
              <a:spcAft>
                <a:spcPts val="0"/>
              </a:spcAft>
              <a:defRPr sz="2200" b="0">
                <a:solidFill>
                  <a:srgbClr val="E5E5EA"/>
                </a:solidFill>
                <a:latin typeface="Segoe UI"/>
              </a:defRPr>
            </a:pPr>
            <a:r>
              <a:t>🔔</a:t>
            </a:r>
          </a:p>
        </p:txBody>
      </p:sp>
      <p:sp>
        <p:nvSpPr>
          <p:cNvPr id="23" name="TextBox 22"/>
          <p:cNvSpPr txBox="1"/>
          <p:nvPr/>
        </p:nvSpPr>
        <p:spPr>
          <a:xfrm>
            <a:off x="548640" y="5669280"/>
            <a:ext cx="1719072" cy="502920"/>
          </a:xfrm>
          <a:prstGeom prst="rect">
            <a:avLst/>
          </a:prstGeom>
          <a:noFill/>
        </p:spPr>
        <p:txBody>
          <a:bodyPr wrap="square">
            <a:spAutoFit/>
          </a:bodyPr>
          <a:lstStyle/>
          <a:p>
            <a:pPr algn="ctr">
              <a:spcBef>
                <a:spcPts val="0"/>
              </a:spcBef>
              <a:spcAft>
                <a:spcPts val="0"/>
              </a:spcAft>
              <a:defRPr sz="900" b="1">
                <a:solidFill>
                  <a:srgbClr val="E5E5EA"/>
                </a:solidFill>
                <a:latin typeface="Segoe UI"/>
              </a:defRPr>
            </a:pPr>
            <a:r>
              <a:t>Thông báo</a:t>
            </a:r>
            <a:br/>
            <a:r>
              <a:t>Realtime</a:t>
            </a:r>
          </a:p>
        </p:txBody>
      </p:sp>
      <p:sp>
        <p:nvSpPr>
          <p:cNvPr id="24" name="Rounded Rectangle 23"/>
          <p:cNvSpPr/>
          <p:nvPr/>
        </p:nvSpPr>
        <p:spPr>
          <a:xfrm>
            <a:off x="2450592" y="5166360"/>
            <a:ext cx="1719072" cy="1097280"/>
          </a:xfrm>
          <a:prstGeom prst="roundRect">
            <a:avLst>
              <a:gd name="adj" fmla="val 6000"/>
            </a:avLst>
          </a:prstGeom>
          <a:solidFill>
            <a:srgbClr val="222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450592" y="5257800"/>
            <a:ext cx="1719072" cy="320040"/>
          </a:xfrm>
          <a:prstGeom prst="rect">
            <a:avLst/>
          </a:prstGeom>
          <a:noFill/>
        </p:spPr>
        <p:txBody>
          <a:bodyPr wrap="square">
            <a:spAutoFit/>
          </a:bodyPr>
          <a:lstStyle/>
          <a:p>
            <a:pPr algn="ctr">
              <a:spcBef>
                <a:spcPts val="0"/>
              </a:spcBef>
              <a:spcAft>
                <a:spcPts val="0"/>
              </a:spcAft>
              <a:defRPr sz="2200" b="0">
                <a:solidFill>
                  <a:srgbClr val="E5E5EA"/>
                </a:solidFill>
                <a:latin typeface="Segoe UI"/>
              </a:defRPr>
            </a:pPr>
            <a:r>
              <a:t>🥗</a:t>
            </a:r>
          </a:p>
        </p:txBody>
      </p:sp>
      <p:sp>
        <p:nvSpPr>
          <p:cNvPr id="26" name="TextBox 25"/>
          <p:cNvSpPr txBox="1"/>
          <p:nvPr/>
        </p:nvSpPr>
        <p:spPr>
          <a:xfrm>
            <a:off x="2450592" y="5669280"/>
            <a:ext cx="1719072" cy="502920"/>
          </a:xfrm>
          <a:prstGeom prst="rect">
            <a:avLst/>
          </a:prstGeom>
          <a:noFill/>
        </p:spPr>
        <p:txBody>
          <a:bodyPr wrap="square">
            <a:spAutoFit/>
          </a:bodyPr>
          <a:lstStyle/>
          <a:p>
            <a:pPr algn="ctr">
              <a:spcBef>
                <a:spcPts val="0"/>
              </a:spcBef>
              <a:spcAft>
                <a:spcPts val="0"/>
              </a:spcAft>
              <a:defRPr sz="900" b="1">
                <a:solidFill>
                  <a:srgbClr val="E5E5EA"/>
                </a:solidFill>
                <a:latin typeface="Segoe UI"/>
              </a:defRPr>
            </a:pPr>
            <a:r>
              <a:t>Chế độ ăn</a:t>
            </a:r>
            <a:br/>
            <a:r>
              <a:t>Lành mạnh</a:t>
            </a:r>
          </a:p>
        </p:txBody>
      </p:sp>
      <p:sp>
        <p:nvSpPr>
          <p:cNvPr id="27" name="Rounded Rectangle 26"/>
          <p:cNvSpPr/>
          <p:nvPr/>
        </p:nvSpPr>
        <p:spPr>
          <a:xfrm>
            <a:off x="4352544" y="5166360"/>
            <a:ext cx="1719072" cy="1097280"/>
          </a:xfrm>
          <a:prstGeom prst="roundRect">
            <a:avLst>
              <a:gd name="adj" fmla="val 6000"/>
            </a:avLst>
          </a:prstGeom>
          <a:solidFill>
            <a:srgbClr val="222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352544" y="5257800"/>
            <a:ext cx="1719072" cy="320040"/>
          </a:xfrm>
          <a:prstGeom prst="rect">
            <a:avLst/>
          </a:prstGeom>
          <a:noFill/>
        </p:spPr>
        <p:txBody>
          <a:bodyPr wrap="square">
            <a:spAutoFit/>
          </a:bodyPr>
          <a:lstStyle/>
          <a:p>
            <a:pPr algn="ctr">
              <a:spcBef>
                <a:spcPts val="0"/>
              </a:spcBef>
              <a:spcAft>
                <a:spcPts val="0"/>
              </a:spcAft>
              <a:defRPr sz="2200" b="0">
                <a:solidFill>
                  <a:srgbClr val="E5E5EA"/>
                </a:solidFill>
                <a:latin typeface="Segoe UI"/>
              </a:defRPr>
            </a:pPr>
            <a:r>
              <a:t>📅</a:t>
            </a:r>
          </a:p>
        </p:txBody>
      </p:sp>
      <p:sp>
        <p:nvSpPr>
          <p:cNvPr id="29" name="TextBox 28"/>
          <p:cNvSpPr txBox="1"/>
          <p:nvPr/>
        </p:nvSpPr>
        <p:spPr>
          <a:xfrm>
            <a:off x="4352544" y="5669280"/>
            <a:ext cx="1719072" cy="502920"/>
          </a:xfrm>
          <a:prstGeom prst="rect">
            <a:avLst/>
          </a:prstGeom>
          <a:noFill/>
        </p:spPr>
        <p:txBody>
          <a:bodyPr wrap="square">
            <a:spAutoFit/>
          </a:bodyPr>
          <a:lstStyle/>
          <a:p>
            <a:pPr algn="ctr">
              <a:spcBef>
                <a:spcPts val="0"/>
              </a:spcBef>
              <a:spcAft>
                <a:spcPts val="0"/>
              </a:spcAft>
              <a:defRPr sz="900" b="1">
                <a:solidFill>
                  <a:srgbClr val="E5E5EA"/>
                </a:solidFill>
                <a:latin typeface="Segoe UI"/>
              </a:defRPr>
            </a:pPr>
            <a:r>
              <a:t>Đăng ký</a:t>
            </a:r>
            <a:br/>
            <a:r>
              <a:t>Gói ăn</a:t>
            </a:r>
          </a:p>
        </p:txBody>
      </p:sp>
      <p:sp>
        <p:nvSpPr>
          <p:cNvPr id="30" name="Rounded Rectangle 29"/>
          <p:cNvSpPr/>
          <p:nvPr/>
        </p:nvSpPr>
        <p:spPr>
          <a:xfrm>
            <a:off x="6254496" y="5166360"/>
            <a:ext cx="1719072" cy="1097280"/>
          </a:xfrm>
          <a:prstGeom prst="roundRect">
            <a:avLst>
              <a:gd name="adj" fmla="val 6000"/>
            </a:avLst>
          </a:prstGeom>
          <a:solidFill>
            <a:srgbClr val="222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254496" y="5257800"/>
            <a:ext cx="1719072" cy="320040"/>
          </a:xfrm>
          <a:prstGeom prst="rect">
            <a:avLst/>
          </a:prstGeom>
          <a:noFill/>
        </p:spPr>
        <p:txBody>
          <a:bodyPr wrap="square">
            <a:spAutoFit/>
          </a:bodyPr>
          <a:lstStyle/>
          <a:p>
            <a:pPr algn="ctr">
              <a:spcBef>
                <a:spcPts val="0"/>
              </a:spcBef>
              <a:spcAft>
                <a:spcPts val="0"/>
              </a:spcAft>
              <a:defRPr sz="2200" b="0">
                <a:solidFill>
                  <a:srgbClr val="E5E5EA"/>
                </a:solidFill>
                <a:latin typeface="Segoe UI"/>
              </a:defRPr>
            </a:pPr>
            <a:r>
              <a:t>⭐</a:t>
            </a:r>
          </a:p>
        </p:txBody>
      </p:sp>
      <p:sp>
        <p:nvSpPr>
          <p:cNvPr id="32" name="TextBox 31"/>
          <p:cNvSpPr txBox="1"/>
          <p:nvPr/>
        </p:nvSpPr>
        <p:spPr>
          <a:xfrm>
            <a:off x="6254496" y="5669280"/>
            <a:ext cx="1719072" cy="502920"/>
          </a:xfrm>
          <a:prstGeom prst="rect">
            <a:avLst/>
          </a:prstGeom>
          <a:noFill/>
        </p:spPr>
        <p:txBody>
          <a:bodyPr wrap="square">
            <a:spAutoFit/>
          </a:bodyPr>
          <a:lstStyle/>
          <a:p>
            <a:pPr algn="ctr">
              <a:spcBef>
                <a:spcPts val="0"/>
              </a:spcBef>
              <a:spcAft>
                <a:spcPts val="0"/>
              </a:spcAft>
              <a:defRPr sz="900" b="1">
                <a:solidFill>
                  <a:srgbClr val="E5E5EA"/>
                </a:solidFill>
                <a:latin typeface="Segoe UI"/>
              </a:defRPr>
            </a:pPr>
            <a:r>
              <a:t>Đánh giá</a:t>
            </a:r>
            <a:br/>
            <a:r>
              <a:t>AI Sentiment</a:t>
            </a:r>
          </a:p>
        </p:txBody>
      </p:sp>
      <p:sp>
        <p:nvSpPr>
          <p:cNvPr id="33" name="Rounded Rectangle 32"/>
          <p:cNvSpPr/>
          <p:nvPr/>
        </p:nvSpPr>
        <p:spPr>
          <a:xfrm>
            <a:off x="8156448" y="5166360"/>
            <a:ext cx="1719072" cy="1097280"/>
          </a:xfrm>
          <a:prstGeom prst="roundRect">
            <a:avLst>
              <a:gd name="adj" fmla="val 6000"/>
            </a:avLst>
          </a:prstGeom>
          <a:solidFill>
            <a:srgbClr val="222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156448" y="5257800"/>
            <a:ext cx="1719072" cy="320040"/>
          </a:xfrm>
          <a:prstGeom prst="rect">
            <a:avLst/>
          </a:prstGeom>
          <a:noFill/>
        </p:spPr>
        <p:txBody>
          <a:bodyPr wrap="square">
            <a:spAutoFit/>
          </a:bodyPr>
          <a:lstStyle/>
          <a:p>
            <a:pPr algn="ctr">
              <a:spcBef>
                <a:spcPts val="0"/>
              </a:spcBef>
              <a:spcAft>
                <a:spcPts val="0"/>
              </a:spcAft>
              <a:defRPr sz="2200" b="0">
                <a:solidFill>
                  <a:srgbClr val="E5E5EA"/>
                </a:solidFill>
                <a:latin typeface="Segoe UI"/>
              </a:defRPr>
            </a:pPr>
            <a:r>
              <a:t>❤️</a:t>
            </a:r>
          </a:p>
        </p:txBody>
      </p:sp>
      <p:sp>
        <p:nvSpPr>
          <p:cNvPr id="35" name="TextBox 34"/>
          <p:cNvSpPr txBox="1"/>
          <p:nvPr/>
        </p:nvSpPr>
        <p:spPr>
          <a:xfrm>
            <a:off x="8156448" y="5669280"/>
            <a:ext cx="1719072" cy="502920"/>
          </a:xfrm>
          <a:prstGeom prst="rect">
            <a:avLst/>
          </a:prstGeom>
          <a:noFill/>
        </p:spPr>
        <p:txBody>
          <a:bodyPr wrap="square">
            <a:spAutoFit/>
          </a:bodyPr>
          <a:lstStyle/>
          <a:p>
            <a:pPr algn="ctr">
              <a:spcBef>
                <a:spcPts val="0"/>
              </a:spcBef>
              <a:spcAft>
                <a:spcPts val="0"/>
              </a:spcAft>
              <a:defRPr sz="900" b="1">
                <a:solidFill>
                  <a:srgbClr val="E5E5EA"/>
                </a:solidFill>
                <a:latin typeface="Segoe UI"/>
              </a:defRPr>
            </a:pPr>
            <a:r>
              <a:t>Nhà hàng</a:t>
            </a:r>
            <a:br/>
            <a:r>
              <a:t>Yêu thích</a:t>
            </a:r>
          </a:p>
        </p:txBody>
      </p:sp>
      <p:sp>
        <p:nvSpPr>
          <p:cNvPr id="36" name="Rounded Rectangle 35"/>
          <p:cNvSpPr/>
          <p:nvPr/>
        </p:nvSpPr>
        <p:spPr>
          <a:xfrm>
            <a:off x="10058400" y="5166360"/>
            <a:ext cx="1719072" cy="1097280"/>
          </a:xfrm>
          <a:prstGeom prst="roundRect">
            <a:avLst>
              <a:gd name="adj" fmla="val 6000"/>
            </a:avLst>
          </a:prstGeom>
          <a:solidFill>
            <a:srgbClr val="222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058400" y="5257800"/>
            <a:ext cx="1719072" cy="320040"/>
          </a:xfrm>
          <a:prstGeom prst="rect">
            <a:avLst/>
          </a:prstGeom>
          <a:noFill/>
        </p:spPr>
        <p:txBody>
          <a:bodyPr wrap="square">
            <a:spAutoFit/>
          </a:bodyPr>
          <a:lstStyle/>
          <a:p>
            <a:pPr algn="ctr">
              <a:spcBef>
                <a:spcPts val="0"/>
              </a:spcBef>
              <a:spcAft>
                <a:spcPts val="0"/>
              </a:spcAft>
              <a:defRPr sz="2200" b="0">
                <a:solidFill>
                  <a:srgbClr val="E5E5EA"/>
                </a:solidFill>
                <a:latin typeface="Segoe UI"/>
              </a:defRPr>
            </a:pPr>
            <a:r>
              <a:t>🌙</a:t>
            </a:r>
          </a:p>
        </p:txBody>
      </p:sp>
      <p:sp>
        <p:nvSpPr>
          <p:cNvPr id="38" name="TextBox 37"/>
          <p:cNvSpPr txBox="1"/>
          <p:nvPr/>
        </p:nvSpPr>
        <p:spPr>
          <a:xfrm>
            <a:off x="10058400" y="5669280"/>
            <a:ext cx="1719072" cy="502920"/>
          </a:xfrm>
          <a:prstGeom prst="rect">
            <a:avLst/>
          </a:prstGeom>
          <a:noFill/>
        </p:spPr>
        <p:txBody>
          <a:bodyPr wrap="square">
            <a:spAutoFit/>
          </a:bodyPr>
          <a:lstStyle/>
          <a:p>
            <a:pPr algn="ctr">
              <a:spcBef>
                <a:spcPts val="0"/>
              </a:spcBef>
              <a:spcAft>
                <a:spcPts val="0"/>
              </a:spcAft>
              <a:defRPr sz="900" b="1">
                <a:solidFill>
                  <a:srgbClr val="E5E5EA"/>
                </a:solidFill>
                <a:latin typeface="Segoe UI"/>
              </a:defRPr>
            </a:pPr>
            <a:r>
              <a:t>Dark Mode</a:t>
            </a:r>
            <a:br/>
            <a:r>
              <a:t>Responsive</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0F14"/>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731520" cy="457200"/>
          </a:xfrm>
          <a:prstGeom prst="rect">
            <a:avLst/>
          </a:prstGeom>
          <a:noFill/>
        </p:spPr>
        <p:txBody>
          <a:bodyPr wrap="square">
            <a:spAutoFit/>
          </a:bodyPr>
          <a:lstStyle/>
          <a:p>
            <a:pPr algn="l">
              <a:spcBef>
                <a:spcPts val="0"/>
              </a:spcBef>
              <a:spcAft>
                <a:spcPts val="0"/>
              </a:spcAft>
              <a:defRPr sz="1400" b="1">
                <a:solidFill>
                  <a:srgbClr val="FF6B00"/>
                </a:solidFill>
                <a:latin typeface="Segoe UI Black"/>
              </a:defRPr>
            </a:pPr>
            <a:r>
              <a:t>04</a:t>
            </a:r>
          </a:p>
        </p:txBody>
      </p:sp>
      <p:sp>
        <p:nvSpPr>
          <p:cNvPr id="4" name="TextBox 3"/>
          <p:cNvSpPr txBox="1"/>
          <p:nvPr/>
        </p:nvSpPr>
        <p:spPr>
          <a:xfrm>
            <a:off x="1234440" y="320040"/>
            <a:ext cx="274320" cy="457200"/>
          </a:xfrm>
          <a:prstGeom prst="rect">
            <a:avLst/>
          </a:prstGeom>
          <a:noFill/>
        </p:spPr>
        <p:txBody>
          <a:bodyPr wrap="square">
            <a:spAutoFit/>
          </a:bodyPr>
          <a:lstStyle/>
          <a:p>
            <a:pPr algn="l">
              <a:spcBef>
                <a:spcPts val="0"/>
              </a:spcBef>
              <a:spcAft>
                <a:spcPts val="0"/>
              </a:spcAft>
              <a:defRPr sz="1400" b="1">
                <a:solidFill>
                  <a:srgbClr val="9C9CA8"/>
                </a:solidFill>
                <a:latin typeface="Segoe UI"/>
              </a:defRPr>
            </a:pPr>
            <a:r>
              <a:t>—</a:t>
            </a:r>
          </a:p>
        </p:txBody>
      </p:sp>
      <p:sp>
        <p:nvSpPr>
          <p:cNvPr id="5" name="TextBox 4"/>
          <p:cNvSpPr txBox="1"/>
          <p:nvPr/>
        </p:nvSpPr>
        <p:spPr>
          <a:xfrm>
            <a:off x="1508760" y="274320"/>
            <a:ext cx="7315200" cy="502920"/>
          </a:xfrm>
          <a:prstGeom prst="rect">
            <a:avLst/>
          </a:prstGeom>
          <a:noFill/>
        </p:spPr>
        <p:txBody>
          <a:bodyPr wrap="square">
            <a:spAutoFit/>
          </a:bodyPr>
          <a:lstStyle/>
          <a:p>
            <a:pPr algn="l">
              <a:spcBef>
                <a:spcPts val="0"/>
              </a:spcBef>
              <a:spcAft>
                <a:spcPts val="0"/>
              </a:spcAft>
              <a:defRPr sz="1500" b="1">
                <a:solidFill>
                  <a:srgbClr val="FFFFFF"/>
                </a:solidFill>
                <a:latin typeface="Segoe UI Semibold"/>
              </a:defRPr>
            </a:pPr>
            <a:r>
              <a:t>THỐNG KÊ KỸ THUẬT</a:t>
            </a:r>
          </a:p>
        </p:txBody>
      </p:sp>
      <p:sp>
        <p:nvSpPr>
          <p:cNvPr id="6" name="TextBox 5"/>
          <p:cNvSpPr txBox="1"/>
          <p:nvPr/>
        </p:nvSpPr>
        <p:spPr>
          <a:xfrm>
            <a:off x="1508760" y="640080"/>
            <a:ext cx="7315200" cy="36576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Trình diễn FoodServe</a:t>
            </a:r>
          </a:p>
        </p:txBody>
      </p:sp>
      <p:sp>
        <p:nvSpPr>
          <p:cNvPr id="7" name="TextBox 6"/>
          <p:cNvSpPr txBox="1"/>
          <p:nvPr/>
        </p:nvSpPr>
        <p:spPr>
          <a:xfrm>
            <a:off x="10058400" y="320040"/>
            <a:ext cx="1828800" cy="365760"/>
          </a:xfrm>
          <a:prstGeom prst="rect">
            <a:avLst/>
          </a:prstGeom>
          <a:noFill/>
        </p:spPr>
        <p:txBody>
          <a:bodyPr wrap="square">
            <a:spAutoFit/>
          </a:bodyPr>
          <a:lstStyle/>
          <a:p>
            <a:pPr algn="r">
              <a:spcBef>
                <a:spcPts val="0"/>
              </a:spcBef>
              <a:spcAft>
                <a:spcPts val="0"/>
              </a:spcAft>
              <a:defRPr sz="1100" b="1">
                <a:solidFill>
                  <a:srgbClr val="FF6B00"/>
                </a:solidFill>
                <a:latin typeface="Segoe UI"/>
              </a:defRPr>
            </a:pPr>
            <a:r>
              <a:t>🍽️ FoodServe</a:t>
            </a:r>
          </a:p>
        </p:txBody>
      </p:sp>
      <p:sp>
        <p:nvSpPr>
          <p:cNvPr id="8" name="Rectangle 7"/>
          <p:cNvSpPr/>
          <p:nvPr/>
        </p:nvSpPr>
        <p:spPr>
          <a:xfrm>
            <a:off x="731520" y="1005840"/>
            <a:ext cx="10698480" cy="12700"/>
          </a:xfrm>
          <a:prstGeom prst="rect">
            <a:avLst/>
          </a:prstGeom>
          <a:solidFill>
            <a:srgbClr val="2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48640" y="1371600"/>
            <a:ext cx="1719072" cy="146304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1508760"/>
            <a:ext cx="1719072" cy="548640"/>
          </a:xfrm>
          <a:prstGeom prst="rect">
            <a:avLst/>
          </a:prstGeom>
          <a:noFill/>
        </p:spPr>
        <p:txBody>
          <a:bodyPr wrap="square">
            <a:spAutoFit/>
          </a:bodyPr>
          <a:lstStyle/>
          <a:p>
            <a:pPr algn="ctr">
              <a:spcBef>
                <a:spcPts val="0"/>
              </a:spcBef>
              <a:spcAft>
                <a:spcPts val="0"/>
              </a:spcAft>
              <a:defRPr sz="3200" b="1">
                <a:solidFill>
                  <a:srgbClr val="FF6B00"/>
                </a:solidFill>
                <a:latin typeface="Segoe UI Black"/>
              </a:defRPr>
            </a:pPr>
            <a:r>
              <a:t>25+</a:t>
            </a:r>
          </a:p>
        </p:txBody>
      </p:sp>
      <p:sp>
        <p:nvSpPr>
          <p:cNvPr id="11" name="TextBox 10"/>
          <p:cNvSpPr txBox="1"/>
          <p:nvPr/>
        </p:nvSpPr>
        <p:spPr>
          <a:xfrm>
            <a:off x="548640" y="2103120"/>
            <a:ext cx="1719072" cy="274320"/>
          </a:xfrm>
          <a:prstGeom prst="rect">
            <a:avLst/>
          </a:prstGeom>
          <a:noFill/>
        </p:spPr>
        <p:txBody>
          <a:bodyPr wrap="square">
            <a:spAutoFit/>
          </a:bodyPr>
          <a:lstStyle/>
          <a:p>
            <a:pPr algn="ctr">
              <a:spcBef>
                <a:spcPts val="0"/>
              </a:spcBef>
              <a:spcAft>
                <a:spcPts val="0"/>
              </a:spcAft>
              <a:defRPr sz="1000" b="1">
                <a:solidFill>
                  <a:srgbClr val="FFFFFF"/>
                </a:solidFill>
                <a:latin typeface="Segoe UI"/>
              </a:defRPr>
            </a:pPr>
            <a:r>
              <a:t>Trang giao diện</a:t>
            </a:r>
          </a:p>
        </p:txBody>
      </p:sp>
      <p:sp>
        <p:nvSpPr>
          <p:cNvPr id="12" name="TextBox 11"/>
          <p:cNvSpPr txBox="1"/>
          <p:nvPr/>
        </p:nvSpPr>
        <p:spPr>
          <a:xfrm>
            <a:off x="548640" y="2377440"/>
            <a:ext cx="1719072" cy="274320"/>
          </a:xfrm>
          <a:prstGeom prst="rect">
            <a:avLst/>
          </a:prstGeom>
          <a:noFill/>
        </p:spPr>
        <p:txBody>
          <a:bodyPr wrap="square">
            <a:spAutoFit/>
          </a:bodyPr>
          <a:lstStyle/>
          <a:p>
            <a:pPr algn="ctr">
              <a:spcBef>
                <a:spcPts val="0"/>
              </a:spcBef>
              <a:spcAft>
                <a:spcPts val="0"/>
              </a:spcAft>
              <a:defRPr sz="800" b="0">
                <a:solidFill>
                  <a:srgbClr val="9C9CA8"/>
                </a:solidFill>
                <a:latin typeface="Segoe UI"/>
              </a:defRPr>
            </a:pPr>
            <a:r>
              <a:t>Pages &amp; Components</a:t>
            </a:r>
          </a:p>
        </p:txBody>
      </p:sp>
      <p:sp>
        <p:nvSpPr>
          <p:cNvPr id="13" name="Rounded Rectangle 12"/>
          <p:cNvSpPr/>
          <p:nvPr/>
        </p:nvSpPr>
        <p:spPr>
          <a:xfrm>
            <a:off x="2450592" y="1371600"/>
            <a:ext cx="1719072" cy="146304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450592" y="1508760"/>
            <a:ext cx="1719072" cy="548640"/>
          </a:xfrm>
          <a:prstGeom prst="rect">
            <a:avLst/>
          </a:prstGeom>
          <a:noFill/>
        </p:spPr>
        <p:txBody>
          <a:bodyPr wrap="square">
            <a:spAutoFit/>
          </a:bodyPr>
          <a:lstStyle/>
          <a:p>
            <a:pPr algn="ctr">
              <a:spcBef>
                <a:spcPts val="0"/>
              </a:spcBef>
              <a:spcAft>
                <a:spcPts val="0"/>
              </a:spcAft>
              <a:defRPr sz="3200" b="1">
                <a:solidFill>
                  <a:srgbClr val="388BFC"/>
                </a:solidFill>
                <a:latin typeface="Segoe UI Black"/>
              </a:defRPr>
            </a:pPr>
            <a:r>
              <a:t>16</a:t>
            </a:r>
          </a:p>
        </p:txBody>
      </p:sp>
      <p:sp>
        <p:nvSpPr>
          <p:cNvPr id="15" name="TextBox 14"/>
          <p:cNvSpPr txBox="1"/>
          <p:nvPr/>
        </p:nvSpPr>
        <p:spPr>
          <a:xfrm>
            <a:off x="2450592" y="2103120"/>
            <a:ext cx="1719072" cy="274320"/>
          </a:xfrm>
          <a:prstGeom prst="rect">
            <a:avLst/>
          </a:prstGeom>
          <a:noFill/>
        </p:spPr>
        <p:txBody>
          <a:bodyPr wrap="square">
            <a:spAutoFit/>
          </a:bodyPr>
          <a:lstStyle/>
          <a:p>
            <a:pPr algn="ctr">
              <a:spcBef>
                <a:spcPts val="0"/>
              </a:spcBef>
              <a:spcAft>
                <a:spcPts val="0"/>
              </a:spcAft>
              <a:defRPr sz="1000" b="1">
                <a:solidFill>
                  <a:srgbClr val="FFFFFF"/>
                </a:solidFill>
                <a:latin typeface="Segoe UI"/>
              </a:defRPr>
            </a:pPr>
            <a:r>
              <a:t>API Routes</a:t>
            </a:r>
          </a:p>
        </p:txBody>
      </p:sp>
      <p:sp>
        <p:nvSpPr>
          <p:cNvPr id="16" name="TextBox 15"/>
          <p:cNvSpPr txBox="1"/>
          <p:nvPr/>
        </p:nvSpPr>
        <p:spPr>
          <a:xfrm>
            <a:off x="2450592" y="2377440"/>
            <a:ext cx="1719072" cy="274320"/>
          </a:xfrm>
          <a:prstGeom prst="rect">
            <a:avLst/>
          </a:prstGeom>
          <a:noFill/>
        </p:spPr>
        <p:txBody>
          <a:bodyPr wrap="square">
            <a:spAutoFit/>
          </a:bodyPr>
          <a:lstStyle/>
          <a:p>
            <a:pPr algn="ctr">
              <a:spcBef>
                <a:spcPts val="0"/>
              </a:spcBef>
              <a:spcAft>
                <a:spcPts val="0"/>
              </a:spcAft>
              <a:defRPr sz="800" b="0">
                <a:solidFill>
                  <a:srgbClr val="9C9CA8"/>
                </a:solidFill>
                <a:latin typeface="Segoe UI"/>
              </a:defRPr>
            </a:pPr>
            <a:r>
              <a:t>RESTful Endpoints</a:t>
            </a:r>
          </a:p>
        </p:txBody>
      </p:sp>
      <p:sp>
        <p:nvSpPr>
          <p:cNvPr id="17" name="Rounded Rectangle 16"/>
          <p:cNvSpPr/>
          <p:nvPr/>
        </p:nvSpPr>
        <p:spPr>
          <a:xfrm>
            <a:off x="4352544" y="1371600"/>
            <a:ext cx="1719072" cy="146304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352544" y="1508760"/>
            <a:ext cx="1719072" cy="548640"/>
          </a:xfrm>
          <a:prstGeom prst="rect">
            <a:avLst/>
          </a:prstGeom>
          <a:noFill/>
        </p:spPr>
        <p:txBody>
          <a:bodyPr wrap="square">
            <a:spAutoFit/>
          </a:bodyPr>
          <a:lstStyle/>
          <a:p>
            <a:pPr algn="ctr">
              <a:spcBef>
                <a:spcPts val="0"/>
              </a:spcBef>
              <a:spcAft>
                <a:spcPts val="0"/>
              </a:spcAft>
              <a:defRPr sz="3200" b="1">
                <a:solidFill>
                  <a:srgbClr val="10B981"/>
                </a:solidFill>
                <a:latin typeface="Segoe UI Black"/>
              </a:defRPr>
            </a:pPr>
            <a:r>
              <a:t>16</a:t>
            </a:r>
          </a:p>
        </p:txBody>
      </p:sp>
      <p:sp>
        <p:nvSpPr>
          <p:cNvPr id="19" name="TextBox 18"/>
          <p:cNvSpPr txBox="1"/>
          <p:nvPr/>
        </p:nvSpPr>
        <p:spPr>
          <a:xfrm>
            <a:off x="4352544" y="2103120"/>
            <a:ext cx="1719072" cy="274320"/>
          </a:xfrm>
          <a:prstGeom prst="rect">
            <a:avLst/>
          </a:prstGeom>
          <a:noFill/>
        </p:spPr>
        <p:txBody>
          <a:bodyPr wrap="square">
            <a:spAutoFit/>
          </a:bodyPr>
          <a:lstStyle/>
          <a:p>
            <a:pPr algn="ctr">
              <a:spcBef>
                <a:spcPts val="0"/>
              </a:spcBef>
              <a:spcAft>
                <a:spcPts val="0"/>
              </a:spcAft>
              <a:defRPr sz="1000" b="1">
                <a:solidFill>
                  <a:srgbClr val="FFFFFF"/>
                </a:solidFill>
                <a:latin typeface="Segoe UI"/>
              </a:defRPr>
            </a:pPr>
            <a:r>
              <a:t>Database Models</a:t>
            </a:r>
          </a:p>
        </p:txBody>
      </p:sp>
      <p:sp>
        <p:nvSpPr>
          <p:cNvPr id="20" name="TextBox 19"/>
          <p:cNvSpPr txBox="1"/>
          <p:nvPr/>
        </p:nvSpPr>
        <p:spPr>
          <a:xfrm>
            <a:off x="4352544" y="2377440"/>
            <a:ext cx="1719072" cy="274320"/>
          </a:xfrm>
          <a:prstGeom prst="rect">
            <a:avLst/>
          </a:prstGeom>
          <a:noFill/>
        </p:spPr>
        <p:txBody>
          <a:bodyPr wrap="square">
            <a:spAutoFit/>
          </a:bodyPr>
          <a:lstStyle/>
          <a:p>
            <a:pPr algn="ctr">
              <a:spcBef>
                <a:spcPts val="0"/>
              </a:spcBef>
              <a:spcAft>
                <a:spcPts val="0"/>
              </a:spcAft>
              <a:defRPr sz="800" b="0">
                <a:solidFill>
                  <a:srgbClr val="9C9CA8"/>
                </a:solidFill>
                <a:latin typeface="Segoe UI"/>
              </a:defRPr>
            </a:pPr>
            <a:r>
              <a:t>MongoDB Collections</a:t>
            </a:r>
          </a:p>
        </p:txBody>
      </p:sp>
      <p:sp>
        <p:nvSpPr>
          <p:cNvPr id="21" name="Rounded Rectangle 20"/>
          <p:cNvSpPr/>
          <p:nvPr/>
        </p:nvSpPr>
        <p:spPr>
          <a:xfrm>
            <a:off x="6254496" y="1371600"/>
            <a:ext cx="1719072" cy="146304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54496" y="1508760"/>
            <a:ext cx="1719072" cy="548640"/>
          </a:xfrm>
          <a:prstGeom prst="rect">
            <a:avLst/>
          </a:prstGeom>
          <a:noFill/>
        </p:spPr>
        <p:txBody>
          <a:bodyPr wrap="square">
            <a:spAutoFit/>
          </a:bodyPr>
          <a:lstStyle/>
          <a:p>
            <a:pPr algn="ctr">
              <a:spcBef>
                <a:spcPts val="0"/>
              </a:spcBef>
              <a:spcAft>
                <a:spcPts val="0"/>
              </a:spcAft>
              <a:defRPr sz="3200" b="1">
                <a:solidFill>
                  <a:srgbClr val="A78BFA"/>
                </a:solidFill>
                <a:latin typeface="Segoe UI Black"/>
              </a:defRPr>
            </a:pPr>
            <a:r>
              <a:t>5+</a:t>
            </a:r>
          </a:p>
        </p:txBody>
      </p:sp>
      <p:sp>
        <p:nvSpPr>
          <p:cNvPr id="23" name="TextBox 22"/>
          <p:cNvSpPr txBox="1"/>
          <p:nvPr/>
        </p:nvSpPr>
        <p:spPr>
          <a:xfrm>
            <a:off x="6254496" y="2103120"/>
            <a:ext cx="1719072" cy="274320"/>
          </a:xfrm>
          <a:prstGeom prst="rect">
            <a:avLst/>
          </a:prstGeom>
          <a:noFill/>
        </p:spPr>
        <p:txBody>
          <a:bodyPr wrap="square">
            <a:spAutoFit/>
          </a:bodyPr>
          <a:lstStyle/>
          <a:p>
            <a:pPr algn="ctr">
              <a:spcBef>
                <a:spcPts val="0"/>
              </a:spcBef>
              <a:spcAft>
                <a:spcPts val="0"/>
              </a:spcAft>
              <a:defRPr sz="1000" b="1">
                <a:solidFill>
                  <a:srgbClr val="FFFFFF"/>
                </a:solidFill>
                <a:latin typeface="Segoe UI"/>
              </a:defRPr>
            </a:pPr>
            <a:r>
              <a:t>Cổng thanh toán</a:t>
            </a:r>
          </a:p>
        </p:txBody>
      </p:sp>
      <p:sp>
        <p:nvSpPr>
          <p:cNvPr id="24" name="TextBox 23"/>
          <p:cNvSpPr txBox="1"/>
          <p:nvPr/>
        </p:nvSpPr>
        <p:spPr>
          <a:xfrm>
            <a:off x="6254496" y="2377440"/>
            <a:ext cx="1719072" cy="274320"/>
          </a:xfrm>
          <a:prstGeom prst="rect">
            <a:avLst/>
          </a:prstGeom>
          <a:noFill/>
        </p:spPr>
        <p:txBody>
          <a:bodyPr wrap="square">
            <a:spAutoFit/>
          </a:bodyPr>
          <a:lstStyle/>
          <a:p>
            <a:pPr algn="ctr">
              <a:spcBef>
                <a:spcPts val="0"/>
              </a:spcBef>
              <a:spcAft>
                <a:spcPts val="0"/>
              </a:spcAft>
              <a:defRPr sz="800" b="0">
                <a:solidFill>
                  <a:srgbClr val="9C9CA8"/>
                </a:solidFill>
                <a:latin typeface="Segoe UI"/>
              </a:defRPr>
            </a:pPr>
            <a:r>
              <a:t>Payment Gateways</a:t>
            </a:r>
          </a:p>
        </p:txBody>
      </p:sp>
      <p:sp>
        <p:nvSpPr>
          <p:cNvPr id="25" name="Rounded Rectangle 24"/>
          <p:cNvSpPr/>
          <p:nvPr/>
        </p:nvSpPr>
        <p:spPr>
          <a:xfrm>
            <a:off x="8156448" y="1371600"/>
            <a:ext cx="1719072" cy="146304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156448" y="1508760"/>
            <a:ext cx="1719072" cy="548640"/>
          </a:xfrm>
          <a:prstGeom prst="rect">
            <a:avLst/>
          </a:prstGeom>
          <a:noFill/>
        </p:spPr>
        <p:txBody>
          <a:bodyPr wrap="square">
            <a:spAutoFit/>
          </a:bodyPr>
          <a:lstStyle/>
          <a:p>
            <a:pPr algn="ctr">
              <a:spcBef>
                <a:spcPts val="0"/>
              </a:spcBef>
              <a:spcAft>
                <a:spcPts val="0"/>
              </a:spcAft>
              <a:defRPr sz="3200" b="1">
                <a:solidFill>
                  <a:srgbClr val="FFB800"/>
                </a:solidFill>
                <a:latin typeface="Segoe UI Black"/>
              </a:defRPr>
            </a:pPr>
            <a:r>
              <a:t>4</a:t>
            </a:r>
          </a:p>
        </p:txBody>
      </p:sp>
      <p:sp>
        <p:nvSpPr>
          <p:cNvPr id="27" name="TextBox 26"/>
          <p:cNvSpPr txBox="1"/>
          <p:nvPr/>
        </p:nvSpPr>
        <p:spPr>
          <a:xfrm>
            <a:off x="8156448" y="2103120"/>
            <a:ext cx="1719072" cy="274320"/>
          </a:xfrm>
          <a:prstGeom prst="rect">
            <a:avLst/>
          </a:prstGeom>
          <a:noFill/>
        </p:spPr>
        <p:txBody>
          <a:bodyPr wrap="square">
            <a:spAutoFit/>
          </a:bodyPr>
          <a:lstStyle/>
          <a:p>
            <a:pPr algn="ctr">
              <a:spcBef>
                <a:spcPts val="0"/>
              </a:spcBef>
              <a:spcAft>
                <a:spcPts val="0"/>
              </a:spcAft>
              <a:defRPr sz="1000" b="1">
                <a:solidFill>
                  <a:srgbClr val="FFFFFF"/>
                </a:solidFill>
                <a:latin typeface="Segoe UI"/>
              </a:defRPr>
            </a:pPr>
            <a:r>
              <a:t>Vai trò người dùng</a:t>
            </a:r>
          </a:p>
        </p:txBody>
      </p:sp>
      <p:sp>
        <p:nvSpPr>
          <p:cNvPr id="28" name="TextBox 27"/>
          <p:cNvSpPr txBox="1"/>
          <p:nvPr/>
        </p:nvSpPr>
        <p:spPr>
          <a:xfrm>
            <a:off x="8156448" y="2377440"/>
            <a:ext cx="1719072" cy="274320"/>
          </a:xfrm>
          <a:prstGeom prst="rect">
            <a:avLst/>
          </a:prstGeom>
          <a:noFill/>
        </p:spPr>
        <p:txBody>
          <a:bodyPr wrap="square">
            <a:spAutoFit/>
          </a:bodyPr>
          <a:lstStyle/>
          <a:p>
            <a:pPr algn="ctr">
              <a:spcBef>
                <a:spcPts val="0"/>
              </a:spcBef>
              <a:spcAft>
                <a:spcPts val="0"/>
              </a:spcAft>
              <a:defRPr sz="800" b="0">
                <a:solidFill>
                  <a:srgbClr val="9C9CA8"/>
                </a:solidFill>
                <a:latin typeface="Segoe UI"/>
              </a:defRPr>
            </a:pPr>
            <a:r>
              <a:t>User Roles</a:t>
            </a:r>
          </a:p>
        </p:txBody>
      </p:sp>
      <p:sp>
        <p:nvSpPr>
          <p:cNvPr id="29" name="Rounded Rectangle 28"/>
          <p:cNvSpPr/>
          <p:nvPr/>
        </p:nvSpPr>
        <p:spPr>
          <a:xfrm>
            <a:off x="10058400" y="1371600"/>
            <a:ext cx="1719072" cy="146304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058400" y="1508760"/>
            <a:ext cx="1719072" cy="548640"/>
          </a:xfrm>
          <a:prstGeom prst="rect">
            <a:avLst/>
          </a:prstGeom>
          <a:noFill/>
        </p:spPr>
        <p:txBody>
          <a:bodyPr wrap="square">
            <a:spAutoFit/>
          </a:bodyPr>
          <a:lstStyle/>
          <a:p>
            <a:pPr algn="ctr">
              <a:spcBef>
                <a:spcPts val="0"/>
              </a:spcBef>
              <a:spcAft>
                <a:spcPts val="0"/>
              </a:spcAft>
              <a:defRPr sz="3200" b="1">
                <a:solidFill>
                  <a:srgbClr val="06B6D4"/>
                </a:solidFill>
                <a:latin typeface="Segoe UI Black"/>
              </a:defRPr>
            </a:pPr>
            <a:r>
              <a:t>50+</a:t>
            </a:r>
          </a:p>
        </p:txBody>
      </p:sp>
      <p:sp>
        <p:nvSpPr>
          <p:cNvPr id="31" name="TextBox 30"/>
          <p:cNvSpPr txBox="1"/>
          <p:nvPr/>
        </p:nvSpPr>
        <p:spPr>
          <a:xfrm>
            <a:off x="10058400" y="2103120"/>
            <a:ext cx="1719072" cy="274320"/>
          </a:xfrm>
          <a:prstGeom prst="rect">
            <a:avLst/>
          </a:prstGeom>
          <a:noFill/>
        </p:spPr>
        <p:txBody>
          <a:bodyPr wrap="square">
            <a:spAutoFit/>
          </a:bodyPr>
          <a:lstStyle/>
          <a:p>
            <a:pPr algn="ctr">
              <a:spcBef>
                <a:spcPts val="0"/>
              </a:spcBef>
              <a:spcAft>
                <a:spcPts val="0"/>
              </a:spcAft>
              <a:defRPr sz="1000" b="1">
                <a:solidFill>
                  <a:srgbClr val="FFFFFF"/>
                </a:solidFill>
                <a:latin typeface="Segoe UI"/>
              </a:defRPr>
            </a:pPr>
            <a:r>
              <a:t>Tính năng</a:t>
            </a:r>
          </a:p>
        </p:txBody>
      </p:sp>
      <p:sp>
        <p:nvSpPr>
          <p:cNvPr id="32" name="TextBox 31"/>
          <p:cNvSpPr txBox="1"/>
          <p:nvPr/>
        </p:nvSpPr>
        <p:spPr>
          <a:xfrm>
            <a:off x="10058400" y="2377440"/>
            <a:ext cx="1719072" cy="274320"/>
          </a:xfrm>
          <a:prstGeom prst="rect">
            <a:avLst/>
          </a:prstGeom>
          <a:noFill/>
        </p:spPr>
        <p:txBody>
          <a:bodyPr wrap="square">
            <a:spAutoFit/>
          </a:bodyPr>
          <a:lstStyle/>
          <a:p>
            <a:pPr algn="ctr">
              <a:spcBef>
                <a:spcPts val="0"/>
              </a:spcBef>
              <a:spcAft>
                <a:spcPts val="0"/>
              </a:spcAft>
              <a:defRPr sz="800" b="0">
                <a:solidFill>
                  <a:srgbClr val="9C9CA8"/>
                </a:solidFill>
                <a:latin typeface="Segoe UI"/>
              </a:defRPr>
            </a:pPr>
            <a:r>
              <a:t>Features &amp; Functions</a:t>
            </a:r>
          </a:p>
        </p:txBody>
      </p:sp>
      <p:sp>
        <p:nvSpPr>
          <p:cNvPr id="33" name="TextBox 32"/>
          <p:cNvSpPr txBox="1"/>
          <p:nvPr/>
        </p:nvSpPr>
        <p:spPr>
          <a:xfrm>
            <a:off x="731520" y="3200400"/>
            <a:ext cx="5486400" cy="365760"/>
          </a:xfrm>
          <a:prstGeom prst="rect">
            <a:avLst/>
          </a:prstGeom>
          <a:noFill/>
        </p:spPr>
        <p:txBody>
          <a:bodyPr wrap="square">
            <a:spAutoFit/>
          </a:bodyPr>
          <a:lstStyle/>
          <a:p>
            <a:pPr algn="l">
              <a:spcBef>
                <a:spcPts val="0"/>
              </a:spcBef>
              <a:spcAft>
                <a:spcPts val="0"/>
              </a:spcAft>
              <a:defRPr sz="1300" b="1">
                <a:solidFill>
                  <a:srgbClr val="FFFFFF"/>
                </a:solidFill>
                <a:latin typeface="Segoe UI"/>
              </a:defRPr>
            </a:pPr>
            <a:r>
              <a:t>🔧  TECHNOLOGY STACK TỔNG HỢP</a:t>
            </a:r>
          </a:p>
        </p:txBody>
      </p:sp>
      <p:sp>
        <p:nvSpPr>
          <p:cNvPr id="34" name="Rectangle 33"/>
          <p:cNvSpPr/>
          <p:nvPr/>
        </p:nvSpPr>
        <p:spPr>
          <a:xfrm>
            <a:off x="731520" y="3566160"/>
            <a:ext cx="1828800" cy="381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731520" y="3840480"/>
            <a:ext cx="5303520" cy="1143000"/>
          </a:xfrm>
          <a:prstGeom prst="roundRect">
            <a:avLst>
              <a:gd name="adj" fmla="val 4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868680" y="3977640"/>
            <a:ext cx="1188720" cy="320040"/>
          </a:xfrm>
          <a:prstGeom prst="roundRect">
            <a:avLst>
              <a:gd name="adj" fmla="val 10000"/>
            </a:avLst>
          </a:prstGeom>
          <a:solidFill>
            <a:srgbClr val="388B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68680" y="3995928"/>
            <a:ext cx="1188720" cy="274320"/>
          </a:xfrm>
          <a:prstGeom prst="rect">
            <a:avLst/>
          </a:prstGeom>
          <a:noFill/>
        </p:spPr>
        <p:txBody>
          <a:bodyPr wrap="square">
            <a:spAutoFit/>
          </a:bodyPr>
          <a:lstStyle/>
          <a:p>
            <a:pPr algn="ctr">
              <a:spcBef>
                <a:spcPts val="0"/>
              </a:spcBef>
              <a:spcAft>
                <a:spcPts val="0"/>
              </a:spcAft>
              <a:defRPr sz="900" b="1">
                <a:solidFill>
                  <a:srgbClr val="FFFFFF"/>
                </a:solidFill>
                <a:latin typeface="Segoe UI"/>
              </a:defRPr>
            </a:pPr>
            <a:r>
              <a:t>FRONTEND</a:t>
            </a:r>
          </a:p>
        </p:txBody>
      </p:sp>
      <p:sp>
        <p:nvSpPr>
          <p:cNvPr id="38" name="TextBox 37"/>
          <p:cNvSpPr txBox="1"/>
          <p:nvPr/>
        </p:nvSpPr>
        <p:spPr>
          <a:xfrm>
            <a:off x="2194560" y="3977640"/>
            <a:ext cx="3566160" cy="868680"/>
          </a:xfrm>
          <a:prstGeom prst="rect">
            <a:avLst/>
          </a:prstGeom>
          <a:noFill/>
        </p:spPr>
        <p:txBody>
          <a:bodyPr wrap="square">
            <a:spAutoFit/>
          </a:bodyPr>
          <a:lstStyle/>
          <a:p>
            <a:pPr algn="l">
              <a:spcBef>
                <a:spcPts val="0"/>
              </a:spcBef>
              <a:spcAft>
                <a:spcPts val="0"/>
              </a:spcAft>
              <a:defRPr sz="900" b="0">
                <a:solidFill>
                  <a:srgbClr val="9C9CA8"/>
                </a:solidFill>
                <a:latin typeface="Segoe UI"/>
              </a:defRPr>
            </a:pPr>
            <a:r>
              <a:t>React.js 18, Redux Toolkit, React Router v6,</a:t>
            </a:r>
            <a:br/>
            <a:r>
              <a:t>Framer Motion, Recharts, TailwindCSS,</a:t>
            </a:r>
            <a:br/>
            <a:r>
              <a:t>Socket.IO Client, Leaflet, Swiper</a:t>
            </a:r>
          </a:p>
        </p:txBody>
      </p:sp>
      <p:sp>
        <p:nvSpPr>
          <p:cNvPr id="39" name="Rounded Rectangle 38"/>
          <p:cNvSpPr/>
          <p:nvPr/>
        </p:nvSpPr>
        <p:spPr>
          <a:xfrm>
            <a:off x="6309360" y="3840480"/>
            <a:ext cx="5303520" cy="1143000"/>
          </a:xfrm>
          <a:prstGeom prst="roundRect">
            <a:avLst>
              <a:gd name="adj" fmla="val 4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6446520" y="3977640"/>
            <a:ext cx="1188720" cy="320040"/>
          </a:xfrm>
          <a:prstGeom prst="roundRect">
            <a:avLst>
              <a:gd name="adj" fmla="val 10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46520" y="3995928"/>
            <a:ext cx="1188720" cy="274320"/>
          </a:xfrm>
          <a:prstGeom prst="rect">
            <a:avLst/>
          </a:prstGeom>
          <a:noFill/>
        </p:spPr>
        <p:txBody>
          <a:bodyPr wrap="square">
            <a:spAutoFit/>
          </a:bodyPr>
          <a:lstStyle/>
          <a:p>
            <a:pPr algn="ctr">
              <a:spcBef>
                <a:spcPts val="0"/>
              </a:spcBef>
              <a:spcAft>
                <a:spcPts val="0"/>
              </a:spcAft>
              <a:defRPr sz="900" b="1">
                <a:solidFill>
                  <a:srgbClr val="FFFFFF"/>
                </a:solidFill>
                <a:latin typeface="Segoe UI"/>
              </a:defRPr>
            </a:pPr>
            <a:r>
              <a:t>BACKEND</a:t>
            </a:r>
          </a:p>
        </p:txBody>
      </p:sp>
      <p:sp>
        <p:nvSpPr>
          <p:cNvPr id="42" name="TextBox 41"/>
          <p:cNvSpPr txBox="1"/>
          <p:nvPr/>
        </p:nvSpPr>
        <p:spPr>
          <a:xfrm>
            <a:off x="7772400" y="3977640"/>
            <a:ext cx="3566160" cy="868680"/>
          </a:xfrm>
          <a:prstGeom prst="rect">
            <a:avLst/>
          </a:prstGeom>
          <a:noFill/>
        </p:spPr>
        <p:txBody>
          <a:bodyPr wrap="square">
            <a:spAutoFit/>
          </a:bodyPr>
          <a:lstStyle/>
          <a:p>
            <a:pPr algn="l">
              <a:spcBef>
                <a:spcPts val="0"/>
              </a:spcBef>
              <a:spcAft>
                <a:spcPts val="0"/>
              </a:spcAft>
              <a:defRPr sz="900" b="0">
                <a:solidFill>
                  <a:srgbClr val="9C9CA8"/>
                </a:solidFill>
                <a:latin typeface="Segoe UI"/>
              </a:defRPr>
            </a:pPr>
            <a:r>
              <a:t>Node.js, Express.js, Mongoose,</a:t>
            </a:r>
            <a:br/>
            <a:r>
              <a:t>Socket.IO, Nodemailer, bcrypt,</a:t>
            </a:r>
            <a:br/>
            <a:r>
              <a:t>jsonwebtoken, Gemini AI API</a:t>
            </a:r>
          </a:p>
        </p:txBody>
      </p:sp>
      <p:sp>
        <p:nvSpPr>
          <p:cNvPr id="43" name="Rounded Rectangle 42"/>
          <p:cNvSpPr/>
          <p:nvPr/>
        </p:nvSpPr>
        <p:spPr>
          <a:xfrm>
            <a:off x="731520" y="5212080"/>
            <a:ext cx="5303520" cy="1143000"/>
          </a:xfrm>
          <a:prstGeom prst="roundRect">
            <a:avLst>
              <a:gd name="adj" fmla="val 4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868680" y="5349240"/>
            <a:ext cx="1188720" cy="320040"/>
          </a:xfrm>
          <a:prstGeom prst="roundRect">
            <a:avLst>
              <a:gd name="adj" fmla="val 10000"/>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68680" y="5367528"/>
            <a:ext cx="1188720" cy="274320"/>
          </a:xfrm>
          <a:prstGeom prst="rect">
            <a:avLst/>
          </a:prstGeom>
          <a:noFill/>
        </p:spPr>
        <p:txBody>
          <a:bodyPr wrap="square">
            <a:spAutoFit/>
          </a:bodyPr>
          <a:lstStyle/>
          <a:p>
            <a:pPr algn="ctr">
              <a:spcBef>
                <a:spcPts val="0"/>
              </a:spcBef>
              <a:spcAft>
                <a:spcPts val="0"/>
              </a:spcAft>
              <a:defRPr sz="900" b="1">
                <a:solidFill>
                  <a:srgbClr val="FFFFFF"/>
                </a:solidFill>
                <a:latin typeface="Segoe UI"/>
              </a:defRPr>
            </a:pPr>
            <a:r>
              <a:t>DATABASE</a:t>
            </a:r>
          </a:p>
        </p:txBody>
      </p:sp>
      <p:sp>
        <p:nvSpPr>
          <p:cNvPr id="46" name="TextBox 45"/>
          <p:cNvSpPr txBox="1"/>
          <p:nvPr/>
        </p:nvSpPr>
        <p:spPr>
          <a:xfrm>
            <a:off x="2194560" y="5349240"/>
            <a:ext cx="3566160" cy="868680"/>
          </a:xfrm>
          <a:prstGeom prst="rect">
            <a:avLst/>
          </a:prstGeom>
          <a:noFill/>
        </p:spPr>
        <p:txBody>
          <a:bodyPr wrap="square">
            <a:spAutoFit/>
          </a:bodyPr>
          <a:lstStyle/>
          <a:p>
            <a:pPr algn="l">
              <a:spcBef>
                <a:spcPts val="0"/>
              </a:spcBef>
              <a:spcAft>
                <a:spcPts val="0"/>
              </a:spcAft>
              <a:defRPr sz="900" b="0">
                <a:solidFill>
                  <a:srgbClr val="9C9CA8"/>
                </a:solidFill>
                <a:latin typeface="Segoe UI"/>
              </a:defRPr>
            </a:pPr>
            <a:r>
              <a:t>MongoDB Atlas (NoSQL Cloud),</a:t>
            </a:r>
            <a:br/>
            <a:r>
              <a:t>16 Collections, Compound Indexes,</a:t>
            </a:r>
            <a:br/>
            <a:r>
              <a:t>Text Search, TTL Indexes</a:t>
            </a:r>
          </a:p>
        </p:txBody>
      </p:sp>
      <p:sp>
        <p:nvSpPr>
          <p:cNvPr id="47" name="Rounded Rectangle 46"/>
          <p:cNvSpPr/>
          <p:nvPr/>
        </p:nvSpPr>
        <p:spPr>
          <a:xfrm>
            <a:off x="6309360" y="5212080"/>
            <a:ext cx="5303520" cy="1143000"/>
          </a:xfrm>
          <a:prstGeom prst="roundRect">
            <a:avLst>
              <a:gd name="adj" fmla="val 4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6446520" y="5349240"/>
            <a:ext cx="1188720" cy="320040"/>
          </a:xfrm>
          <a:prstGeom prst="roundRect">
            <a:avLst>
              <a:gd name="adj" fmla="val 10000"/>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446520" y="5367528"/>
            <a:ext cx="1188720" cy="274320"/>
          </a:xfrm>
          <a:prstGeom prst="rect">
            <a:avLst/>
          </a:prstGeom>
          <a:noFill/>
        </p:spPr>
        <p:txBody>
          <a:bodyPr wrap="square">
            <a:spAutoFit/>
          </a:bodyPr>
          <a:lstStyle/>
          <a:p>
            <a:pPr algn="ctr">
              <a:spcBef>
                <a:spcPts val="0"/>
              </a:spcBef>
              <a:spcAft>
                <a:spcPts val="0"/>
              </a:spcAft>
              <a:defRPr sz="900" b="1">
                <a:solidFill>
                  <a:srgbClr val="FFFFFF"/>
                </a:solidFill>
                <a:latin typeface="Segoe UI"/>
              </a:defRPr>
            </a:pPr>
            <a:r>
              <a:t>DEVOPS</a:t>
            </a:r>
          </a:p>
        </p:txBody>
      </p:sp>
      <p:sp>
        <p:nvSpPr>
          <p:cNvPr id="50" name="TextBox 49"/>
          <p:cNvSpPr txBox="1"/>
          <p:nvPr/>
        </p:nvSpPr>
        <p:spPr>
          <a:xfrm>
            <a:off x="7772400" y="5349240"/>
            <a:ext cx="3566160" cy="868680"/>
          </a:xfrm>
          <a:prstGeom prst="rect">
            <a:avLst/>
          </a:prstGeom>
          <a:noFill/>
        </p:spPr>
        <p:txBody>
          <a:bodyPr wrap="square">
            <a:spAutoFit/>
          </a:bodyPr>
          <a:lstStyle/>
          <a:p>
            <a:pPr algn="l">
              <a:spcBef>
                <a:spcPts val="0"/>
              </a:spcBef>
              <a:spcAft>
                <a:spcPts val="0"/>
              </a:spcAft>
              <a:defRPr sz="900" b="0">
                <a:solidFill>
                  <a:srgbClr val="9C9CA8"/>
                </a:solidFill>
                <a:latin typeface="Segoe UI"/>
              </a:defRPr>
            </a:pPr>
            <a:r>
              <a:t>Vite (Build Tool), Git/GitHub,</a:t>
            </a:r>
            <a:br/>
            <a:r>
              <a:t>Vercel (FE Deploy), Render (BE Deploy),</a:t>
            </a:r>
            <a:br/>
            <a:r>
              <a:t>Postman (API Testing), ESLint</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0F14"/>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731520" cy="457200"/>
          </a:xfrm>
          <a:prstGeom prst="rect">
            <a:avLst/>
          </a:prstGeom>
          <a:noFill/>
        </p:spPr>
        <p:txBody>
          <a:bodyPr wrap="square">
            <a:spAutoFit/>
          </a:bodyPr>
          <a:lstStyle/>
          <a:p>
            <a:pPr algn="l">
              <a:spcBef>
                <a:spcPts val="0"/>
              </a:spcBef>
              <a:spcAft>
                <a:spcPts val="0"/>
              </a:spcAft>
              <a:defRPr sz="1400" b="1">
                <a:solidFill>
                  <a:srgbClr val="FF6B00"/>
                </a:solidFill>
                <a:latin typeface="Segoe UI Black"/>
              </a:defRPr>
            </a:pPr>
            <a:r>
              <a:t>05</a:t>
            </a:r>
          </a:p>
        </p:txBody>
      </p:sp>
      <p:sp>
        <p:nvSpPr>
          <p:cNvPr id="4" name="TextBox 3"/>
          <p:cNvSpPr txBox="1"/>
          <p:nvPr/>
        </p:nvSpPr>
        <p:spPr>
          <a:xfrm>
            <a:off x="1234440" y="320040"/>
            <a:ext cx="274320" cy="457200"/>
          </a:xfrm>
          <a:prstGeom prst="rect">
            <a:avLst/>
          </a:prstGeom>
          <a:noFill/>
        </p:spPr>
        <p:txBody>
          <a:bodyPr wrap="square">
            <a:spAutoFit/>
          </a:bodyPr>
          <a:lstStyle/>
          <a:p>
            <a:pPr algn="l">
              <a:spcBef>
                <a:spcPts val="0"/>
              </a:spcBef>
              <a:spcAft>
                <a:spcPts val="0"/>
              </a:spcAft>
              <a:defRPr sz="1400" b="1">
                <a:solidFill>
                  <a:srgbClr val="9C9CA8"/>
                </a:solidFill>
                <a:latin typeface="Segoe UI"/>
              </a:defRPr>
            </a:pPr>
            <a:r>
              <a:t>—</a:t>
            </a:r>
          </a:p>
        </p:txBody>
      </p:sp>
      <p:sp>
        <p:nvSpPr>
          <p:cNvPr id="5" name="TextBox 4"/>
          <p:cNvSpPr txBox="1"/>
          <p:nvPr/>
        </p:nvSpPr>
        <p:spPr>
          <a:xfrm>
            <a:off x="1508760" y="274320"/>
            <a:ext cx="7315200" cy="502920"/>
          </a:xfrm>
          <a:prstGeom prst="rect">
            <a:avLst/>
          </a:prstGeom>
          <a:noFill/>
        </p:spPr>
        <p:txBody>
          <a:bodyPr wrap="square">
            <a:spAutoFit/>
          </a:bodyPr>
          <a:lstStyle/>
          <a:p>
            <a:pPr algn="l">
              <a:spcBef>
                <a:spcPts val="0"/>
              </a:spcBef>
              <a:spcAft>
                <a:spcPts val="0"/>
              </a:spcAft>
              <a:defRPr sz="1500" b="1">
                <a:solidFill>
                  <a:srgbClr val="FFFFFF"/>
                </a:solidFill>
                <a:latin typeface="Segoe UI Semibold"/>
              </a:defRPr>
            </a:pPr>
            <a:r>
              <a:t>HẠN CHẾ &amp; ĐỊNH HƯỚNG PHÁT TRIỂN</a:t>
            </a:r>
          </a:p>
        </p:txBody>
      </p:sp>
      <p:sp>
        <p:nvSpPr>
          <p:cNvPr id="6" name="TextBox 5"/>
          <p:cNvSpPr txBox="1"/>
          <p:nvPr/>
        </p:nvSpPr>
        <p:spPr>
          <a:xfrm>
            <a:off x="1508760" y="640080"/>
            <a:ext cx="7315200" cy="36576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Đánh giá &amp; kế hoạch</a:t>
            </a:r>
          </a:p>
        </p:txBody>
      </p:sp>
      <p:sp>
        <p:nvSpPr>
          <p:cNvPr id="7" name="TextBox 6"/>
          <p:cNvSpPr txBox="1"/>
          <p:nvPr/>
        </p:nvSpPr>
        <p:spPr>
          <a:xfrm>
            <a:off x="10058400" y="320040"/>
            <a:ext cx="1828800" cy="365760"/>
          </a:xfrm>
          <a:prstGeom prst="rect">
            <a:avLst/>
          </a:prstGeom>
          <a:noFill/>
        </p:spPr>
        <p:txBody>
          <a:bodyPr wrap="square">
            <a:spAutoFit/>
          </a:bodyPr>
          <a:lstStyle/>
          <a:p>
            <a:pPr algn="r">
              <a:spcBef>
                <a:spcPts val="0"/>
              </a:spcBef>
              <a:spcAft>
                <a:spcPts val="0"/>
              </a:spcAft>
              <a:defRPr sz="1100" b="1">
                <a:solidFill>
                  <a:srgbClr val="FF6B00"/>
                </a:solidFill>
                <a:latin typeface="Segoe UI"/>
              </a:defRPr>
            </a:pPr>
            <a:r>
              <a:t>🍽️ FoodServe</a:t>
            </a:r>
          </a:p>
        </p:txBody>
      </p:sp>
      <p:sp>
        <p:nvSpPr>
          <p:cNvPr id="8" name="Rectangle 7"/>
          <p:cNvSpPr/>
          <p:nvPr/>
        </p:nvSpPr>
        <p:spPr>
          <a:xfrm>
            <a:off x="731520" y="1005840"/>
            <a:ext cx="10698480" cy="12700"/>
          </a:xfrm>
          <a:prstGeom prst="rect">
            <a:avLst/>
          </a:prstGeom>
          <a:solidFill>
            <a:srgbClr val="2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31520" y="1371600"/>
            <a:ext cx="5029200" cy="4846320"/>
          </a:xfrm>
          <a:prstGeom prst="roundRect">
            <a:avLst>
              <a:gd name="adj" fmla="val 4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1508760"/>
            <a:ext cx="4114800" cy="365760"/>
          </a:xfrm>
          <a:prstGeom prst="rect">
            <a:avLst/>
          </a:prstGeom>
          <a:noFill/>
        </p:spPr>
        <p:txBody>
          <a:bodyPr wrap="square">
            <a:spAutoFit/>
          </a:bodyPr>
          <a:lstStyle/>
          <a:p>
            <a:pPr algn="l">
              <a:spcBef>
                <a:spcPts val="0"/>
              </a:spcBef>
              <a:spcAft>
                <a:spcPts val="0"/>
              </a:spcAft>
              <a:defRPr sz="1400" b="1">
                <a:solidFill>
                  <a:srgbClr val="EF4444"/>
                </a:solidFill>
                <a:latin typeface="Segoe UI"/>
              </a:defRPr>
            </a:pPr>
            <a:r>
              <a:t>⚠️  HẠN CHẾ HIỆN TẠI</a:t>
            </a:r>
          </a:p>
        </p:txBody>
      </p:sp>
      <p:sp>
        <p:nvSpPr>
          <p:cNvPr id="11" name="Rectangle 10"/>
          <p:cNvSpPr/>
          <p:nvPr/>
        </p:nvSpPr>
        <p:spPr>
          <a:xfrm>
            <a:off x="1097280" y="1965960"/>
            <a:ext cx="1371600" cy="3810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97280" y="2194560"/>
            <a:ext cx="4389120" cy="3657600"/>
          </a:xfrm>
          <a:prstGeom prst="rect">
            <a:avLst/>
          </a:prstGeom>
          <a:noFill/>
        </p:spPr>
        <p:txBody>
          <a:bodyPr wrap="square">
            <a:spAutoFit/>
          </a:bodyPr>
          <a:lstStyle/>
          <a:p>
            <a:pPr algn="l">
              <a:spcAft>
                <a:spcPts val="400"/>
              </a:spcAft>
              <a:defRPr sz="1100" b="0">
                <a:solidFill>
                  <a:srgbClr val="E5E5EA"/>
                </a:solidFill>
                <a:latin typeface="Segoe UI"/>
              </a:defRPr>
            </a:pPr>
            <a:r>
              <a:t>•  Chưa có ứng dụng mobile native (iOS/Android)</a:t>
            </a:r>
          </a:p>
          <a:p>
            <a:pPr algn="l">
              <a:spcAft>
                <a:spcPts val="400"/>
              </a:spcAft>
              <a:defRPr sz="1100" b="0">
                <a:solidFill>
                  <a:srgbClr val="E5E5EA"/>
                </a:solidFill>
                <a:latin typeface="Segoe UI"/>
              </a:defRPr>
            </a:pPr>
            <a:r>
              <a:t>•  Chưa tích hợp Push Notification (FCM)</a:t>
            </a:r>
          </a:p>
          <a:p>
            <a:pPr algn="l">
              <a:spcAft>
                <a:spcPts val="400"/>
              </a:spcAft>
              <a:defRPr sz="1100" b="0">
                <a:solidFill>
                  <a:srgbClr val="E5E5EA"/>
                </a:solidFill>
                <a:latin typeface="Segoe UI"/>
              </a:defRPr>
            </a:pPr>
            <a:r>
              <a:t>•  GPS tracking phụ thuộc vào trình duyệt web</a:t>
            </a:r>
          </a:p>
          <a:p>
            <a:pPr algn="l">
              <a:spcAft>
                <a:spcPts val="400"/>
              </a:spcAft>
              <a:defRPr sz="1100" b="0">
                <a:solidFill>
                  <a:srgbClr val="E5E5EA"/>
                </a:solidFill>
                <a:latin typeface="Segoe UI"/>
              </a:defRPr>
            </a:pPr>
            <a:r>
              <a:t>•  Hệ thống AI Chatbot còn giới hạn (chỉ text)</a:t>
            </a:r>
          </a:p>
          <a:p>
            <a:pPr algn="l">
              <a:spcAft>
                <a:spcPts val="400"/>
              </a:spcAft>
              <a:defRPr sz="1100" b="0">
                <a:solidFill>
                  <a:srgbClr val="E5E5EA"/>
                </a:solidFill>
                <a:latin typeface="Segoe UI"/>
              </a:defRPr>
            </a:pPr>
            <a:r>
              <a:t>•  Chưa có hệ thống chat realtime giữa các bên</a:t>
            </a:r>
          </a:p>
          <a:p>
            <a:pPr algn="l">
              <a:spcAft>
                <a:spcPts val="400"/>
              </a:spcAft>
              <a:defRPr sz="1100" b="0">
                <a:solidFill>
                  <a:srgbClr val="E5E5EA"/>
                </a:solidFill>
                <a:latin typeface="Segoe UI"/>
              </a:defRPr>
            </a:pPr>
            <a:r>
              <a:t>•  Chưa tối ưu SEO cho các trang sản phẩm</a:t>
            </a:r>
          </a:p>
          <a:p>
            <a:pPr algn="l">
              <a:spcAft>
                <a:spcPts val="400"/>
              </a:spcAft>
              <a:defRPr sz="1100" b="0">
                <a:solidFill>
                  <a:srgbClr val="E5E5EA"/>
                </a:solidFill>
                <a:latin typeface="Segoe UI"/>
              </a:defRPr>
            </a:pPr>
            <a:r>
              <a:t>•  Chưa có tính năng đánh giá bằng hình ảnh đầy đủ</a:t>
            </a:r>
          </a:p>
          <a:p>
            <a:pPr algn="l">
              <a:spcAft>
                <a:spcPts val="400"/>
              </a:spcAft>
              <a:defRPr sz="1100" b="0">
                <a:solidFill>
                  <a:srgbClr val="E5E5EA"/>
                </a:solidFill>
                <a:latin typeface="Segoe UI"/>
              </a:defRPr>
            </a:pPr>
            <a:r>
              <a:t>•  Chưa có hệ thống báo cáo, xuất PDF tự động</a:t>
            </a:r>
          </a:p>
        </p:txBody>
      </p:sp>
      <p:sp>
        <p:nvSpPr>
          <p:cNvPr id="13" name="Rounded Rectangle 12"/>
          <p:cNvSpPr/>
          <p:nvPr/>
        </p:nvSpPr>
        <p:spPr>
          <a:xfrm>
            <a:off x="6217920" y="1371600"/>
            <a:ext cx="5212080" cy="4846320"/>
          </a:xfrm>
          <a:prstGeom prst="roundRect">
            <a:avLst>
              <a:gd name="adj" fmla="val 4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83680" y="1508760"/>
            <a:ext cx="4114800" cy="365760"/>
          </a:xfrm>
          <a:prstGeom prst="rect">
            <a:avLst/>
          </a:prstGeom>
          <a:noFill/>
        </p:spPr>
        <p:txBody>
          <a:bodyPr wrap="square">
            <a:spAutoFit/>
          </a:bodyPr>
          <a:lstStyle/>
          <a:p>
            <a:pPr algn="l">
              <a:spcBef>
                <a:spcPts val="0"/>
              </a:spcBef>
              <a:spcAft>
                <a:spcPts val="0"/>
              </a:spcAft>
              <a:defRPr sz="1400" b="1">
                <a:solidFill>
                  <a:srgbClr val="10B981"/>
                </a:solidFill>
                <a:latin typeface="Segoe UI"/>
              </a:defRPr>
            </a:pPr>
            <a:r>
              <a:t>🚀  ĐỊNH HƯỚNG PHÁT TRIỂN</a:t>
            </a:r>
          </a:p>
        </p:txBody>
      </p:sp>
      <p:sp>
        <p:nvSpPr>
          <p:cNvPr id="15" name="Rectangle 14"/>
          <p:cNvSpPr/>
          <p:nvPr/>
        </p:nvSpPr>
        <p:spPr>
          <a:xfrm>
            <a:off x="6583680" y="1965960"/>
            <a:ext cx="1371600" cy="381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0" y="2194560"/>
            <a:ext cx="4389120" cy="3657600"/>
          </a:xfrm>
          <a:prstGeom prst="rect">
            <a:avLst/>
          </a:prstGeom>
          <a:noFill/>
        </p:spPr>
        <p:txBody>
          <a:bodyPr wrap="square">
            <a:spAutoFit/>
          </a:bodyPr>
          <a:lstStyle/>
          <a:p>
            <a:pPr algn="l">
              <a:spcAft>
                <a:spcPts val="400"/>
              </a:spcAft>
              <a:defRPr sz="1100" b="0">
                <a:solidFill>
                  <a:srgbClr val="E5E5EA"/>
                </a:solidFill>
                <a:latin typeface="Segoe UI"/>
              </a:defRPr>
            </a:pPr>
            <a:r>
              <a:t>•  Phát triển ứng dụng React Native (iOS + Android)</a:t>
            </a:r>
          </a:p>
          <a:p>
            <a:pPr algn="l">
              <a:spcAft>
                <a:spcPts val="400"/>
              </a:spcAft>
              <a:defRPr sz="1100" b="0">
                <a:solidFill>
                  <a:srgbClr val="E5E5EA"/>
                </a:solidFill>
                <a:latin typeface="Segoe UI"/>
              </a:defRPr>
            </a:pPr>
            <a:r>
              <a:t>•  Tích hợp Push Notification qua Firebase Cloud</a:t>
            </a:r>
          </a:p>
          <a:p>
            <a:pPr algn="l">
              <a:spcAft>
                <a:spcPts val="400"/>
              </a:spcAft>
              <a:defRPr sz="1100" b="0">
                <a:solidFill>
                  <a:srgbClr val="E5E5EA"/>
                </a:solidFill>
                <a:latin typeface="Segoe UI"/>
              </a:defRPr>
            </a:pPr>
            <a:r>
              <a:t>•  Nâng cấp AI Chatbot với voice + image recognition</a:t>
            </a:r>
          </a:p>
          <a:p>
            <a:pPr algn="l">
              <a:spcAft>
                <a:spcPts val="400"/>
              </a:spcAft>
              <a:defRPr sz="1100" b="0">
                <a:solidFill>
                  <a:srgbClr val="E5E5EA"/>
                </a:solidFill>
                <a:latin typeface="Segoe UI"/>
              </a:defRPr>
            </a:pPr>
            <a:r>
              <a:t>•  Tích hợp Google Maps / Mapbox cho routing chính xác</a:t>
            </a:r>
          </a:p>
          <a:p>
            <a:pPr algn="l">
              <a:spcAft>
                <a:spcPts val="400"/>
              </a:spcAft>
              <a:defRPr sz="1100" b="0">
                <a:solidFill>
                  <a:srgbClr val="E5E5EA"/>
                </a:solidFill>
                <a:latin typeface="Segoe UI"/>
              </a:defRPr>
            </a:pPr>
            <a:r>
              <a:t>•  Xây dựng hệ thống chat realtime (P2P messaging)</a:t>
            </a:r>
          </a:p>
          <a:p>
            <a:pPr algn="l">
              <a:spcAft>
                <a:spcPts val="400"/>
              </a:spcAft>
              <a:defRPr sz="1100" b="0">
                <a:solidFill>
                  <a:srgbClr val="E5E5EA"/>
                </a:solidFill>
                <a:latin typeface="Segoe UI"/>
              </a:defRPr>
            </a:pPr>
            <a:r>
              <a:t>•  Phát triển hệ thống recommendation AI gợi ý món</a:t>
            </a:r>
          </a:p>
          <a:p>
            <a:pPr algn="l">
              <a:spcAft>
                <a:spcPts val="400"/>
              </a:spcAft>
              <a:defRPr sz="1100" b="0">
                <a:solidFill>
                  <a:srgbClr val="E5E5EA"/>
                </a:solidFill>
                <a:latin typeface="Segoe UI"/>
              </a:defRPr>
            </a:pPr>
            <a:r>
              <a:t>•  Tích hợp nhiều cổng thanh toán quốc tế (Stripe, PayPal)</a:t>
            </a:r>
          </a:p>
          <a:p>
            <a:pPr algn="l">
              <a:spcAft>
                <a:spcPts val="400"/>
              </a:spcAft>
              <a:defRPr sz="1100" b="0">
                <a:solidFill>
                  <a:srgbClr val="E5E5EA"/>
                </a:solidFill>
                <a:latin typeface="Segoe UI"/>
              </a:defRPr>
            </a:pPr>
            <a:r>
              <a:t>•  Triển khai microservices &amp; Docker containerization</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0F14"/>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20040"/>
            <a:ext cx="731520" cy="457200"/>
          </a:xfrm>
          <a:prstGeom prst="rect">
            <a:avLst/>
          </a:prstGeom>
          <a:noFill/>
        </p:spPr>
        <p:txBody>
          <a:bodyPr wrap="square">
            <a:spAutoFit/>
          </a:bodyPr>
          <a:lstStyle/>
          <a:p>
            <a:pPr algn="l">
              <a:spcBef>
                <a:spcPts val="0"/>
              </a:spcBef>
              <a:spcAft>
                <a:spcPts val="0"/>
              </a:spcAft>
              <a:defRPr sz="1400" b="1">
                <a:solidFill>
                  <a:srgbClr val="FF6B00"/>
                </a:solidFill>
                <a:latin typeface="Segoe UI Black"/>
              </a:defRPr>
            </a:pPr>
            <a:r>
              <a:t>06</a:t>
            </a:r>
          </a:p>
        </p:txBody>
      </p:sp>
      <p:sp>
        <p:nvSpPr>
          <p:cNvPr id="4" name="TextBox 3"/>
          <p:cNvSpPr txBox="1"/>
          <p:nvPr/>
        </p:nvSpPr>
        <p:spPr>
          <a:xfrm>
            <a:off x="1234440" y="320040"/>
            <a:ext cx="274320" cy="457200"/>
          </a:xfrm>
          <a:prstGeom prst="rect">
            <a:avLst/>
          </a:prstGeom>
          <a:noFill/>
        </p:spPr>
        <p:txBody>
          <a:bodyPr wrap="square">
            <a:spAutoFit/>
          </a:bodyPr>
          <a:lstStyle/>
          <a:p>
            <a:pPr algn="l">
              <a:spcBef>
                <a:spcPts val="0"/>
              </a:spcBef>
              <a:spcAft>
                <a:spcPts val="0"/>
              </a:spcAft>
              <a:defRPr sz="1400" b="1">
                <a:solidFill>
                  <a:srgbClr val="9C9CA8"/>
                </a:solidFill>
                <a:latin typeface="Segoe UI"/>
              </a:defRPr>
            </a:pPr>
            <a:r>
              <a:t>—</a:t>
            </a:r>
          </a:p>
        </p:txBody>
      </p:sp>
      <p:sp>
        <p:nvSpPr>
          <p:cNvPr id="5" name="TextBox 4"/>
          <p:cNvSpPr txBox="1"/>
          <p:nvPr/>
        </p:nvSpPr>
        <p:spPr>
          <a:xfrm>
            <a:off x="1508760" y="274320"/>
            <a:ext cx="7315200" cy="502920"/>
          </a:xfrm>
          <a:prstGeom prst="rect">
            <a:avLst/>
          </a:prstGeom>
          <a:noFill/>
        </p:spPr>
        <p:txBody>
          <a:bodyPr wrap="square">
            <a:spAutoFit/>
          </a:bodyPr>
          <a:lstStyle/>
          <a:p>
            <a:pPr algn="l">
              <a:spcBef>
                <a:spcPts val="0"/>
              </a:spcBef>
              <a:spcAft>
                <a:spcPts val="0"/>
              </a:spcAft>
              <a:defRPr sz="1500" b="1">
                <a:solidFill>
                  <a:srgbClr val="FFFFFF"/>
                </a:solidFill>
                <a:latin typeface="Segoe UI Semibold"/>
              </a:defRPr>
            </a:pPr>
            <a:r>
              <a:t>KẾT LUẬN</a:t>
            </a:r>
          </a:p>
        </p:txBody>
      </p:sp>
      <p:sp>
        <p:nvSpPr>
          <p:cNvPr id="6" name="TextBox 5"/>
          <p:cNvSpPr txBox="1"/>
          <p:nvPr/>
        </p:nvSpPr>
        <p:spPr>
          <a:xfrm>
            <a:off x="1508760" y="640080"/>
            <a:ext cx="7315200" cy="365760"/>
          </a:xfrm>
          <a:prstGeom prst="rect">
            <a:avLst/>
          </a:prstGeom>
          <a:noFill/>
        </p:spPr>
        <p:txBody>
          <a:bodyPr wrap="square">
            <a:spAutoFit/>
          </a:bodyPr>
          <a:lstStyle/>
          <a:p>
            <a:pPr algn="l">
              <a:spcBef>
                <a:spcPts val="0"/>
              </a:spcBef>
              <a:spcAft>
                <a:spcPts val="0"/>
              </a:spcAft>
              <a:defRPr sz="1000" b="0">
                <a:solidFill>
                  <a:srgbClr val="9C9CA8"/>
                </a:solidFill>
                <a:latin typeface="Segoe UI"/>
              </a:defRPr>
            </a:pPr>
            <a:r>
              <a:t>Tổng kết đồ án</a:t>
            </a:r>
          </a:p>
        </p:txBody>
      </p:sp>
      <p:sp>
        <p:nvSpPr>
          <p:cNvPr id="7" name="TextBox 6"/>
          <p:cNvSpPr txBox="1"/>
          <p:nvPr/>
        </p:nvSpPr>
        <p:spPr>
          <a:xfrm>
            <a:off x="10058400" y="320040"/>
            <a:ext cx="1828800" cy="365760"/>
          </a:xfrm>
          <a:prstGeom prst="rect">
            <a:avLst/>
          </a:prstGeom>
          <a:noFill/>
        </p:spPr>
        <p:txBody>
          <a:bodyPr wrap="square">
            <a:spAutoFit/>
          </a:bodyPr>
          <a:lstStyle/>
          <a:p>
            <a:pPr algn="r">
              <a:spcBef>
                <a:spcPts val="0"/>
              </a:spcBef>
              <a:spcAft>
                <a:spcPts val="0"/>
              </a:spcAft>
              <a:defRPr sz="1100" b="1">
                <a:solidFill>
                  <a:srgbClr val="FF6B00"/>
                </a:solidFill>
                <a:latin typeface="Segoe UI"/>
              </a:defRPr>
            </a:pPr>
            <a:r>
              <a:t>🍽️ FoodServe</a:t>
            </a:r>
          </a:p>
        </p:txBody>
      </p:sp>
      <p:sp>
        <p:nvSpPr>
          <p:cNvPr id="8" name="Rectangle 7"/>
          <p:cNvSpPr/>
          <p:nvPr/>
        </p:nvSpPr>
        <p:spPr>
          <a:xfrm>
            <a:off x="731520" y="1005840"/>
            <a:ext cx="10698480" cy="12700"/>
          </a:xfrm>
          <a:prstGeom prst="rect">
            <a:avLst/>
          </a:prstGeom>
          <a:solidFill>
            <a:srgbClr val="2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31520" y="1371600"/>
            <a:ext cx="10698480" cy="2011680"/>
          </a:xfrm>
          <a:prstGeom prst="roundRect">
            <a:avLst>
              <a:gd name="adj" fmla="val 4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88720" y="1463040"/>
            <a:ext cx="457200" cy="457200"/>
          </a:xfrm>
          <a:prstGeom prst="rect">
            <a:avLst/>
          </a:prstGeom>
          <a:noFill/>
        </p:spPr>
        <p:txBody>
          <a:bodyPr wrap="square">
            <a:spAutoFit/>
          </a:bodyPr>
          <a:lstStyle/>
          <a:p>
            <a:pPr algn="l">
              <a:spcBef>
                <a:spcPts val="0"/>
              </a:spcBef>
              <a:spcAft>
                <a:spcPts val="0"/>
              </a:spcAft>
              <a:defRPr sz="2800" b="0">
                <a:solidFill>
                  <a:srgbClr val="E5E5EA"/>
                </a:solidFill>
                <a:latin typeface="Segoe UI"/>
              </a:defRPr>
            </a:pPr>
            <a:r>
              <a:t>✅</a:t>
            </a:r>
          </a:p>
        </p:txBody>
      </p:sp>
      <p:sp>
        <p:nvSpPr>
          <p:cNvPr id="11" name="TextBox 10"/>
          <p:cNvSpPr txBox="1"/>
          <p:nvPr/>
        </p:nvSpPr>
        <p:spPr>
          <a:xfrm>
            <a:off x="1737360" y="1508760"/>
            <a:ext cx="9144000" cy="365760"/>
          </a:xfrm>
          <a:prstGeom prst="rect">
            <a:avLst/>
          </a:prstGeom>
          <a:noFill/>
        </p:spPr>
        <p:txBody>
          <a:bodyPr wrap="square">
            <a:spAutoFit/>
          </a:bodyPr>
          <a:lstStyle/>
          <a:p>
            <a:pPr algn="l">
              <a:spcBef>
                <a:spcPts val="0"/>
              </a:spcBef>
              <a:spcAft>
                <a:spcPts val="0"/>
              </a:spcAft>
              <a:defRPr sz="1600" b="1">
                <a:solidFill>
                  <a:srgbClr val="10B981"/>
                </a:solidFill>
                <a:latin typeface="Segoe UI"/>
              </a:defRPr>
            </a:pPr>
            <a:r>
              <a:t>Kết quả đạt được</a:t>
            </a:r>
          </a:p>
        </p:txBody>
      </p:sp>
      <p:sp>
        <p:nvSpPr>
          <p:cNvPr id="12" name="TextBox 11"/>
          <p:cNvSpPr txBox="1"/>
          <p:nvPr/>
        </p:nvSpPr>
        <p:spPr>
          <a:xfrm>
            <a:off x="1737360" y="1965960"/>
            <a:ext cx="9144000" cy="1097280"/>
          </a:xfrm>
          <a:prstGeom prst="rect">
            <a:avLst/>
          </a:prstGeom>
          <a:noFill/>
        </p:spPr>
        <p:txBody>
          <a:bodyPr wrap="square">
            <a:spAutoFit/>
          </a:bodyPr>
          <a:lstStyle/>
          <a:p>
            <a:pPr algn="l">
              <a:spcBef>
                <a:spcPts val="0"/>
              </a:spcBef>
              <a:spcAft>
                <a:spcPts val="0"/>
              </a:spcAft>
              <a:defRPr sz="1200" b="0">
                <a:solidFill>
                  <a:srgbClr val="E5E5EA"/>
                </a:solidFill>
                <a:latin typeface="Segoe UI"/>
              </a:defRPr>
            </a:pPr>
            <a:r>
              <a:t>Đồ án đã hoàn thành xây dựng thành công nền tảng web đặt và giao đồ ăn trực tuyến FoodServe với đầy đủ các chức năng cốt lõi. Hệ thống phục vụ 4 nhóm người dùng (Khách hàng, Nhà hàng, Tài xế, Quản trị viên) với giao diện hiện đại, responsive, hỗ trợ dark mode. Tích hợp thành công các công nghệ tiên tiến: thanh toán đa kênh, tracking realtime, AI Chatbot, gamification, đặt nhóm Split Bill, và đăng ký gói ăn định kỳ.</a:t>
            </a:r>
          </a:p>
        </p:txBody>
      </p:sp>
      <p:sp>
        <p:nvSpPr>
          <p:cNvPr id="13" name="Rounded Rectangle 12"/>
          <p:cNvSpPr/>
          <p:nvPr/>
        </p:nvSpPr>
        <p:spPr>
          <a:xfrm>
            <a:off x="731520" y="3657600"/>
            <a:ext cx="1691640" cy="182880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3749040"/>
            <a:ext cx="1691640" cy="365760"/>
          </a:xfrm>
          <a:prstGeom prst="rect">
            <a:avLst/>
          </a:prstGeom>
          <a:noFill/>
        </p:spPr>
        <p:txBody>
          <a:bodyPr wrap="square">
            <a:spAutoFit/>
          </a:bodyPr>
          <a:lstStyle/>
          <a:p>
            <a:pPr algn="ctr">
              <a:spcBef>
                <a:spcPts val="0"/>
              </a:spcBef>
              <a:spcAft>
                <a:spcPts val="0"/>
              </a:spcAft>
              <a:defRPr sz="2400" b="0">
                <a:solidFill>
                  <a:srgbClr val="E5E5EA"/>
                </a:solidFill>
                <a:latin typeface="Segoe UI"/>
              </a:defRPr>
            </a:pPr>
            <a:r>
              <a:t>🏗️</a:t>
            </a:r>
          </a:p>
        </p:txBody>
      </p:sp>
      <p:sp>
        <p:nvSpPr>
          <p:cNvPr id="15" name="TextBox 14"/>
          <p:cNvSpPr txBox="1"/>
          <p:nvPr/>
        </p:nvSpPr>
        <p:spPr>
          <a:xfrm>
            <a:off x="731520" y="4206240"/>
            <a:ext cx="1691640" cy="457200"/>
          </a:xfrm>
          <a:prstGeom prst="rect">
            <a:avLst/>
          </a:prstGeom>
          <a:noFill/>
        </p:spPr>
        <p:txBody>
          <a:bodyPr wrap="square">
            <a:spAutoFit/>
          </a:bodyPr>
          <a:lstStyle/>
          <a:p>
            <a:pPr algn="ctr">
              <a:spcBef>
                <a:spcPts val="0"/>
              </a:spcBef>
              <a:spcAft>
                <a:spcPts val="0"/>
              </a:spcAft>
              <a:defRPr sz="1000" b="1">
                <a:solidFill>
                  <a:srgbClr val="388BFC"/>
                </a:solidFill>
                <a:latin typeface="Segoe UI"/>
              </a:defRPr>
            </a:pPr>
            <a:r>
              <a:t>Fullstack</a:t>
            </a:r>
            <a:br/>
            <a:r>
              <a:t>hoàn chỉnh</a:t>
            </a:r>
          </a:p>
        </p:txBody>
      </p:sp>
      <p:sp>
        <p:nvSpPr>
          <p:cNvPr id="16" name="TextBox 15"/>
          <p:cNvSpPr txBox="1"/>
          <p:nvPr/>
        </p:nvSpPr>
        <p:spPr>
          <a:xfrm>
            <a:off x="731520" y="4754880"/>
            <a:ext cx="1691640" cy="594360"/>
          </a:xfrm>
          <a:prstGeom prst="rect">
            <a:avLst/>
          </a:prstGeom>
          <a:noFill/>
        </p:spPr>
        <p:txBody>
          <a:bodyPr wrap="square">
            <a:spAutoFit/>
          </a:bodyPr>
          <a:lstStyle/>
          <a:p>
            <a:pPr algn="ctr">
              <a:spcBef>
                <a:spcPts val="0"/>
              </a:spcBef>
              <a:spcAft>
                <a:spcPts val="0"/>
              </a:spcAft>
              <a:defRPr sz="800" b="0">
                <a:solidFill>
                  <a:srgbClr val="9C9CA8"/>
                </a:solidFill>
                <a:latin typeface="Segoe UI"/>
              </a:defRPr>
            </a:pPr>
            <a:r>
              <a:t>React.js + Node.js</a:t>
            </a:r>
            <a:br/>
            <a:r>
              <a:t>+ MongoDB</a:t>
            </a:r>
          </a:p>
        </p:txBody>
      </p:sp>
      <p:sp>
        <p:nvSpPr>
          <p:cNvPr id="17" name="Rounded Rectangle 16"/>
          <p:cNvSpPr/>
          <p:nvPr/>
        </p:nvSpPr>
        <p:spPr>
          <a:xfrm>
            <a:off x="2606039" y="3657600"/>
            <a:ext cx="1691640" cy="182880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606039" y="3749040"/>
            <a:ext cx="1691640" cy="365760"/>
          </a:xfrm>
          <a:prstGeom prst="rect">
            <a:avLst/>
          </a:prstGeom>
          <a:noFill/>
        </p:spPr>
        <p:txBody>
          <a:bodyPr wrap="square">
            <a:spAutoFit/>
          </a:bodyPr>
          <a:lstStyle/>
          <a:p>
            <a:pPr algn="ctr">
              <a:spcBef>
                <a:spcPts val="0"/>
              </a:spcBef>
              <a:spcAft>
                <a:spcPts val="0"/>
              </a:spcAft>
              <a:defRPr sz="2400" b="0">
                <a:solidFill>
                  <a:srgbClr val="E5E5EA"/>
                </a:solidFill>
                <a:latin typeface="Segoe UI"/>
              </a:defRPr>
            </a:pPr>
            <a:r>
              <a:t>⚡</a:t>
            </a:r>
          </a:p>
        </p:txBody>
      </p:sp>
      <p:sp>
        <p:nvSpPr>
          <p:cNvPr id="19" name="TextBox 18"/>
          <p:cNvSpPr txBox="1"/>
          <p:nvPr/>
        </p:nvSpPr>
        <p:spPr>
          <a:xfrm>
            <a:off x="2606039" y="4206240"/>
            <a:ext cx="1691640" cy="457200"/>
          </a:xfrm>
          <a:prstGeom prst="rect">
            <a:avLst/>
          </a:prstGeom>
          <a:noFill/>
        </p:spPr>
        <p:txBody>
          <a:bodyPr wrap="square">
            <a:spAutoFit/>
          </a:bodyPr>
          <a:lstStyle/>
          <a:p>
            <a:pPr algn="ctr">
              <a:spcBef>
                <a:spcPts val="0"/>
              </a:spcBef>
              <a:spcAft>
                <a:spcPts val="0"/>
              </a:spcAft>
              <a:defRPr sz="1000" b="1">
                <a:solidFill>
                  <a:srgbClr val="FF6B00"/>
                </a:solidFill>
                <a:latin typeface="Segoe UI"/>
              </a:defRPr>
            </a:pPr>
            <a:r>
              <a:t>Realtime</a:t>
            </a:r>
            <a:br/>
            <a:r>
              <a:t>communication</a:t>
            </a:r>
          </a:p>
        </p:txBody>
      </p:sp>
      <p:sp>
        <p:nvSpPr>
          <p:cNvPr id="20" name="TextBox 19"/>
          <p:cNvSpPr txBox="1"/>
          <p:nvPr/>
        </p:nvSpPr>
        <p:spPr>
          <a:xfrm>
            <a:off x="2606039" y="4754880"/>
            <a:ext cx="1691640" cy="594360"/>
          </a:xfrm>
          <a:prstGeom prst="rect">
            <a:avLst/>
          </a:prstGeom>
          <a:noFill/>
        </p:spPr>
        <p:txBody>
          <a:bodyPr wrap="square">
            <a:spAutoFit/>
          </a:bodyPr>
          <a:lstStyle/>
          <a:p>
            <a:pPr algn="ctr">
              <a:spcBef>
                <a:spcPts val="0"/>
              </a:spcBef>
              <a:spcAft>
                <a:spcPts val="0"/>
              </a:spcAft>
              <a:defRPr sz="800" b="0">
                <a:solidFill>
                  <a:srgbClr val="9C9CA8"/>
                </a:solidFill>
                <a:latin typeface="Segoe UI"/>
              </a:defRPr>
            </a:pPr>
            <a:r>
              <a:t>Socket.IO</a:t>
            </a:r>
            <a:br/>
            <a:r>
              <a:t>WebSocket</a:t>
            </a:r>
          </a:p>
        </p:txBody>
      </p:sp>
      <p:sp>
        <p:nvSpPr>
          <p:cNvPr id="21" name="Rounded Rectangle 20"/>
          <p:cNvSpPr/>
          <p:nvPr/>
        </p:nvSpPr>
        <p:spPr>
          <a:xfrm>
            <a:off x="4480558" y="3657600"/>
            <a:ext cx="1691640" cy="182880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480558" y="3749040"/>
            <a:ext cx="1691640" cy="365760"/>
          </a:xfrm>
          <a:prstGeom prst="rect">
            <a:avLst/>
          </a:prstGeom>
          <a:noFill/>
        </p:spPr>
        <p:txBody>
          <a:bodyPr wrap="square">
            <a:spAutoFit/>
          </a:bodyPr>
          <a:lstStyle/>
          <a:p>
            <a:pPr algn="ctr">
              <a:spcBef>
                <a:spcPts val="0"/>
              </a:spcBef>
              <a:spcAft>
                <a:spcPts val="0"/>
              </a:spcAft>
              <a:defRPr sz="2400" b="0">
                <a:solidFill>
                  <a:srgbClr val="E5E5EA"/>
                </a:solidFill>
                <a:latin typeface="Segoe UI"/>
              </a:defRPr>
            </a:pPr>
            <a:r>
              <a:t>💳</a:t>
            </a:r>
          </a:p>
        </p:txBody>
      </p:sp>
      <p:sp>
        <p:nvSpPr>
          <p:cNvPr id="23" name="TextBox 22"/>
          <p:cNvSpPr txBox="1"/>
          <p:nvPr/>
        </p:nvSpPr>
        <p:spPr>
          <a:xfrm>
            <a:off x="4480558" y="4206240"/>
            <a:ext cx="1691640" cy="457200"/>
          </a:xfrm>
          <a:prstGeom prst="rect">
            <a:avLst/>
          </a:prstGeom>
          <a:noFill/>
        </p:spPr>
        <p:txBody>
          <a:bodyPr wrap="square">
            <a:spAutoFit/>
          </a:bodyPr>
          <a:lstStyle/>
          <a:p>
            <a:pPr algn="ctr">
              <a:spcBef>
                <a:spcPts val="0"/>
              </a:spcBef>
              <a:spcAft>
                <a:spcPts val="0"/>
              </a:spcAft>
              <a:defRPr sz="1000" b="1">
                <a:solidFill>
                  <a:srgbClr val="10B981"/>
                </a:solidFill>
                <a:latin typeface="Segoe UI"/>
              </a:defRPr>
            </a:pPr>
            <a:r>
              <a:t>Thanh toán</a:t>
            </a:r>
            <a:br/>
            <a:r>
              <a:t>đa kênh</a:t>
            </a:r>
          </a:p>
        </p:txBody>
      </p:sp>
      <p:sp>
        <p:nvSpPr>
          <p:cNvPr id="24" name="TextBox 23"/>
          <p:cNvSpPr txBox="1"/>
          <p:nvPr/>
        </p:nvSpPr>
        <p:spPr>
          <a:xfrm>
            <a:off x="4480558" y="4754880"/>
            <a:ext cx="1691640" cy="594360"/>
          </a:xfrm>
          <a:prstGeom prst="rect">
            <a:avLst/>
          </a:prstGeom>
          <a:noFill/>
        </p:spPr>
        <p:txBody>
          <a:bodyPr wrap="square">
            <a:spAutoFit/>
          </a:bodyPr>
          <a:lstStyle/>
          <a:p>
            <a:pPr algn="ctr">
              <a:spcBef>
                <a:spcPts val="0"/>
              </a:spcBef>
              <a:spcAft>
                <a:spcPts val="0"/>
              </a:spcAft>
              <a:defRPr sz="800" b="0">
                <a:solidFill>
                  <a:srgbClr val="9C9CA8"/>
                </a:solidFill>
                <a:latin typeface="Segoe UI"/>
              </a:defRPr>
            </a:pPr>
            <a:r>
              <a:t>5+ cổng</a:t>
            </a:r>
            <a:br/>
            <a:r>
              <a:t>thanh toán</a:t>
            </a:r>
          </a:p>
        </p:txBody>
      </p:sp>
      <p:sp>
        <p:nvSpPr>
          <p:cNvPr id="25" name="Rounded Rectangle 24"/>
          <p:cNvSpPr/>
          <p:nvPr/>
        </p:nvSpPr>
        <p:spPr>
          <a:xfrm>
            <a:off x="6355077" y="3657600"/>
            <a:ext cx="1691640" cy="182880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55077" y="3749040"/>
            <a:ext cx="1691640" cy="365760"/>
          </a:xfrm>
          <a:prstGeom prst="rect">
            <a:avLst/>
          </a:prstGeom>
          <a:noFill/>
        </p:spPr>
        <p:txBody>
          <a:bodyPr wrap="square">
            <a:spAutoFit/>
          </a:bodyPr>
          <a:lstStyle/>
          <a:p>
            <a:pPr algn="ctr">
              <a:spcBef>
                <a:spcPts val="0"/>
              </a:spcBef>
              <a:spcAft>
                <a:spcPts val="0"/>
              </a:spcAft>
              <a:defRPr sz="2400" b="0">
                <a:solidFill>
                  <a:srgbClr val="E5E5EA"/>
                </a:solidFill>
                <a:latin typeface="Segoe UI"/>
              </a:defRPr>
            </a:pPr>
            <a:r>
              <a:t>🤖</a:t>
            </a:r>
          </a:p>
        </p:txBody>
      </p:sp>
      <p:sp>
        <p:nvSpPr>
          <p:cNvPr id="27" name="TextBox 26"/>
          <p:cNvSpPr txBox="1"/>
          <p:nvPr/>
        </p:nvSpPr>
        <p:spPr>
          <a:xfrm>
            <a:off x="6355077" y="4206240"/>
            <a:ext cx="1691640" cy="457200"/>
          </a:xfrm>
          <a:prstGeom prst="rect">
            <a:avLst/>
          </a:prstGeom>
          <a:noFill/>
        </p:spPr>
        <p:txBody>
          <a:bodyPr wrap="square">
            <a:spAutoFit/>
          </a:bodyPr>
          <a:lstStyle/>
          <a:p>
            <a:pPr algn="ctr">
              <a:spcBef>
                <a:spcPts val="0"/>
              </a:spcBef>
              <a:spcAft>
                <a:spcPts val="0"/>
              </a:spcAft>
              <a:defRPr sz="1000" b="1">
                <a:solidFill>
                  <a:srgbClr val="A78BFA"/>
                </a:solidFill>
                <a:latin typeface="Segoe UI"/>
              </a:defRPr>
            </a:pPr>
            <a:r>
              <a:t>AI</a:t>
            </a:r>
            <a:br/>
            <a:r>
              <a:t>Chatbot</a:t>
            </a:r>
          </a:p>
        </p:txBody>
      </p:sp>
      <p:sp>
        <p:nvSpPr>
          <p:cNvPr id="28" name="TextBox 27"/>
          <p:cNvSpPr txBox="1"/>
          <p:nvPr/>
        </p:nvSpPr>
        <p:spPr>
          <a:xfrm>
            <a:off x="6355077" y="4754880"/>
            <a:ext cx="1691640" cy="594360"/>
          </a:xfrm>
          <a:prstGeom prst="rect">
            <a:avLst/>
          </a:prstGeom>
          <a:noFill/>
        </p:spPr>
        <p:txBody>
          <a:bodyPr wrap="square">
            <a:spAutoFit/>
          </a:bodyPr>
          <a:lstStyle/>
          <a:p>
            <a:pPr algn="ctr">
              <a:spcBef>
                <a:spcPts val="0"/>
              </a:spcBef>
              <a:spcAft>
                <a:spcPts val="0"/>
              </a:spcAft>
              <a:defRPr sz="800" b="0">
                <a:solidFill>
                  <a:srgbClr val="9C9CA8"/>
                </a:solidFill>
                <a:latin typeface="Segoe UI"/>
              </a:defRPr>
            </a:pPr>
            <a:r>
              <a:t>Gemini API</a:t>
            </a:r>
            <a:br/>
            <a:r>
              <a:t>24/7 hỗ trợ</a:t>
            </a:r>
          </a:p>
        </p:txBody>
      </p:sp>
      <p:sp>
        <p:nvSpPr>
          <p:cNvPr id="29" name="Rounded Rectangle 28"/>
          <p:cNvSpPr/>
          <p:nvPr/>
        </p:nvSpPr>
        <p:spPr>
          <a:xfrm>
            <a:off x="8229596" y="3657600"/>
            <a:ext cx="1691640" cy="182880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229596" y="3749040"/>
            <a:ext cx="1691640" cy="365760"/>
          </a:xfrm>
          <a:prstGeom prst="rect">
            <a:avLst/>
          </a:prstGeom>
          <a:noFill/>
        </p:spPr>
        <p:txBody>
          <a:bodyPr wrap="square">
            <a:spAutoFit/>
          </a:bodyPr>
          <a:lstStyle/>
          <a:p>
            <a:pPr algn="ctr">
              <a:spcBef>
                <a:spcPts val="0"/>
              </a:spcBef>
              <a:spcAft>
                <a:spcPts val="0"/>
              </a:spcAft>
              <a:defRPr sz="2400" b="0">
                <a:solidFill>
                  <a:srgbClr val="E5E5EA"/>
                </a:solidFill>
                <a:latin typeface="Segoe UI"/>
              </a:defRPr>
            </a:pPr>
            <a:r>
              <a:t>🎮</a:t>
            </a:r>
          </a:p>
        </p:txBody>
      </p:sp>
      <p:sp>
        <p:nvSpPr>
          <p:cNvPr id="31" name="TextBox 30"/>
          <p:cNvSpPr txBox="1"/>
          <p:nvPr/>
        </p:nvSpPr>
        <p:spPr>
          <a:xfrm>
            <a:off x="8229596" y="4206240"/>
            <a:ext cx="1691640" cy="457200"/>
          </a:xfrm>
          <a:prstGeom prst="rect">
            <a:avLst/>
          </a:prstGeom>
          <a:noFill/>
        </p:spPr>
        <p:txBody>
          <a:bodyPr wrap="square">
            <a:spAutoFit/>
          </a:bodyPr>
          <a:lstStyle/>
          <a:p>
            <a:pPr algn="ctr">
              <a:spcBef>
                <a:spcPts val="0"/>
              </a:spcBef>
              <a:spcAft>
                <a:spcPts val="0"/>
              </a:spcAft>
              <a:defRPr sz="1000" b="1">
                <a:solidFill>
                  <a:srgbClr val="FFB800"/>
                </a:solidFill>
                <a:latin typeface="Segoe UI"/>
              </a:defRPr>
            </a:pPr>
            <a:r>
              <a:t>Gamification</a:t>
            </a:r>
            <a:br/>
            <a:r>
              <a:t>System</a:t>
            </a:r>
          </a:p>
        </p:txBody>
      </p:sp>
      <p:sp>
        <p:nvSpPr>
          <p:cNvPr id="32" name="TextBox 31"/>
          <p:cNvSpPr txBox="1"/>
          <p:nvPr/>
        </p:nvSpPr>
        <p:spPr>
          <a:xfrm>
            <a:off x="8229596" y="4754880"/>
            <a:ext cx="1691640" cy="594360"/>
          </a:xfrm>
          <a:prstGeom prst="rect">
            <a:avLst/>
          </a:prstGeom>
          <a:noFill/>
        </p:spPr>
        <p:txBody>
          <a:bodyPr wrap="square">
            <a:spAutoFit/>
          </a:bodyPr>
          <a:lstStyle/>
          <a:p>
            <a:pPr algn="ctr">
              <a:spcBef>
                <a:spcPts val="0"/>
              </a:spcBef>
              <a:spcAft>
                <a:spcPts val="0"/>
              </a:spcAft>
              <a:defRPr sz="800" b="0">
                <a:solidFill>
                  <a:srgbClr val="9C9CA8"/>
                </a:solidFill>
                <a:latin typeface="Segoe UI"/>
              </a:defRPr>
            </a:pPr>
            <a:r>
              <a:t>Vòng quay, cào thẻ</a:t>
            </a:r>
            <a:br/>
            <a:r>
              <a:t>quiz, rank</a:t>
            </a:r>
          </a:p>
        </p:txBody>
      </p:sp>
      <p:sp>
        <p:nvSpPr>
          <p:cNvPr id="33" name="Rounded Rectangle 32"/>
          <p:cNvSpPr/>
          <p:nvPr/>
        </p:nvSpPr>
        <p:spPr>
          <a:xfrm>
            <a:off x="10104115" y="3657600"/>
            <a:ext cx="1691640" cy="1828800"/>
          </a:xfrm>
          <a:prstGeom prst="roundRect">
            <a:avLst>
              <a:gd name="adj" fmla="val 6000"/>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0104115" y="3749040"/>
            <a:ext cx="1691640" cy="365760"/>
          </a:xfrm>
          <a:prstGeom prst="rect">
            <a:avLst/>
          </a:prstGeom>
          <a:noFill/>
        </p:spPr>
        <p:txBody>
          <a:bodyPr wrap="square">
            <a:spAutoFit/>
          </a:bodyPr>
          <a:lstStyle/>
          <a:p>
            <a:pPr algn="ctr">
              <a:spcBef>
                <a:spcPts val="0"/>
              </a:spcBef>
              <a:spcAft>
                <a:spcPts val="0"/>
              </a:spcAft>
              <a:defRPr sz="2400" b="0">
                <a:solidFill>
                  <a:srgbClr val="E5E5EA"/>
                </a:solidFill>
                <a:latin typeface="Segoe UI"/>
              </a:defRPr>
            </a:pPr>
            <a:r>
              <a:t>📱</a:t>
            </a:r>
          </a:p>
        </p:txBody>
      </p:sp>
      <p:sp>
        <p:nvSpPr>
          <p:cNvPr id="35" name="TextBox 34"/>
          <p:cNvSpPr txBox="1"/>
          <p:nvPr/>
        </p:nvSpPr>
        <p:spPr>
          <a:xfrm>
            <a:off x="10104115" y="4206240"/>
            <a:ext cx="1691640" cy="457200"/>
          </a:xfrm>
          <a:prstGeom prst="rect">
            <a:avLst/>
          </a:prstGeom>
          <a:noFill/>
        </p:spPr>
        <p:txBody>
          <a:bodyPr wrap="square">
            <a:spAutoFit/>
          </a:bodyPr>
          <a:lstStyle/>
          <a:p>
            <a:pPr algn="ctr">
              <a:spcBef>
                <a:spcPts val="0"/>
              </a:spcBef>
              <a:spcAft>
                <a:spcPts val="0"/>
              </a:spcAft>
              <a:defRPr sz="1000" b="1">
                <a:solidFill>
                  <a:srgbClr val="06B6D4"/>
                </a:solidFill>
                <a:latin typeface="Segoe UI"/>
              </a:defRPr>
            </a:pPr>
            <a:r>
              <a:t>Responsive</a:t>
            </a:r>
            <a:br/>
            <a:r>
              <a:t>Design</a:t>
            </a:r>
          </a:p>
        </p:txBody>
      </p:sp>
      <p:sp>
        <p:nvSpPr>
          <p:cNvPr id="36" name="TextBox 35"/>
          <p:cNvSpPr txBox="1"/>
          <p:nvPr/>
        </p:nvSpPr>
        <p:spPr>
          <a:xfrm>
            <a:off x="10104115" y="4754880"/>
            <a:ext cx="1691640" cy="594360"/>
          </a:xfrm>
          <a:prstGeom prst="rect">
            <a:avLst/>
          </a:prstGeom>
          <a:noFill/>
        </p:spPr>
        <p:txBody>
          <a:bodyPr wrap="square">
            <a:spAutoFit/>
          </a:bodyPr>
          <a:lstStyle/>
          <a:p>
            <a:pPr algn="ctr">
              <a:spcBef>
                <a:spcPts val="0"/>
              </a:spcBef>
              <a:spcAft>
                <a:spcPts val="0"/>
              </a:spcAft>
              <a:defRPr sz="800" b="0">
                <a:solidFill>
                  <a:srgbClr val="9C9CA8"/>
                </a:solidFill>
                <a:latin typeface="Segoe UI"/>
              </a:defRPr>
            </a:pPr>
            <a:r>
              <a:t>Mobile-first</a:t>
            </a:r>
            <a:br/>
            <a:r>
              <a:t>Dark Mode</a:t>
            </a:r>
          </a:p>
        </p:txBody>
      </p:sp>
      <p:sp>
        <p:nvSpPr>
          <p:cNvPr id="37" name="Rounded Rectangle 36"/>
          <p:cNvSpPr/>
          <p:nvPr/>
        </p:nvSpPr>
        <p:spPr>
          <a:xfrm>
            <a:off x="2286000" y="5760720"/>
            <a:ext cx="7589520" cy="502920"/>
          </a:xfrm>
          <a:prstGeom prst="roundRect">
            <a:avLst>
              <a:gd name="adj" fmla="val 8000"/>
            </a:avLst>
          </a:prstGeom>
          <a:solidFill>
            <a:srgbClr val="222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286000" y="5806440"/>
            <a:ext cx="7589520" cy="411480"/>
          </a:xfrm>
          <a:prstGeom prst="rect">
            <a:avLst/>
          </a:prstGeom>
          <a:noFill/>
        </p:spPr>
        <p:txBody>
          <a:bodyPr wrap="square">
            <a:spAutoFit/>
          </a:bodyPr>
          <a:lstStyle/>
          <a:p>
            <a:pPr algn="ctr">
              <a:spcBef>
                <a:spcPts val="0"/>
              </a:spcBef>
              <a:spcAft>
                <a:spcPts val="0"/>
              </a:spcAft>
              <a:defRPr sz="1000" b="1">
                <a:solidFill>
                  <a:srgbClr val="FF8A33"/>
                </a:solidFill>
                <a:latin typeface="Segoe UI"/>
              </a:defRPr>
            </a:pPr>
            <a:r>
              <a:t>💡 Đồ án là sản phẩm thực tế có thể triển khai thương mại, không chỉ dừng ở mức báo cáo học thuật.</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0F14"/>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457200" y="457200"/>
            <a:ext cx="2743200" cy="2743200"/>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144000" y="4114800"/>
            <a:ext cx="3657600" cy="3657600"/>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1097280"/>
            <a:ext cx="12191695" cy="1371600"/>
          </a:xfrm>
          <a:prstGeom prst="rect">
            <a:avLst/>
          </a:prstGeom>
          <a:noFill/>
        </p:spPr>
        <p:txBody>
          <a:bodyPr wrap="square">
            <a:spAutoFit/>
          </a:bodyPr>
          <a:lstStyle/>
          <a:p>
            <a:pPr algn="ctr">
              <a:spcBef>
                <a:spcPts val="0"/>
              </a:spcBef>
              <a:spcAft>
                <a:spcPts val="0"/>
              </a:spcAft>
              <a:defRPr sz="8000" b="0">
                <a:solidFill>
                  <a:srgbClr val="E5E5EA"/>
                </a:solidFill>
                <a:latin typeface="Segoe UI"/>
              </a:defRPr>
            </a:pPr>
            <a:r>
              <a:t>🙏</a:t>
            </a:r>
          </a:p>
        </p:txBody>
      </p:sp>
      <p:sp>
        <p:nvSpPr>
          <p:cNvPr id="6" name="TextBox 5"/>
          <p:cNvSpPr txBox="1"/>
          <p:nvPr/>
        </p:nvSpPr>
        <p:spPr>
          <a:xfrm>
            <a:off x="0" y="2560320"/>
            <a:ext cx="12191695" cy="914400"/>
          </a:xfrm>
          <a:prstGeom prst="rect">
            <a:avLst/>
          </a:prstGeom>
          <a:noFill/>
        </p:spPr>
        <p:txBody>
          <a:bodyPr wrap="square">
            <a:spAutoFit/>
          </a:bodyPr>
          <a:lstStyle/>
          <a:p>
            <a:pPr algn="ctr">
              <a:spcBef>
                <a:spcPts val="0"/>
              </a:spcBef>
              <a:spcAft>
                <a:spcPts val="0"/>
              </a:spcAft>
              <a:defRPr sz="4800" b="1">
                <a:solidFill>
                  <a:srgbClr val="FFFFFF"/>
                </a:solidFill>
                <a:latin typeface="Segoe UI Black"/>
              </a:defRPr>
            </a:pPr>
            <a:r>
              <a:t>CẢM ƠN HỘI ĐỒNG</a:t>
            </a:r>
          </a:p>
        </p:txBody>
      </p:sp>
      <p:sp>
        <p:nvSpPr>
          <p:cNvPr id="7" name="TextBox 6"/>
          <p:cNvSpPr txBox="1"/>
          <p:nvPr/>
        </p:nvSpPr>
        <p:spPr>
          <a:xfrm>
            <a:off x="0" y="3383280"/>
            <a:ext cx="12191695" cy="548640"/>
          </a:xfrm>
          <a:prstGeom prst="rect">
            <a:avLst/>
          </a:prstGeom>
          <a:noFill/>
        </p:spPr>
        <p:txBody>
          <a:bodyPr wrap="square">
            <a:spAutoFit/>
          </a:bodyPr>
          <a:lstStyle/>
          <a:p>
            <a:pPr algn="ctr">
              <a:spcBef>
                <a:spcPts val="0"/>
              </a:spcBef>
              <a:spcAft>
                <a:spcPts val="0"/>
              </a:spcAft>
              <a:defRPr sz="2000" b="0">
                <a:solidFill>
                  <a:srgbClr val="FF6B00"/>
                </a:solidFill>
                <a:latin typeface="Segoe UI Semibold"/>
              </a:defRPr>
            </a:pPr>
            <a:r>
              <a:t>ĐÃ LẮNG NGHE BÀI BÁO CÁO</a:t>
            </a:r>
          </a:p>
        </p:txBody>
      </p:sp>
      <p:sp>
        <p:nvSpPr>
          <p:cNvPr id="8" name="Rectangle 7"/>
          <p:cNvSpPr/>
          <p:nvPr/>
        </p:nvSpPr>
        <p:spPr>
          <a:xfrm>
            <a:off x="4754880" y="4114800"/>
            <a:ext cx="2743200" cy="381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0" y="4389120"/>
            <a:ext cx="12191695" cy="457200"/>
          </a:xfrm>
          <a:prstGeom prst="rect">
            <a:avLst/>
          </a:prstGeom>
          <a:noFill/>
        </p:spPr>
        <p:txBody>
          <a:bodyPr wrap="square">
            <a:spAutoFit/>
          </a:bodyPr>
          <a:lstStyle/>
          <a:p>
            <a:pPr algn="ctr">
              <a:spcBef>
                <a:spcPts val="0"/>
              </a:spcBef>
              <a:spcAft>
                <a:spcPts val="0"/>
              </a:spcAft>
              <a:defRPr sz="1400" b="0">
                <a:solidFill>
                  <a:srgbClr val="9C9CA8"/>
                </a:solidFill>
                <a:latin typeface="Segoe UI"/>
              </a:defRPr>
            </a:pPr>
            <a:r>
              <a:t>Sinh viên: Vũ Văn Quyền  •  Đồ án: FoodServe</a:t>
            </a:r>
          </a:p>
        </p:txBody>
      </p:sp>
      <p:sp>
        <p:nvSpPr>
          <p:cNvPr id="10" name="TextBox 9"/>
          <p:cNvSpPr txBox="1"/>
          <p:nvPr/>
        </p:nvSpPr>
        <p:spPr>
          <a:xfrm>
            <a:off x="0" y="4846320"/>
            <a:ext cx="12191695" cy="457200"/>
          </a:xfrm>
          <a:prstGeom prst="rect">
            <a:avLst/>
          </a:prstGeom>
          <a:noFill/>
        </p:spPr>
        <p:txBody>
          <a:bodyPr wrap="square">
            <a:spAutoFit/>
          </a:bodyPr>
          <a:lstStyle/>
          <a:p>
            <a:pPr algn="ctr">
              <a:spcBef>
                <a:spcPts val="0"/>
              </a:spcBef>
              <a:spcAft>
                <a:spcPts val="0"/>
              </a:spcAft>
              <a:defRPr sz="1200" b="0">
                <a:solidFill>
                  <a:srgbClr val="9C9CA8"/>
                </a:solidFill>
                <a:latin typeface="Segoe UI"/>
              </a:defRPr>
            </a:pPr>
            <a:r>
              <a:t>Ứng dụng đặt &amp; giao đồ ăn trực tuyến</a:t>
            </a:r>
          </a:p>
        </p:txBody>
      </p:sp>
      <p:sp>
        <p:nvSpPr>
          <p:cNvPr id="11" name="Rounded Rectangle 10"/>
          <p:cNvSpPr/>
          <p:nvPr/>
        </p:nvSpPr>
        <p:spPr>
          <a:xfrm>
            <a:off x="4389120" y="5486400"/>
            <a:ext cx="3383280" cy="548640"/>
          </a:xfrm>
          <a:prstGeom prst="roundRect">
            <a:avLst>
              <a:gd name="adj" fmla="val 15000"/>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89120" y="5532120"/>
            <a:ext cx="3383280" cy="457200"/>
          </a:xfrm>
          <a:prstGeom prst="rect">
            <a:avLst/>
          </a:prstGeom>
          <a:noFill/>
        </p:spPr>
        <p:txBody>
          <a:bodyPr wrap="square">
            <a:spAutoFit/>
          </a:bodyPr>
          <a:lstStyle/>
          <a:p>
            <a:pPr algn="ctr">
              <a:spcBef>
                <a:spcPts val="0"/>
              </a:spcBef>
              <a:spcAft>
                <a:spcPts val="0"/>
              </a:spcAft>
              <a:defRPr sz="1400" b="1">
                <a:solidFill>
                  <a:srgbClr val="FFFFFF"/>
                </a:solidFill>
                <a:latin typeface="Segoe UI"/>
              </a:defRPr>
            </a:pPr>
            <a:r>
              <a:t>❓  Q &amp; A  —  HỎI ĐÁP</a:t>
            </a:r>
          </a:p>
        </p:txBody>
      </p:sp>
      <p:sp>
        <p:nvSpPr>
          <p:cNvPr id="13" name="Rectangle 12"/>
          <p:cNvSpPr/>
          <p:nvPr/>
        </p:nvSpPr>
        <p:spPr>
          <a:xfrm>
            <a:off x="0" y="6784848"/>
            <a:ext cx="12191695" cy="7315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2955</Words>
  <Application>Microsoft Office PowerPoint</Application>
  <PresentationFormat>Widescreen</PresentationFormat>
  <Paragraphs>468</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Segoe UI</vt:lpstr>
      <vt:lpstr>Segoe UI Black</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Vũ Văn Quyền</cp:lastModifiedBy>
  <cp:revision>1</cp:revision>
  <dcterms:created xsi:type="dcterms:W3CDTF">2013-01-27T09:14:16Z</dcterms:created>
  <dcterms:modified xsi:type="dcterms:W3CDTF">2026-07-25T06:23:47Z</dcterms:modified>
  <cp:category/>
</cp:coreProperties>
</file>